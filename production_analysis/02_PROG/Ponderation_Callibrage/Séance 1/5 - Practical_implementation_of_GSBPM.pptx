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39"/>
  </p:notesMasterIdLst>
  <p:handoutMasterIdLst>
    <p:handoutMasterId r:id="rId40"/>
  </p:handoutMasterIdLst>
  <p:sldIdLst>
    <p:sldId id="294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797675" cy="9928225"/>
  <p:custDataLst>
    <p:tags r:id="rId41"/>
  </p:custDataLst>
  <p:defaultTextStyle>
    <a:defPPr>
      <a:defRPr lang="id-ID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FIORE" initials="" lastIdx="0" clrIdx="0"/>
  <p:cmAuthor id="1" name="ecocentric" initials="e" lastIdx="16" clrIdx="1"/>
  <p:cmAuthor id="2" name="Maikel Lieuw-Kie-Song" initials="ML" lastIdx="8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F98"/>
    <a:srgbClr val="82A8B6"/>
    <a:srgbClr val="269610"/>
    <a:srgbClr val="B11B86"/>
    <a:srgbClr val="F2650E"/>
    <a:srgbClr val="993366"/>
    <a:srgbClr val="98C306"/>
    <a:srgbClr val="EB9915"/>
    <a:srgbClr val="FFE48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2" autoAdjust="0"/>
    <p:restoredTop sz="90965" autoAdjust="0"/>
  </p:normalViewPr>
  <p:slideViewPr>
    <p:cSldViewPr>
      <p:cViewPr varScale="1">
        <p:scale>
          <a:sx n="71" d="100"/>
          <a:sy n="71" d="100"/>
        </p:scale>
        <p:origin x="1301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6" d="100"/>
        <a:sy n="76" d="100"/>
      </p:scale>
      <p:origin x="0" y="2102"/>
    </p:cViewPr>
  </p:sorterViewPr>
  <p:notesViewPr>
    <p:cSldViewPr>
      <p:cViewPr varScale="1">
        <p:scale>
          <a:sx n="76" d="100"/>
          <a:sy n="76" d="100"/>
        </p:scale>
        <p:origin x="-2214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d-ID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96F2457-ACE3-BA4A-873A-FD29B17A1D12}" type="datetime1">
              <a:rPr lang="id-ID"/>
              <a:pPr/>
              <a:t>04/03/2025</a:t>
            </a:fld>
            <a:endParaRPr lang="id-ID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d-ID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1E29981-8FE8-C344-88CF-A3DAF804C809}" type="slidenum">
              <a:rPr lang="id-ID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93672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d-ID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A2CEB4C-364C-674E-A933-C3977187AE0B}" type="datetime1">
              <a:rPr lang="id-ID"/>
              <a:pPr/>
              <a:t>04/03/2025</a:t>
            </a:fld>
            <a:endParaRPr lang="id-ID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d-ID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8DA8B1A-13F2-1446-8603-74185E46CFC5}" type="slidenum">
              <a:rPr lang="id-ID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7216432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D92CB7-3108-45D6-9F34-2A6F5825658F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255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60253C-D1DA-4119-90CC-AC9EF5EACF5A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073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582" y="6145249"/>
            <a:ext cx="1682500" cy="54254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0" y="476673"/>
            <a:ext cx="5384800" cy="4248471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82A8B6"/>
              </a:buClr>
              <a:buFont typeface="Wingdings" panose="05000000000000000000" pitchFamily="2" charset="2"/>
              <a:buChar char="§"/>
              <a:defRPr sz="2800" b="1">
                <a:solidFill>
                  <a:srgbClr val="154F98"/>
                </a:solidFill>
                <a:latin typeface="Arial" pitchFamily="34" charset="0"/>
                <a:cs typeface="Arial" pitchFamily="34" charset="0"/>
              </a:defRPr>
            </a:lvl1pPr>
            <a:lvl2pPr>
              <a:buClr>
                <a:srgbClr val="82A8B6"/>
              </a:buClr>
              <a:defRPr sz="2400"/>
            </a:lvl2pPr>
            <a:lvl3pPr>
              <a:buClr>
                <a:srgbClr val="82A8B6"/>
              </a:buClr>
              <a:defRPr sz="2000"/>
            </a:lvl3pPr>
            <a:lvl4pPr>
              <a:buClr>
                <a:srgbClr val="82A8B6"/>
              </a:buClr>
              <a:defRPr sz="1800"/>
            </a:lvl4pPr>
            <a:lvl5pPr>
              <a:buClr>
                <a:srgbClr val="82A8B6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4559829" y="4077072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859800" y="481397"/>
            <a:ext cx="5428221" cy="4243747"/>
          </a:xfrm>
          <a:prstGeom prst="rect">
            <a:avLst/>
          </a:prstGeom>
        </p:spPr>
        <p:txBody>
          <a:bodyPr/>
          <a:lstStyle>
            <a:lvl1pPr>
              <a:buClr>
                <a:srgbClr val="82A8B6"/>
              </a:buClr>
              <a:defRPr sz="2800" b="1">
                <a:solidFill>
                  <a:srgbClr val="154F98"/>
                </a:solidFill>
                <a:latin typeface="Arial" pitchFamily="34" charset="0"/>
                <a:cs typeface="Arial" pitchFamily="34" charset="0"/>
              </a:defRPr>
            </a:lvl1pPr>
            <a:lvl2pPr>
              <a:buClr>
                <a:srgbClr val="82A8B6"/>
              </a:buClr>
              <a:defRPr sz="2400"/>
            </a:lvl2pPr>
            <a:lvl3pPr>
              <a:buClr>
                <a:srgbClr val="82A8B6"/>
              </a:buClr>
              <a:defRPr sz="2000"/>
            </a:lvl3pPr>
            <a:lvl4pPr>
              <a:buClr>
                <a:srgbClr val="82A8B6"/>
              </a:buClr>
              <a:defRPr sz="1800"/>
            </a:lvl4pPr>
            <a:lvl5pPr>
              <a:buClr>
                <a:srgbClr val="82A8B6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81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477" y="476672"/>
            <a:ext cx="10492747" cy="72008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53650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54F9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154F98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154F9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154F9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154F9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084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392" y="476673"/>
            <a:ext cx="10972800" cy="4525963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82A8B6"/>
              </a:buClr>
              <a:defRPr/>
            </a:lvl1pPr>
            <a:lvl2pPr>
              <a:buClr>
                <a:srgbClr val="82A8B6"/>
              </a:buClr>
              <a:defRPr/>
            </a:lvl2pPr>
            <a:lvl3pPr>
              <a:buClr>
                <a:srgbClr val="82A8B6"/>
              </a:buClr>
              <a:defRPr/>
            </a:lvl3pPr>
            <a:lvl4pPr>
              <a:buClr>
                <a:srgbClr val="82A8B6"/>
              </a:buClr>
              <a:defRPr/>
            </a:lvl4pPr>
            <a:lvl5pPr>
              <a:buClr>
                <a:srgbClr val="82A8B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159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28580" y="187464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154F9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28580" y="332657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72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538" y="2873014"/>
            <a:ext cx="7200000" cy="608525"/>
          </a:xfrm>
        </p:spPr>
        <p:txBody>
          <a:bodyPr wrap="square" bIns="54000" anchor="t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538" y="3481539"/>
            <a:ext cx="7200000" cy="16557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4000" b="0">
                <a:solidFill>
                  <a:schemeClr val="accent1"/>
                </a:solidFill>
              </a:defRPr>
            </a:lvl1pPr>
            <a:lvl2pPr marL="0" indent="0" algn="l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0538" y="6180035"/>
            <a:ext cx="2743200" cy="216000"/>
          </a:xfrm>
        </p:spPr>
        <p:txBody>
          <a:bodyPr anchor="b" anchorCtr="0">
            <a:noAutofit/>
          </a:bodyPr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/>
              <a:t>Date: Monday / 01 / October / 2019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0538" y="6858000"/>
            <a:ext cx="5605462" cy="180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/>
              <a:t>Advancing social justice, promoting decent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61462" y="6870450"/>
            <a:ext cx="540000" cy="288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fld id="{856227C0-AD57-4F9B-BAE3-EEFB0D0EE42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0" y="2988404"/>
            <a:ext cx="214312" cy="2515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8" y="490538"/>
            <a:ext cx="1371600" cy="494482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2946400" y="0"/>
            <a:ext cx="9245600" cy="5321300"/>
          </a:xfrm>
          <a:custGeom>
            <a:avLst/>
            <a:gdLst>
              <a:gd name="connsiteX0" fmla="*/ 0 w 9245600"/>
              <a:gd name="connsiteY0" fmla="*/ 0 h 5321300"/>
              <a:gd name="connsiteX1" fmla="*/ 9245600 w 9245600"/>
              <a:gd name="connsiteY1" fmla="*/ 0 h 5321300"/>
              <a:gd name="connsiteX2" fmla="*/ 9245600 w 9245600"/>
              <a:gd name="connsiteY2" fmla="*/ 5321300 h 5321300"/>
              <a:gd name="connsiteX3" fmla="*/ 0 w 9245600"/>
              <a:gd name="connsiteY3" fmla="*/ 5321300 h 5321300"/>
              <a:gd name="connsiteX4" fmla="*/ 0 w 9245600"/>
              <a:gd name="connsiteY4" fmla="*/ 0 h 5321300"/>
              <a:gd name="connsiteX0" fmla="*/ 0 w 9245600"/>
              <a:gd name="connsiteY0" fmla="*/ 0 h 5321300"/>
              <a:gd name="connsiteX1" fmla="*/ 9245600 w 9245600"/>
              <a:gd name="connsiteY1" fmla="*/ 0 h 5321300"/>
              <a:gd name="connsiteX2" fmla="*/ 9245600 w 9245600"/>
              <a:gd name="connsiteY2" fmla="*/ 5321300 h 5321300"/>
              <a:gd name="connsiteX3" fmla="*/ 0 w 9245600"/>
              <a:gd name="connsiteY3" fmla="*/ 0 h 532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600" h="5321300">
                <a:moveTo>
                  <a:pt x="0" y="0"/>
                </a:moveTo>
                <a:lnTo>
                  <a:pt x="9245600" y="0"/>
                </a:lnTo>
                <a:lnTo>
                  <a:pt x="9245600" y="53213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insert picture, or leave unchanged for plain colour fill</a:t>
            </a:r>
          </a:p>
        </p:txBody>
      </p:sp>
    </p:spTree>
    <p:extLst>
      <p:ext uri="{BB962C8B-B14F-4D97-AF65-F5344CB8AC3E}">
        <p14:creationId xmlns:p14="http://schemas.microsoft.com/office/powerpoint/2010/main" val="232289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/>
          <p:cNvSpPr txBox="1">
            <a:spLocks/>
          </p:cNvSpPr>
          <p:nvPr userDrawn="1"/>
        </p:nvSpPr>
        <p:spPr>
          <a:xfrm>
            <a:off x="11280576" y="6453336"/>
            <a:ext cx="719403" cy="3175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fld id="{AC611B22-04DA-49DB-8F00-1DBB662793CA}" type="slidenum">
              <a:rPr lang="it-IT" sz="1400" smtClean="0">
                <a:solidFill>
                  <a:schemeClr val="bg1"/>
                </a:solidFill>
              </a:rPr>
              <a:pPr algn="ctr" eaLnBrk="1" hangingPunct="1">
                <a:defRPr/>
              </a:pPr>
              <a:t>‹#›</a:t>
            </a:fld>
            <a:endParaRPr lang="id-ID" sz="16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19403" y="476672"/>
            <a:ext cx="0" cy="54006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8" r:id="rId5"/>
    <p:sldLayoutId id="2147483659" r:id="rId6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2650E"/>
        </a:buClr>
        <a:buFont typeface="Wingdings" charset="2"/>
        <a:buChar char="§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99FF"/>
        </a:buClr>
        <a:buSzPct val="120000"/>
        <a:buChar char="•"/>
        <a:defRPr sz="2800">
          <a:solidFill>
            <a:schemeClr val="tx1"/>
          </a:solidFill>
          <a:latin typeface="Arial" charset="0"/>
          <a:ea typeface="+mn-ea"/>
          <a:cs typeface="Arial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099FF"/>
        </a:buClr>
        <a:buSzPct val="80000"/>
        <a:buFont typeface="Wingdings" charset="2"/>
        <a:buChar char="Ø"/>
        <a:defRPr sz="2400">
          <a:solidFill>
            <a:schemeClr val="tx1"/>
          </a:solidFill>
          <a:latin typeface="Arial" charset="0"/>
          <a:ea typeface="+mn-ea"/>
          <a:cs typeface="Arial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iscenza@ilo.org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6227C0-AD57-4F9B-BAE3-EEFB0D0EE427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noFill/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" t="12107" r="18927" b="19025"/>
          <a:stretch/>
        </p:blipFill>
        <p:spPr/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490538" y="2799488"/>
            <a:ext cx="7261646" cy="1259024"/>
          </a:xfrm>
        </p:spPr>
        <p:txBody>
          <a:bodyPr/>
          <a:lstStyle/>
          <a:p>
            <a:pPr eaLnBrk="1" hangingPunct="1"/>
            <a:r>
              <a:rPr lang="en-GB" sz="3600" b="1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Practical implementation of the GSBPM for regular LFS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C85B5D-DF3D-473E-983E-D576A2165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Advancing social justice, promoting decent work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83B710-FB41-7A6E-75E4-CCCBD37148DA}"/>
              </a:ext>
            </a:extLst>
          </p:cNvPr>
          <p:cNvSpPr txBox="1">
            <a:spLocks/>
          </p:cNvSpPr>
          <p:nvPr/>
        </p:nvSpPr>
        <p:spPr>
          <a:xfrm>
            <a:off x="508772" y="4058512"/>
            <a:ext cx="8413774" cy="2280378"/>
          </a:xfrm>
        </p:spPr>
        <p:txBody>
          <a:bodyPr wrap="square" bIns="54000" anchor="t" anchorCtr="0"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F2650E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en-GB" sz="2000" b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Series of webinars on  Strategies to calculate LFS sample weights using Calibration. </a:t>
            </a:r>
          </a:p>
          <a:p>
            <a:pPr>
              <a:lnSpc>
                <a:spcPct val="107000"/>
              </a:lnSpc>
            </a:pPr>
            <a:r>
              <a:rPr lang="en-GB" sz="2000" b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4-13 March 2025</a:t>
            </a:r>
          </a:p>
          <a:p>
            <a:pPr>
              <a:lnSpc>
                <a:spcPct val="107000"/>
              </a:lnSpc>
            </a:pPr>
            <a:endParaRPr lang="en-GB" sz="1800" b="1" kern="0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>
              <a:lnSpc>
                <a:spcPct val="107000"/>
              </a:lnSpc>
            </a:pPr>
            <a:endParaRPr lang="en-GB" sz="1800" b="1" kern="0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>
              <a:lnSpc>
                <a:spcPct val="107000"/>
              </a:lnSpc>
            </a:pPr>
            <a:r>
              <a:rPr lang="fi-FI" sz="1800" b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Antonio R. DISCENZA    </a:t>
            </a:r>
          </a:p>
          <a:p>
            <a:pPr>
              <a:lnSpc>
                <a:spcPct val="107000"/>
              </a:lnSpc>
            </a:pPr>
            <a:r>
              <a:rPr lang="en-GB" sz="1800" b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Senior Labour Statistician - ILO Department of Statistics - </a:t>
            </a:r>
            <a:r>
              <a:rPr lang="fi-FI" sz="1800" b="1" i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discenza@ilo.org</a:t>
            </a:r>
            <a:r>
              <a:rPr lang="fi-FI" sz="1800" b="1" i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 </a:t>
            </a:r>
            <a:endParaRPr lang="en-GB" sz="1800" b="1" i="1" kern="0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>
              <a:lnSpc>
                <a:spcPct val="107000"/>
              </a:lnSpc>
            </a:pPr>
            <a:endParaRPr lang="en-GB" sz="1800" b="1" kern="0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57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Outline</a:t>
            </a:r>
            <a:r>
              <a:rPr lang="it-IT" dirty="0"/>
              <a:t> of the session S05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it-IT" sz="2400" dirty="0" err="1"/>
              <a:t>Overview</a:t>
            </a:r>
            <a:r>
              <a:rPr lang="it-IT" sz="2400" dirty="0"/>
              <a:t> of the GSBPM</a:t>
            </a:r>
            <a:endParaRPr lang="en-US" sz="24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en-US" sz="2400" dirty="0" err="1"/>
              <a:t>Organising</a:t>
            </a:r>
            <a:r>
              <a:rPr lang="en-US" sz="2400" dirty="0"/>
              <a:t> folders and subfolders for processing LFS sample data according to the GSBPM</a:t>
            </a:r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endParaRPr lang="it-IT" sz="12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endParaRPr lang="it-IT" sz="12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endParaRPr lang="it-IT" sz="12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endParaRPr lang="it-IT" sz="12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endParaRPr lang="it-IT" sz="12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endParaRPr lang="it-IT" sz="1200" dirty="0"/>
          </a:p>
          <a:p>
            <a:pPr marL="0" indent="0">
              <a:buNone/>
            </a:pPr>
            <a:r>
              <a:rPr lang="it-IT" sz="2200" b="1" dirty="0" err="1"/>
              <a:t>Main</a:t>
            </a:r>
            <a:r>
              <a:rPr lang="it-IT" sz="2200" b="1" dirty="0"/>
              <a:t> source: </a:t>
            </a:r>
            <a:r>
              <a:rPr lang="it-IT" sz="2200" b="1" dirty="0" err="1"/>
              <a:t>official</a:t>
            </a:r>
            <a:r>
              <a:rPr lang="it-IT" sz="2200" b="1" dirty="0"/>
              <a:t> </a:t>
            </a:r>
            <a:r>
              <a:rPr lang="it-IT" sz="2200" b="1" dirty="0" err="1"/>
              <a:t>documentation</a:t>
            </a:r>
            <a:r>
              <a:rPr lang="it-IT" sz="2200" b="1" dirty="0"/>
              <a:t> and </a:t>
            </a:r>
            <a:r>
              <a:rPr lang="it-IT" sz="2200" b="1" dirty="0" err="1"/>
              <a:t>other</a:t>
            </a:r>
            <a:r>
              <a:rPr lang="it-IT" sz="2200" b="1" dirty="0"/>
              <a:t> </a:t>
            </a:r>
            <a:r>
              <a:rPr lang="it-IT" sz="2200" b="1" dirty="0" err="1"/>
              <a:t>contributions</a:t>
            </a:r>
            <a:r>
              <a:rPr lang="it-IT" sz="2200" b="1" dirty="0"/>
              <a:t> </a:t>
            </a:r>
            <a:r>
              <a:rPr lang="it-IT" sz="2200" b="1" dirty="0" err="1"/>
              <a:t>available</a:t>
            </a:r>
            <a:r>
              <a:rPr lang="it-IT" sz="2200" b="1" dirty="0"/>
              <a:t> </a:t>
            </a:r>
            <a:r>
              <a:rPr lang="it-IT" sz="2200" b="1" dirty="0" err="1"/>
              <a:t>at</a:t>
            </a:r>
            <a:endParaRPr lang="en-GB" sz="2200" b="1" dirty="0"/>
          </a:p>
          <a:p>
            <a:pPr marL="0" lvl="1" indent="0">
              <a:buClr>
                <a:schemeClr val="accent1"/>
              </a:buClr>
              <a:buNone/>
            </a:pPr>
            <a:r>
              <a:rPr lang="en-GB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https://statswiki.unece.org/display/GSBPM/ </a:t>
            </a:r>
            <a:endParaRPr lang="en-GB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239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28" y="1844824"/>
            <a:ext cx="8712968" cy="3024336"/>
          </a:xfrm>
        </p:spPr>
        <p:txBody>
          <a:bodyPr/>
          <a:lstStyle/>
          <a:p>
            <a:pPr algn="ctr"/>
            <a:r>
              <a:rPr lang="en-GB" dirty="0"/>
              <a:t>Part 1: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Overview of the </a:t>
            </a:r>
            <a:br>
              <a:rPr lang="en-GB" dirty="0"/>
            </a:br>
            <a:r>
              <a:rPr lang="en-GB" dirty="0"/>
              <a:t>Generic Statistical Business Process Model</a:t>
            </a:r>
            <a:br>
              <a:rPr lang="en-GB" dirty="0"/>
            </a:br>
            <a:r>
              <a:rPr lang="en-GB" dirty="0"/>
              <a:t>(GSBPM)</a:t>
            </a:r>
          </a:p>
        </p:txBody>
      </p:sp>
    </p:spTree>
    <p:extLst>
      <p:ext uri="{BB962C8B-B14F-4D97-AF65-F5344CB8AC3E}">
        <p14:creationId xmlns:p14="http://schemas.microsoft.com/office/powerpoint/2010/main" val="338538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 txBox="1">
            <a:spLocks noGrp="1"/>
          </p:cNvSpPr>
          <p:nvPr/>
        </p:nvSpPr>
        <p:spPr bwMode="auto">
          <a:xfrm>
            <a:off x="9625014" y="6453189"/>
            <a:ext cx="9096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 Narrow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000066"/>
                </a:solidFill>
                <a:latin typeface="Arial Narrow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 Narrow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 Narrow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EA34E88-89E0-4BA9-9398-6CB3783E38A2}" type="slidenum">
              <a:rPr lang="en-GB" altLang="en-US" sz="1400">
                <a:solidFill>
                  <a:srgbClr val="FFFF99"/>
                </a:solidFill>
                <a:latin typeface="Arial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GB" altLang="en-US" sz="1400">
              <a:solidFill>
                <a:srgbClr val="FFFF99"/>
              </a:solidFill>
              <a:latin typeface="Arial" charset="0"/>
            </a:endParaRP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Survey</a:t>
            </a:r>
            <a:r>
              <a:rPr lang="it-IT" dirty="0"/>
              <a:t> Management</a:t>
            </a:r>
          </a:p>
        </p:txBody>
      </p:sp>
      <p:sp>
        <p:nvSpPr>
          <p:cNvPr id="30725" name="Rectangle 4"/>
          <p:cNvSpPr>
            <a:spLocks noGrp="1" noChangeArrowheads="1"/>
          </p:cNvSpPr>
          <p:nvPr>
            <p:ph sz="quarter" idx="13"/>
          </p:nvPr>
        </p:nvSpPr>
        <p:spPr>
          <a:xfrm>
            <a:off x="1391477" y="1340768"/>
            <a:ext cx="10465163" cy="4896544"/>
          </a:xfrm>
        </p:spPr>
        <p:txBody>
          <a:bodyPr>
            <a:normAutofit/>
          </a:bodyPr>
          <a:lstStyle/>
          <a:p>
            <a:pPr marL="0" indent="0">
              <a:spcBef>
                <a:spcPts val="1800"/>
              </a:spcBef>
              <a:buNone/>
            </a:pPr>
            <a:r>
              <a:rPr lang="en-GB" sz="2400" dirty="0">
                <a:solidFill>
                  <a:srgbClr val="154F98"/>
                </a:solidFill>
              </a:rPr>
              <a:t>Survey managers </a:t>
            </a:r>
            <a:r>
              <a:rPr lang="en-GB" sz="2400" dirty="0"/>
              <a:t>and </a:t>
            </a:r>
            <a:r>
              <a:rPr lang="en-GB" sz="2400" dirty="0">
                <a:solidFill>
                  <a:srgbClr val="154F98"/>
                </a:solidFill>
              </a:rPr>
              <a:t>statisticians</a:t>
            </a:r>
            <a:r>
              <a:rPr lang="en-GB" sz="2400" dirty="0"/>
              <a:t> bring together and optimize the resources necessary to </a:t>
            </a:r>
            <a:r>
              <a:rPr lang="en-GB" sz="2400" dirty="0">
                <a:solidFill>
                  <a:srgbClr val="154F98"/>
                </a:solidFill>
              </a:rPr>
              <a:t>successfully complete projects</a:t>
            </a:r>
          </a:p>
          <a:p>
            <a:pPr>
              <a:spcBef>
                <a:spcPts val="1800"/>
              </a:spcBef>
            </a:pPr>
            <a:r>
              <a:rPr lang="en-GB" sz="2400" dirty="0"/>
              <a:t>They will find much easier to manage the project if the </a:t>
            </a:r>
            <a:r>
              <a:rPr lang="en-GB" sz="2400" dirty="0">
                <a:solidFill>
                  <a:srgbClr val="154F98"/>
                </a:solidFill>
              </a:rPr>
              <a:t>statistical process is well ordered </a:t>
            </a:r>
            <a:r>
              <a:rPr lang="en-GB" sz="2400" dirty="0"/>
              <a:t>and follows </a:t>
            </a:r>
            <a:r>
              <a:rPr lang="en-GB" sz="2400" dirty="0">
                <a:solidFill>
                  <a:srgbClr val="154F98"/>
                </a:solidFill>
              </a:rPr>
              <a:t>clearly defined steps.</a:t>
            </a:r>
          </a:p>
          <a:p>
            <a:pPr>
              <a:spcBef>
                <a:spcPts val="1800"/>
              </a:spcBef>
            </a:pPr>
            <a:r>
              <a:rPr lang="en-GB" sz="2400" dirty="0"/>
              <a:t>The </a:t>
            </a:r>
            <a:r>
              <a:rPr lang="en-US" sz="2400" dirty="0"/>
              <a:t>Generic Statistical Business Process Model (</a:t>
            </a:r>
            <a:r>
              <a:rPr lang="en-GB" sz="2400" dirty="0">
                <a:solidFill>
                  <a:srgbClr val="154F98"/>
                </a:solidFill>
              </a:rPr>
              <a:t>GSBPM</a:t>
            </a:r>
            <a:r>
              <a:rPr lang="en-GB" sz="2400" dirty="0"/>
              <a:t>) </a:t>
            </a:r>
          </a:p>
          <a:p>
            <a:pPr lvl="1">
              <a:spcBef>
                <a:spcPts val="1800"/>
              </a:spcBef>
            </a:pPr>
            <a:r>
              <a:rPr lang="en-GB" sz="2400" dirty="0"/>
              <a:t>Is a </a:t>
            </a:r>
            <a:r>
              <a:rPr lang="en-GB" sz="2400" dirty="0">
                <a:solidFill>
                  <a:srgbClr val="154F98"/>
                </a:solidFill>
              </a:rPr>
              <a:t>framework</a:t>
            </a:r>
            <a:r>
              <a:rPr lang="en-GB" sz="2400" dirty="0"/>
              <a:t> that, among other uses, can help </a:t>
            </a:r>
            <a:r>
              <a:rPr lang="en-GB" sz="2400" dirty="0">
                <a:solidFill>
                  <a:srgbClr val="154F98"/>
                </a:solidFill>
              </a:rPr>
              <a:t>project managers</a:t>
            </a:r>
            <a:r>
              <a:rPr lang="en-GB" sz="2400" dirty="0">
                <a:solidFill>
                  <a:srgbClr val="C00000"/>
                </a:solidFill>
              </a:rPr>
              <a:t> </a:t>
            </a:r>
            <a:r>
              <a:rPr lang="en-GB" sz="2400" dirty="0"/>
              <a:t>and </a:t>
            </a:r>
            <a:r>
              <a:rPr lang="en-GB" sz="2400" dirty="0">
                <a:solidFill>
                  <a:srgbClr val="154F98"/>
                </a:solidFill>
              </a:rPr>
              <a:t>statisticians </a:t>
            </a:r>
            <a:r>
              <a:rPr lang="en-GB" sz="2400" dirty="0"/>
              <a:t>to plan, manage and carry out statistical projects</a:t>
            </a:r>
          </a:p>
          <a:p>
            <a:pPr lvl="2">
              <a:spcBef>
                <a:spcPts val="1800"/>
              </a:spcBef>
            </a:pPr>
            <a:r>
              <a:rPr lang="en-US" sz="2000" dirty="0"/>
              <a:t>new statistical projects, </a:t>
            </a:r>
          </a:p>
          <a:p>
            <a:pPr lvl="2">
              <a:spcBef>
                <a:spcPts val="1800"/>
              </a:spcBef>
            </a:pPr>
            <a:r>
              <a:rPr lang="en-US" sz="2000" dirty="0"/>
              <a:t>revision of existing project </a:t>
            </a:r>
          </a:p>
          <a:p>
            <a:pPr lvl="1">
              <a:spcBef>
                <a:spcPts val="1800"/>
              </a:spcBef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61672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Business Process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altLang="is-IS" sz="2800" dirty="0"/>
              <a:t>What is a “</a:t>
            </a:r>
            <a:r>
              <a:rPr lang="en-GB" altLang="is-IS" sz="2800" dirty="0">
                <a:solidFill>
                  <a:srgbClr val="154F98"/>
                </a:solidFill>
              </a:rPr>
              <a:t>Business Process</a:t>
            </a:r>
            <a:r>
              <a:rPr lang="en-GB" altLang="is-IS" sz="2800" dirty="0"/>
              <a:t>”? </a:t>
            </a:r>
          </a:p>
          <a:p>
            <a:r>
              <a:rPr lang="en-GB" altLang="is-IS" sz="2600" dirty="0"/>
              <a:t>Is a collection of related, structured activities, actions, tasks or operations that produce a </a:t>
            </a:r>
            <a:r>
              <a:rPr lang="en-GB" altLang="is-IS" sz="2600" dirty="0">
                <a:solidFill>
                  <a:srgbClr val="154F98"/>
                </a:solidFill>
              </a:rPr>
              <a:t>specific service or product for particular customers or users.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GB" altLang="is-IS" sz="2800" dirty="0"/>
              <a:t>What is a “</a:t>
            </a:r>
            <a:r>
              <a:rPr lang="en-GB" altLang="is-IS" sz="2800" dirty="0">
                <a:solidFill>
                  <a:srgbClr val="154F98"/>
                </a:solidFill>
              </a:rPr>
              <a:t>Business Process Model</a:t>
            </a:r>
            <a:r>
              <a:rPr lang="en-GB" altLang="is-IS" sz="2800" dirty="0"/>
              <a:t>”? </a:t>
            </a:r>
          </a:p>
          <a:p>
            <a:r>
              <a:rPr lang="en-GB" altLang="is-IS" sz="2600" dirty="0"/>
              <a:t>is the analytical representation / illustration of the activities which explain </a:t>
            </a:r>
            <a:r>
              <a:rPr lang="en-GB" altLang="is-IS" sz="2600" dirty="0">
                <a:solidFill>
                  <a:srgbClr val="154F98"/>
                </a:solidFill>
              </a:rPr>
              <a:t>the way we need to do things in order to get the service or product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GB" altLang="is-IS" sz="2800" dirty="0"/>
              <a:t>Why </a:t>
            </a:r>
            <a:r>
              <a:rPr lang="en-GB" altLang="is-IS" sz="2800" dirty="0">
                <a:solidFill>
                  <a:srgbClr val="154F98"/>
                </a:solidFill>
              </a:rPr>
              <a:t>Generic</a:t>
            </a:r>
            <a:r>
              <a:rPr lang="en-GB" altLang="is-IS" sz="2800" dirty="0"/>
              <a:t>? </a:t>
            </a:r>
          </a:p>
          <a:p>
            <a:r>
              <a:rPr lang="en-GB" altLang="is-IS" sz="2600" dirty="0"/>
              <a:t>Relating to a class or groups of activities - not specific (in our case: </a:t>
            </a:r>
            <a:r>
              <a:rPr lang="en-GB" altLang="is-IS" sz="2600" dirty="0">
                <a:solidFill>
                  <a:srgbClr val="154F98"/>
                </a:solidFill>
              </a:rPr>
              <a:t>surveys, censuses, statistical use of administrative data, statistical registers, back-recalculation, etc.)</a:t>
            </a:r>
          </a:p>
        </p:txBody>
      </p:sp>
    </p:spTree>
    <p:extLst>
      <p:ext uri="{BB962C8B-B14F-4D97-AF65-F5344CB8AC3E}">
        <p14:creationId xmlns:p14="http://schemas.microsoft.com/office/powerpoint/2010/main" val="237364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GSBPM: Background and overview                      </a:t>
            </a:r>
            <a:r>
              <a:rPr lang="en-US" sz="2400" dirty="0"/>
              <a:t>1/2</a:t>
            </a:r>
            <a:br>
              <a:rPr lang="en-US" sz="2400" dirty="0"/>
            </a:b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spcBef>
                <a:spcPts val="1800"/>
              </a:spcBef>
              <a:spcAft>
                <a:spcPts val="0"/>
              </a:spcAft>
            </a:pPr>
            <a:r>
              <a:rPr lang="en-GB" sz="2600" dirty="0"/>
              <a:t>The </a:t>
            </a:r>
            <a:r>
              <a:rPr lang="en-GB" sz="2600" dirty="0">
                <a:solidFill>
                  <a:srgbClr val="154F98"/>
                </a:solidFill>
              </a:rPr>
              <a:t>GSBPM</a:t>
            </a:r>
            <a:r>
              <a:rPr lang="en-GB" sz="2600" dirty="0"/>
              <a:t> has been developed under the auspices of </a:t>
            </a:r>
            <a:r>
              <a:rPr lang="en-GB" sz="2600" dirty="0">
                <a:solidFill>
                  <a:srgbClr val="154F98"/>
                </a:solidFill>
              </a:rPr>
              <a:t>UNECE</a:t>
            </a:r>
            <a:r>
              <a:rPr lang="en-GB" sz="2600" dirty="0"/>
              <a:t> in cooperation with </a:t>
            </a:r>
            <a:r>
              <a:rPr lang="en-GB" sz="2600" dirty="0">
                <a:solidFill>
                  <a:srgbClr val="154F98"/>
                </a:solidFill>
              </a:rPr>
              <a:t>Eurostat, OECD </a:t>
            </a:r>
            <a:r>
              <a:rPr lang="en-GB" sz="2600" dirty="0"/>
              <a:t>and several of the most advanced </a:t>
            </a:r>
            <a:r>
              <a:rPr lang="en-GB" sz="2600" dirty="0">
                <a:solidFill>
                  <a:srgbClr val="154F98"/>
                </a:solidFill>
              </a:rPr>
              <a:t>NSOs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The first version </a:t>
            </a:r>
            <a:r>
              <a:rPr lang="en-GB" sz="2600" dirty="0"/>
              <a:t>was released in </a:t>
            </a:r>
            <a:r>
              <a:rPr lang="en-US" sz="2600" dirty="0">
                <a:solidFill>
                  <a:srgbClr val="154F98"/>
                </a:solidFill>
              </a:rPr>
              <a:t>March 2008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2600" dirty="0"/>
              <a:t>The current version, </a:t>
            </a:r>
            <a:r>
              <a:rPr lang="en-US" sz="2600" dirty="0">
                <a:solidFill>
                  <a:srgbClr val="154F98"/>
                </a:solidFill>
              </a:rPr>
              <a:t>GSBPM 5.1</a:t>
            </a:r>
            <a:r>
              <a:rPr lang="en-US" sz="2600" dirty="0">
                <a:solidFill>
                  <a:srgbClr val="C00000"/>
                </a:solidFill>
              </a:rPr>
              <a:t>,  </a:t>
            </a:r>
            <a:r>
              <a:rPr lang="en-US" sz="2600" dirty="0"/>
              <a:t>has been released in </a:t>
            </a:r>
            <a:r>
              <a:rPr lang="en-US" sz="2600" dirty="0">
                <a:solidFill>
                  <a:srgbClr val="154F98"/>
                </a:solidFill>
              </a:rPr>
              <a:t>January 2019</a:t>
            </a:r>
          </a:p>
          <a:p>
            <a:pPr lvl="2">
              <a:spcBef>
                <a:spcPts val="600"/>
              </a:spcBef>
            </a:pPr>
            <a:endParaRPr lang="en-US" sz="1800" dirty="0"/>
          </a:p>
          <a:p>
            <a:pPr>
              <a:spcBef>
                <a:spcPts val="1800"/>
              </a:spcBef>
              <a:spcAft>
                <a:spcPts val="0"/>
              </a:spcAft>
            </a:pPr>
            <a:endParaRPr lang="en-GB" sz="2600" dirty="0">
              <a:solidFill>
                <a:srgbClr val="C0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31504" y="0"/>
            <a:ext cx="890314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0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21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Structure</a:t>
            </a:r>
            <a:r>
              <a:rPr lang="it-IT" dirty="0"/>
              <a:t> of the GSBPM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600" dirty="0"/>
              <a:t>The GSBPM comprises </a:t>
            </a:r>
            <a:r>
              <a:rPr lang="en-GB" sz="2600" dirty="0">
                <a:solidFill>
                  <a:srgbClr val="154F98"/>
                </a:solidFill>
              </a:rPr>
              <a:t>three levels </a:t>
            </a:r>
            <a:r>
              <a:rPr lang="en-GB" sz="2600" dirty="0"/>
              <a:t>that represents the whole statistical production process :</a:t>
            </a:r>
          </a:p>
          <a:p>
            <a:pPr>
              <a:lnSpc>
                <a:spcPct val="150000"/>
              </a:lnSpc>
            </a:pPr>
            <a:r>
              <a:rPr lang="en-GB" sz="2600" dirty="0"/>
              <a:t>Level 0, the </a:t>
            </a:r>
            <a:r>
              <a:rPr lang="en-GB" sz="2600" dirty="0">
                <a:solidFill>
                  <a:srgbClr val="154F98"/>
                </a:solidFill>
              </a:rPr>
              <a:t>statistical business process</a:t>
            </a:r>
          </a:p>
          <a:p>
            <a:pPr>
              <a:lnSpc>
                <a:spcPct val="150000"/>
              </a:lnSpc>
            </a:pPr>
            <a:r>
              <a:rPr lang="en-GB" sz="2600" dirty="0"/>
              <a:t>Level 1, the </a:t>
            </a:r>
            <a:r>
              <a:rPr lang="en-GB" sz="2600" dirty="0">
                <a:solidFill>
                  <a:srgbClr val="154F98"/>
                </a:solidFill>
              </a:rPr>
              <a:t>eight phases </a:t>
            </a:r>
            <a:r>
              <a:rPr lang="en-GB" sz="2600" dirty="0"/>
              <a:t>of the statistical business process</a:t>
            </a:r>
          </a:p>
          <a:p>
            <a:pPr>
              <a:lnSpc>
                <a:spcPct val="150000"/>
              </a:lnSpc>
            </a:pPr>
            <a:r>
              <a:rPr lang="en-GB" sz="2600" dirty="0"/>
              <a:t>Level 2, the individual </a:t>
            </a:r>
            <a:r>
              <a:rPr lang="en-GB" sz="2600" dirty="0">
                <a:solidFill>
                  <a:srgbClr val="154F98"/>
                </a:solidFill>
              </a:rPr>
              <a:t>sub-processes within each phase</a:t>
            </a:r>
          </a:p>
          <a:p>
            <a:endParaRPr lang="en-GB" sz="2600" dirty="0">
              <a:solidFill>
                <a:srgbClr val="00B050"/>
              </a:solidFill>
            </a:endParaRPr>
          </a:p>
          <a:p>
            <a:r>
              <a:rPr lang="is-IS" altLang="is-IS" sz="2600" dirty="0"/>
              <a:t>Further levels may be added in certain processes or in national-specific implementations, when a sub-process is composed of several components (</a:t>
            </a:r>
            <a:r>
              <a:rPr lang="is-IS" altLang="is-IS" sz="2600" dirty="0">
                <a:solidFill>
                  <a:srgbClr val="154F98"/>
                </a:solidFill>
              </a:rPr>
              <a:t>tasks</a:t>
            </a:r>
            <a:r>
              <a:rPr lang="is-IS" altLang="is-IS" sz="2600" dirty="0"/>
              <a:t> or </a:t>
            </a:r>
            <a:r>
              <a:rPr lang="is-IS" altLang="is-IS" sz="2600" dirty="0">
                <a:solidFill>
                  <a:srgbClr val="154F98"/>
                </a:solidFill>
              </a:rPr>
              <a:t>activities</a:t>
            </a:r>
            <a:r>
              <a:rPr lang="is-IS" altLang="is-IS" sz="2600" dirty="0"/>
              <a:t>).</a:t>
            </a:r>
          </a:p>
          <a:p>
            <a:pPr marL="0" indent="0">
              <a:buNone/>
            </a:pPr>
            <a:endParaRPr lang="en-GB" sz="2800" dirty="0"/>
          </a:p>
          <a:p>
            <a:endParaRPr lang="en-GB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703513" y="0"/>
            <a:ext cx="8346782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73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/>
        </p:nvSpPr>
        <p:spPr>
          <a:xfrm>
            <a:off x="1703512" y="1878958"/>
            <a:ext cx="936104" cy="133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1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it-IT" sz="1400" b="1" dirty="0">
              <a:solidFill>
                <a:schemeClr val="tx1"/>
              </a:solidFill>
            </a:endParaRPr>
          </a:p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Specify</a:t>
            </a:r>
            <a:r>
              <a:rPr lang="it-IT" sz="1400" b="1" dirty="0">
                <a:solidFill>
                  <a:schemeClr val="tx1"/>
                </a:solidFill>
              </a:rPr>
              <a:t> </a:t>
            </a:r>
            <a:r>
              <a:rPr lang="it-IT" sz="1400" b="1" dirty="0" err="1">
                <a:solidFill>
                  <a:schemeClr val="tx1"/>
                </a:solidFill>
              </a:rPr>
              <a:t>Needs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10" name="Rettangolo 9"/>
          <p:cNvSpPr/>
          <p:nvPr/>
        </p:nvSpPr>
        <p:spPr>
          <a:xfrm>
            <a:off x="2757452" y="1878958"/>
            <a:ext cx="936104" cy="133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2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it-IT" sz="1400" b="1" dirty="0">
              <a:solidFill>
                <a:schemeClr val="tx1"/>
              </a:solidFill>
            </a:endParaRPr>
          </a:p>
          <a:p>
            <a:pPr algn="ctr"/>
            <a:r>
              <a:rPr lang="it-IT" sz="1400" b="1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1" name="Rettangolo 10"/>
          <p:cNvSpPr/>
          <p:nvPr/>
        </p:nvSpPr>
        <p:spPr>
          <a:xfrm>
            <a:off x="3778384" y="1878958"/>
            <a:ext cx="791669" cy="133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3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it-IT" sz="1400" b="1" dirty="0">
              <a:solidFill>
                <a:schemeClr val="tx1"/>
              </a:solidFill>
            </a:endParaRPr>
          </a:p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Build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12" name="Rettangolo 11"/>
          <p:cNvSpPr/>
          <p:nvPr/>
        </p:nvSpPr>
        <p:spPr>
          <a:xfrm>
            <a:off x="4720898" y="1878958"/>
            <a:ext cx="913449" cy="133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4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it-IT" sz="1400" b="1" dirty="0">
              <a:solidFill>
                <a:schemeClr val="tx1"/>
              </a:solidFill>
            </a:endParaRPr>
          </a:p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Collect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13" name="Rettangolo 12"/>
          <p:cNvSpPr/>
          <p:nvPr/>
        </p:nvSpPr>
        <p:spPr>
          <a:xfrm>
            <a:off x="5752182" y="1878958"/>
            <a:ext cx="1087016" cy="133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5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it-IT" sz="1400" b="1" dirty="0">
              <a:solidFill>
                <a:schemeClr val="tx1"/>
              </a:solidFill>
            </a:endParaRPr>
          </a:p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Process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6957035" y="1878958"/>
            <a:ext cx="991527" cy="133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6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it-IT" sz="1400" b="1" dirty="0">
              <a:solidFill>
                <a:schemeClr val="tx1"/>
              </a:solidFill>
            </a:endParaRPr>
          </a:p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Analyse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15" name="Rettangolo 14"/>
          <p:cNvSpPr/>
          <p:nvPr/>
        </p:nvSpPr>
        <p:spPr>
          <a:xfrm>
            <a:off x="8066397" y="1878958"/>
            <a:ext cx="936104" cy="133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7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it-IT" sz="1400" b="1" dirty="0">
              <a:solidFill>
                <a:schemeClr val="tx1"/>
              </a:solidFill>
            </a:endParaRPr>
          </a:p>
          <a:p>
            <a:pPr algn="ctr"/>
            <a:r>
              <a:rPr lang="it-IT" sz="1400" b="1" dirty="0">
                <a:solidFill>
                  <a:schemeClr val="tx1"/>
                </a:solidFill>
              </a:rPr>
              <a:t>Disseminate</a:t>
            </a:r>
          </a:p>
        </p:txBody>
      </p:sp>
      <p:sp>
        <p:nvSpPr>
          <p:cNvPr id="16" name="Rettangolo 15"/>
          <p:cNvSpPr/>
          <p:nvPr/>
        </p:nvSpPr>
        <p:spPr>
          <a:xfrm>
            <a:off x="9120336" y="1878958"/>
            <a:ext cx="1080120" cy="133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8</a:t>
            </a:r>
            <a:endParaRPr lang="en-GB" sz="1400" b="1" dirty="0">
              <a:solidFill>
                <a:schemeClr val="tx1"/>
              </a:solidFill>
            </a:endParaRPr>
          </a:p>
          <a:p>
            <a:pPr algn="ctr"/>
            <a:endParaRPr lang="it-IT" sz="1400" b="1" dirty="0">
              <a:solidFill>
                <a:schemeClr val="tx1"/>
              </a:solidFill>
            </a:endParaRPr>
          </a:p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Evaluate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26" name="Rettangolo 25"/>
          <p:cNvSpPr/>
          <p:nvPr/>
        </p:nvSpPr>
        <p:spPr>
          <a:xfrm rot="16200000">
            <a:off x="8889444" y="1931700"/>
            <a:ext cx="2147684" cy="1685900"/>
          </a:xfrm>
          <a:prstGeom prst="rect">
            <a:avLst/>
          </a:prstGeom>
          <a:solidFill>
            <a:srgbClr val="FFCC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srgbClr val="C00000"/>
              </a:solidFill>
            </a:endParaRPr>
          </a:p>
          <a:p>
            <a:pPr algn="ctr"/>
            <a:endParaRPr lang="en-GB" b="1" dirty="0">
              <a:solidFill>
                <a:srgbClr val="C00000"/>
              </a:solidFill>
            </a:endParaRPr>
          </a:p>
          <a:p>
            <a:pPr algn="ctr"/>
            <a:endParaRPr lang="en-GB" b="1" dirty="0">
              <a:solidFill>
                <a:srgbClr val="C00000"/>
              </a:solidFill>
            </a:endParaRPr>
          </a:p>
          <a:p>
            <a:pPr algn="ctr"/>
            <a:r>
              <a:rPr lang="it-IT" sz="2000" b="1" dirty="0">
                <a:solidFill>
                  <a:srgbClr val="C00000"/>
                </a:solidFill>
              </a:rPr>
              <a:t>EVALUATION</a:t>
            </a:r>
            <a:endParaRPr lang="en-GB" sz="3200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phases of the GSBPM</a:t>
            </a:r>
            <a:br>
              <a:rPr lang="en-US" dirty="0"/>
            </a:br>
            <a:endParaRPr lang="it-IT" dirty="0"/>
          </a:p>
        </p:txBody>
      </p:sp>
      <p:sp>
        <p:nvSpPr>
          <p:cNvPr id="30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196752"/>
            <a:ext cx="10465163" cy="504055"/>
          </a:xfrm>
        </p:spPr>
        <p:txBody>
          <a:bodyPr/>
          <a:lstStyle/>
          <a:p>
            <a:pPr marL="0" indent="0">
              <a:buNone/>
            </a:pPr>
            <a:r>
              <a:rPr lang="en-GB" altLang="is-IS" sz="2800" dirty="0"/>
              <a:t>The GSBPM lists </a:t>
            </a:r>
            <a:r>
              <a:rPr lang="en-GB" altLang="is-IS" sz="2800" b="1" dirty="0">
                <a:solidFill>
                  <a:srgbClr val="C00000"/>
                </a:solidFill>
              </a:rPr>
              <a:t>8 main phases </a:t>
            </a:r>
            <a:endParaRPr lang="en-GB" altLang="is-IS" dirty="0"/>
          </a:p>
        </p:txBody>
      </p:sp>
      <p:sp>
        <p:nvSpPr>
          <p:cNvPr id="31" name="CasellaDiTesto 30"/>
          <p:cNvSpPr txBox="1"/>
          <p:nvPr/>
        </p:nvSpPr>
        <p:spPr>
          <a:xfrm>
            <a:off x="1645284" y="4077073"/>
            <a:ext cx="9160952" cy="2092881"/>
          </a:xfrm>
          <a:prstGeom prst="rect">
            <a:avLst/>
          </a:prstGeom>
          <a:solidFill>
            <a:srgbClr val="99CCFF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phase is divided into several </a:t>
            </a:r>
            <a:r>
              <a:rPr lang="en-GB" sz="2200" b="1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sub-processes</a:t>
            </a:r>
            <a:r>
              <a:rPr lang="en-GB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22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listed in a </a:t>
            </a:r>
            <a:r>
              <a:rPr lang="en-GB" sz="2200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(general) logical order</a:t>
            </a:r>
            <a:r>
              <a:rPr lang="en-GB" sz="22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from what we need to focus on first, to the end of each phase</a:t>
            </a:r>
          </a:p>
          <a:p>
            <a:pPr marL="342900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need to </a:t>
            </a:r>
            <a:r>
              <a:rPr lang="en-GB" sz="2200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the content </a:t>
            </a:r>
            <a:r>
              <a:rPr lang="en-GB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each of these sub-processes</a:t>
            </a:r>
          </a:p>
          <a:p>
            <a:pPr marL="342900" lvl="1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GB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Then, we need to </a:t>
            </a:r>
            <a:r>
              <a:rPr lang="en-GB" sz="2200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observe, follow and respect </a:t>
            </a:r>
            <a:r>
              <a:rPr lang="en-GB" sz="2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</a:t>
            </a:r>
          </a:p>
        </p:txBody>
      </p:sp>
      <p:sp>
        <p:nvSpPr>
          <p:cNvPr id="18" name="Rettangolo 17"/>
          <p:cNvSpPr/>
          <p:nvPr/>
        </p:nvSpPr>
        <p:spPr>
          <a:xfrm>
            <a:off x="1643115" y="1700809"/>
            <a:ext cx="3010065" cy="2147683"/>
          </a:xfrm>
          <a:prstGeom prst="rect">
            <a:avLst/>
          </a:prstGeom>
          <a:solidFill>
            <a:srgbClr val="FFCC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r>
              <a:rPr lang="en-GB" sz="2000" b="1" dirty="0">
                <a:solidFill>
                  <a:srgbClr val="C00000"/>
                </a:solidFill>
              </a:rPr>
              <a:t>PLANNING</a:t>
            </a:r>
            <a:endParaRPr lang="en-GB" sz="2000" dirty="0"/>
          </a:p>
        </p:txBody>
      </p:sp>
      <p:sp>
        <p:nvSpPr>
          <p:cNvPr id="19" name="Rettangolo 18"/>
          <p:cNvSpPr/>
          <p:nvPr/>
        </p:nvSpPr>
        <p:spPr>
          <a:xfrm>
            <a:off x="4694152" y="1700809"/>
            <a:ext cx="4354176" cy="2147683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endParaRPr lang="en-GB" sz="1400" b="1" dirty="0">
              <a:solidFill>
                <a:srgbClr val="C00000"/>
              </a:solidFill>
            </a:endParaRPr>
          </a:p>
          <a:p>
            <a:pPr algn="ctr"/>
            <a:r>
              <a:rPr lang="en-GB" sz="2000" b="1" dirty="0">
                <a:solidFill>
                  <a:srgbClr val="C00000"/>
                </a:solidFill>
              </a:rPr>
              <a:t>PRODUCTION</a:t>
            </a:r>
            <a:endParaRPr lang="en-GB" sz="20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1703513" y="60423"/>
            <a:ext cx="849736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01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6" grpId="0" animBg="1"/>
      <p:bldP spid="31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95" descr="GSBPM-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398033" y="-1104664"/>
            <a:ext cx="5719463" cy="968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1703513" y="60423"/>
            <a:ext cx="849736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391477" y="219473"/>
            <a:ext cx="10492747" cy="720080"/>
          </a:xfrm>
        </p:spPr>
        <p:txBody>
          <a:bodyPr/>
          <a:lstStyle/>
          <a:p>
            <a:r>
              <a:rPr lang="en-US" dirty="0"/>
              <a:t>GSBPM version 5.0: Level 1 and 2</a:t>
            </a:r>
            <a:br>
              <a:rPr lang="en-US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5755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95" descr="GSBPM-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398033" y="-1104664"/>
            <a:ext cx="5719463" cy="968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Notched Right Arrow 17"/>
          <p:cNvSpPr>
            <a:spLocks noChangeArrowheads="1"/>
          </p:cNvSpPr>
          <p:nvPr/>
        </p:nvSpPr>
        <p:spPr bwMode="auto">
          <a:xfrm rot="5400000">
            <a:off x="200243" y="3730858"/>
            <a:ext cx="3870634" cy="1440160"/>
          </a:xfrm>
          <a:prstGeom prst="notchedRightArrow">
            <a:avLst>
              <a:gd name="adj1" fmla="val 66898"/>
              <a:gd name="adj2" fmla="val 50065"/>
            </a:avLst>
          </a:prstGeom>
          <a:solidFill>
            <a:srgbClr val="F2650E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vert="horz" anchor="ctr" anchorCtr="0">
            <a:normAutofit fontScale="92500"/>
          </a:bodyPr>
          <a:lstStyle/>
          <a:p>
            <a:pPr algn="ctr"/>
            <a:r>
              <a:rPr lang="is-IS" altLang="is-IS" sz="2400" b="1" dirty="0"/>
              <a:t>General order of the</a:t>
            </a:r>
          </a:p>
          <a:p>
            <a:pPr algn="ctr"/>
            <a:r>
              <a:rPr lang="is-IS" altLang="is-IS" sz="2400" b="1" dirty="0"/>
              <a:t> sub-processes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703513" y="60423"/>
            <a:ext cx="849736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1844824"/>
            <a:ext cx="1296144" cy="4662722"/>
          </a:xfrm>
          <a:prstGeom prst="rect">
            <a:avLst/>
          </a:prstGeom>
          <a:noFill/>
          <a:ln w="69850" cmpd="sng">
            <a:solidFill>
              <a:srgbClr val="F265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1559496" y="1340768"/>
            <a:ext cx="8975154" cy="504056"/>
          </a:xfrm>
          <a:prstGeom prst="rect">
            <a:avLst/>
          </a:prstGeom>
          <a:noFill/>
          <a:ln w="69850" cmpd="sng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Notched Right Arrow 17"/>
          <p:cNvSpPr>
            <a:spLocks noChangeArrowheads="1"/>
          </p:cNvSpPr>
          <p:nvPr/>
        </p:nvSpPr>
        <p:spPr bwMode="auto">
          <a:xfrm>
            <a:off x="4370725" y="2522095"/>
            <a:ext cx="5328591" cy="1215525"/>
          </a:xfrm>
          <a:prstGeom prst="notchedRightArrow">
            <a:avLst>
              <a:gd name="adj1" fmla="val 66898"/>
              <a:gd name="adj2" fmla="val 50065"/>
            </a:avLst>
          </a:prstGeom>
          <a:solidFill>
            <a:schemeClr val="accent5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 anchorCtr="0"/>
          <a:lstStyle/>
          <a:p>
            <a:pPr algn="ctr"/>
            <a:r>
              <a:rPr lang="is-IS" altLang="is-IS" sz="2400" b="1" dirty="0">
                <a:solidFill>
                  <a:schemeClr val="bg1"/>
                </a:solidFill>
              </a:rPr>
              <a:t>General order of the </a:t>
            </a:r>
          </a:p>
          <a:p>
            <a:pPr algn="ctr"/>
            <a:r>
              <a:rPr lang="is-IS" altLang="is-IS" sz="2400" b="1" dirty="0">
                <a:solidFill>
                  <a:schemeClr val="bg1"/>
                </a:solidFill>
              </a:rPr>
              <a:t>statistical production phases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391477" y="219473"/>
            <a:ext cx="10492747" cy="720080"/>
          </a:xfrm>
        </p:spPr>
        <p:txBody>
          <a:bodyPr/>
          <a:lstStyle/>
          <a:p>
            <a:r>
              <a:rPr lang="en-US" dirty="0"/>
              <a:t>GSBPM version 5.0: Level 1 and 2</a:t>
            </a:r>
            <a:br>
              <a:rPr lang="en-US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323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95" descr="GSBPM-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398033" y="-1104664"/>
            <a:ext cx="5719463" cy="968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1703513" y="60423"/>
            <a:ext cx="849736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1368" y="1268760"/>
            <a:ext cx="1296144" cy="5328592"/>
          </a:xfrm>
          <a:prstGeom prst="rect">
            <a:avLst/>
          </a:prstGeom>
          <a:noFill/>
          <a:ln w="69850" cmpd="sng">
            <a:solidFill>
              <a:srgbClr val="F265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391477" y="219473"/>
            <a:ext cx="10492747" cy="720080"/>
          </a:xfrm>
        </p:spPr>
        <p:txBody>
          <a:bodyPr/>
          <a:lstStyle/>
          <a:p>
            <a:r>
              <a:rPr lang="en-US" dirty="0"/>
              <a:t>GSBPM version 5.0: Level 1 and 2</a:t>
            </a:r>
            <a:br>
              <a:rPr lang="en-US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31300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GSBPM: Over-</a:t>
            </a:r>
            <a:r>
              <a:rPr lang="it-IT" dirty="0" err="1"/>
              <a:t>arching</a:t>
            </a:r>
            <a:r>
              <a:rPr lang="it-IT" dirty="0"/>
              <a:t> </a:t>
            </a:r>
            <a:r>
              <a:rPr lang="it-IT" dirty="0" err="1"/>
              <a:t>processes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2254627"/>
            <a:ext cx="10465163" cy="3982685"/>
          </a:xfrm>
          <a:noFill/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600" dirty="0"/>
              <a:t>GSMPM includes </a:t>
            </a:r>
            <a:r>
              <a:rPr lang="en-GB" sz="2600" dirty="0">
                <a:solidFill>
                  <a:srgbClr val="154F98"/>
                </a:solidFill>
              </a:rPr>
              <a:t>several over-arching processes</a:t>
            </a:r>
          </a:p>
          <a:p>
            <a:pPr lvl="1">
              <a:spcAft>
                <a:spcPts val="1200"/>
              </a:spcAft>
            </a:pPr>
            <a:r>
              <a:rPr lang="en-GB" sz="2600" dirty="0"/>
              <a:t> </a:t>
            </a:r>
            <a:r>
              <a:rPr lang="en-GB" sz="2200" dirty="0"/>
              <a:t>	</a:t>
            </a:r>
            <a:r>
              <a:rPr lang="fr-CH" sz="2200" dirty="0" err="1"/>
              <a:t>Encompasses</a:t>
            </a:r>
            <a:r>
              <a:rPr lang="fr-CH" sz="2200" dirty="0"/>
              <a:t> all phases and </a:t>
            </a:r>
            <a:r>
              <a:rPr lang="fr-CH" sz="2200" dirty="0" err="1"/>
              <a:t>sub-processes</a:t>
            </a:r>
            <a:endParaRPr lang="en-GB" sz="2200" dirty="0"/>
          </a:p>
          <a:p>
            <a:pPr marL="0" indent="0">
              <a:buNone/>
            </a:pPr>
            <a:r>
              <a:rPr lang="en-GB" sz="2200" dirty="0"/>
              <a:t>The following two can be considered </a:t>
            </a:r>
            <a:r>
              <a:rPr lang="en-GB" sz="2200" dirty="0">
                <a:solidFill>
                  <a:srgbClr val="154F98"/>
                </a:solidFill>
              </a:rPr>
              <a:t>crucial:</a:t>
            </a:r>
          </a:p>
          <a:p>
            <a:pPr>
              <a:spcBef>
                <a:spcPts val="1200"/>
              </a:spcBef>
            </a:pPr>
            <a:r>
              <a:rPr lang="en-GB" sz="2600" dirty="0">
                <a:solidFill>
                  <a:srgbClr val="154F98"/>
                </a:solidFill>
              </a:rPr>
              <a:t>Data and Metadata Management </a:t>
            </a:r>
            <a:r>
              <a:rPr lang="en-GB" sz="2600" dirty="0"/>
              <a:t>(Archiving)</a:t>
            </a:r>
          </a:p>
          <a:p>
            <a:pPr lvl="1"/>
            <a:r>
              <a:rPr lang="en-US" sz="2200" dirty="0"/>
              <a:t>Preserve/Dispose </a:t>
            </a:r>
            <a:r>
              <a:rPr lang="en-US" sz="2200" dirty="0">
                <a:solidFill>
                  <a:srgbClr val="154F98"/>
                </a:solidFill>
              </a:rPr>
              <a:t>statistical micro-data and indicators </a:t>
            </a:r>
            <a:r>
              <a:rPr lang="en-US" sz="2200" dirty="0"/>
              <a:t>(secondary data/</a:t>
            </a:r>
            <a:r>
              <a:rPr lang="en-US" sz="2200" dirty="0" err="1"/>
              <a:t>paradata</a:t>
            </a:r>
            <a:r>
              <a:rPr lang="en-US" sz="2200" dirty="0"/>
              <a:t>) available in all phases</a:t>
            </a:r>
          </a:p>
          <a:p>
            <a:pPr lvl="1"/>
            <a:r>
              <a:rPr lang="en-US" sz="2200" dirty="0"/>
              <a:t>Preserve/Update/Dispose associated </a:t>
            </a:r>
            <a:r>
              <a:rPr lang="en-US" sz="2200" dirty="0">
                <a:solidFill>
                  <a:srgbClr val="154F98"/>
                </a:solidFill>
              </a:rPr>
              <a:t>metadata</a:t>
            </a:r>
            <a:r>
              <a:rPr lang="en-US" sz="2200" dirty="0"/>
              <a:t> that describe data and processes and drives actions.  </a:t>
            </a:r>
          </a:p>
          <a:p>
            <a:pPr>
              <a:spcBef>
                <a:spcPts val="1200"/>
              </a:spcBef>
            </a:pPr>
            <a:r>
              <a:rPr lang="en-GB" sz="2600" dirty="0">
                <a:solidFill>
                  <a:srgbClr val="154F98"/>
                </a:solidFill>
              </a:rPr>
              <a:t>Quality Management</a:t>
            </a:r>
          </a:p>
          <a:p>
            <a:pPr lvl="1"/>
            <a:r>
              <a:rPr lang="en-GB" sz="2200" dirty="0"/>
              <a:t>Refers to the quality of the </a:t>
            </a:r>
            <a:r>
              <a:rPr lang="en-GB" sz="2200" dirty="0">
                <a:solidFill>
                  <a:srgbClr val="154F98"/>
                </a:solidFill>
              </a:rPr>
              <a:t>overall product </a:t>
            </a:r>
            <a:r>
              <a:rPr lang="en-GB" sz="2200" dirty="0"/>
              <a:t>and </a:t>
            </a:r>
            <a:r>
              <a:rPr lang="en-GB" sz="2200" dirty="0">
                <a:solidFill>
                  <a:srgbClr val="154F98"/>
                </a:solidFill>
              </a:rPr>
              <a:t>process</a:t>
            </a:r>
            <a:endParaRPr lang="en-GB" sz="2200" i="1" dirty="0">
              <a:solidFill>
                <a:srgbClr val="154F98"/>
              </a:solidFill>
            </a:endParaRPr>
          </a:p>
        </p:txBody>
      </p:sp>
      <p:grpSp>
        <p:nvGrpSpPr>
          <p:cNvPr id="8" name="Gruppo 7"/>
          <p:cNvGrpSpPr/>
          <p:nvPr/>
        </p:nvGrpSpPr>
        <p:grpSpPr>
          <a:xfrm>
            <a:off x="1342416" y="1160749"/>
            <a:ext cx="10105123" cy="936102"/>
            <a:chOff x="1464780" y="2796856"/>
            <a:chExt cx="8856986" cy="936102"/>
          </a:xfrm>
        </p:grpSpPr>
        <p:pic>
          <p:nvPicPr>
            <p:cNvPr id="10" name="Picture 695" descr="GSBPM-2"/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7700"/>
            <a:stretch/>
          </p:blipFill>
          <p:spPr bwMode="auto">
            <a:xfrm rot="5400000">
              <a:off x="5574405" y="-1014402"/>
              <a:ext cx="637735" cy="8856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95" descr="GSBPM-2"/>
            <p:cNvPicPr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2" t="14441" r="91957" b="17536"/>
            <a:stretch/>
          </p:blipFill>
          <p:spPr bwMode="auto">
            <a:xfrm rot="5400000">
              <a:off x="5510256" y="-1136030"/>
              <a:ext cx="764371" cy="863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itle 1"/>
          <p:cNvSpPr txBox="1">
            <a:spLocks/>
          </p:cNvSpPr>
          <p:nvPr/>
        </p:nvSpPr>
        <p:spPr>
          <a:xfrm>
            <a:off x="1673206" y="44624"/>
            <a:ext cx="8671267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32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79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GSBPM: Background and overview                     </a:t>
            </a:r>
            <a:r>
              <a:rPr lang="en-US" sz="2400" dirty="0"/>
              <a:t>2/2</a:t>
            </a:r>
            <a:r>
              <a:rPr lang="en-US" dirty="0"/>
              <a:t>     </a:t>
            </a:r>
            <a:br>
              <a:rPr lang="en-US" dirty="0"/>
            </a:br>
            <a:r>
              <a:rPr lang="it-IT" dirty="0">
                <a:solidFill>
                  <a:schemeClr val="bg1"/>
                </a:solidFill>
              </a:rPr>
              <a:t>pe of the GSBPM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896544"/>
          </a:xfrm>
        </p:spPr>
        <p:txBody>
          <a:bodyPr>
            <a:normAutofit/>
          </a:bodyPr>
          <a:lstStyle/>
          <a:p>
            <a:r>
              <a:rPr lang="en-GB" sz="2600" dirty="0"/>
              <a:t>Originally intended</a:t>
            </a:r>
          </a:p>
          <a:p>
            <a:pPr lvl="1"/>
            <a:r>
              <a:rPr lang="en-GB" sz="2400" dirty="0"/>
              <a:t>to provide the basis for statistical organisations to agree on </a:t>
            </a:r>
            <a:r>
              <a:rPr lang="en-GB" sz="2400" dirty="0">
                <a:solidFill>
                  <a:srgbClr val="154F98"/>
                </a:solidFill>
              </a:rPr>
              <a:t>standard / harmonized terminology </a:t>
            </a:r>
            <a:r>
              <a:rPr lang="en-GB" sz="2400" dirty="0"/>
              <a:t>to aid their discussions on developing statistical metadata systems and processes</a:t>
            </a:r>
          </a:p>
          <a:p>
            <a:pPr marL="342900" lvl="1" indent="-342900">
              <a:spcBef>
                <a:spcPts val="1200"/>
              </a:spcBef>
            </a:pPr>
            <a:r>
              <a:rPr lang="en-GB" sz="2600" dirty="0">
                <a:cs typeface="+mn-cs"/>
              </a:rPr>
              <a:t>Now </a:t>
            </a:r>
            <a:r>
              <a:rPr lang="en-GB" sz="2600" dirty="0">
                <a:solidFill>
                  <a:srgbClr val="154F98"/>
                </a:solidFill>
              </a:rPr>
              <a:t>widely adopted </a:t>
            </a:r>
            <a:r>
              <a:rPr lang="en-GB" sz="2600" dirty="0"/>
              <a:t>and </a:t>
            </a:r>
            <a:r>
              <a:rPr lang="en-GB" sz="2600" dirty="0">
                <a:cs typeface="+mn-cs"/>
              </a:rPr>
              <a:t>recognized as a </a:t>
            </a:r>
            <a:r>
              <a:rPr lang="en-GB" sz="2600" dirty="0">
                <a:solidFill>
                  <a:srgbClr val="154F98"/>
                </a:solidFill>
                <a:cs typeface="+mn-cs"/>
              </a:rPr>
              <a:t>flexible tool </a:t>
            </a:r>
            <a:r>
              <a:rPr lang="en-GB" sz="2600" dirty="0"/>
              <a:t>to provide a </a:t>
            </a:r>
            <a:r>
              <a:rPr lang="en-GB" sz="2600" dirty="0">
                <a:solidFill>
                  <a:srgbClr val="154F98"/>
                </a:solidFill>
              </a:rPr>
              <a:t>standard framework </a:t>
            </a:r>
            <a:r>
              <a:rPr lang="en-GB" sz="2600" dirty="0"/>
              <a:t>to help statistical organisations:</a:t>
            </a:r>
          </a:p>
          <a:p>
            <a:pPr lvl="1"/>
            <a:r>
              <a:rPr lang="en-GB" sz="2600" dirty="0"/>
              <a:t>to define and describe the </a:t>
            </a:r>
            <a:r>
              <a:rPr lang="en-GB" sz="2600" dirty="0">
                <a:solidFill>
                  <a:srgbClr val="154F98"/>
                </a:solidFill>
              </a:rPr>
              <a:t>set of business processes </a:t>
            </a:r>
            <a:r>
              <a:rPr lang="en-GB" sz="2600" dirty="0"/>
              <a:t>needed to produce official statistics</a:t>
            </a:r>
          </a:p>
          <a:p>
            <a:pPr lvl="1"/>
            <a:r>
              <a:rPr lang="en-GB" sz="2600" dirty="0"/>
              <a:t>to </a:t>
            </a:r>
            <a:r>
              <a:rPr lang="en-GB" sz="2600" dirty="0">
                <a:solidFill>
                  <a:srgbClr val="154F98"/>
                </a:solidFill>
              </a:rPr>
              <a:t>share developed methods and components</a:t>
            </a:r>
          </a:p>
          <a:p>
            <a:pPr lvl="1"/>
            <a:r>
              <a:rPr lang="en-GB" sz="2600" dirty="0"/>
              <a:t>to get a </a:t>
            </a:r>
            <a:r>
              <a:rPr lang="en-GB" sz="2600" dirty="0">
                <a:solidFill>
                  <a:srgbClr val="154F98"/>
                </a:solidFill>
              </a:rPr>
              <a:t>standard-based modernisation</a:t>
            </a:r>
            <a:r>
              <a:rPr lang="en-GB" sz="2600" dirty="0">
                <a:solidFill>
                  <a:srgbClr val="C00000"/>
                </a:solidFill>
              </a:rPr>
              <a:t> </a:t>
            </a:r>
            <a:r>
              <a:rPr lang="en-GB" sz="2600" dirty="0"/>
              <a:t>of their statistical production processes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631505" y="-28575"/>
            <a:ext cx="880630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9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Understanding</a:t>
            </a:r>
            <a:r>
              <a:rPr lang="it-IT" dirty="0"/>
              <a:t> the GSBPM                          1/2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2400"/>
              </a:spcAft>
            </a:pPr>
            <a:r>
              <a:rPr lang="en-GB" sz="2800" dirty="0"/>
              <a:t>GSBPM </a:t>
            </a:r>
            <a:r>
              <a:rPr lang="en-GB" sz="2800" dirty="0">
                <a:solidFill>
                  <a:srgbClr val="154F98"/>
                </a:solidFill>
              </a:rPr>
              <a:t>follows the (general) logical sequence </a:t>
            </a:r>
            <a:r>
              <a:rPr lang="en-GB" sz="2800" dirty="0"/>
              <a:t>of steps needed in most statistical business processes. </a:t>
            </a:r>
          </a:p>
          <a:p>
            <a:pPr>
              <a:spcAft>
                <a:spcPts val="2400"/>
              </a:spcAft>
            </a:pPr>
            <a:r>
              <a:rPr lang="it-IT" sz="2800" dirty="0" err="1"/>
              <a:t>However</a:t>
            </a:r>
            <a:r>
              <a:rPr lang="it-IT" sz="2800" dirty="0"/>
              <a:t>, </a:t>
            </a:r>
            <a:r>
              <a:rPr lang="en-GB" sz="2800" dirty="0"/>
              <a:t>it </a:t>
            </a:r>
            <a:r>
              <a:rPr lang="en-GB" sz="2800" dirty="0">
                <a:solidFill>
                  <a:srgbClr val="154F98"/>
                </a:solidFill>
              </a:rPr>
              <a:t>is not a rigid framework </a:t>
            </a:r>
            <a:r>
              <a:rPr lang="en-GB" sz="2800" dirty="0"/>
              <a:t>in which all steps must be followed in a strict order. It should be </a:t>
            </a:r>
            <a:r>
              <a:rPr lang="en-GB" sz="2800" dirty="0">
                <a:solidFill>
                  <a:srgbClr val="154F98"/>
                </a:solidFill>
              </a:rPr>
              <a:t>applied and interpreted flexibly.</a:t>
            </a:r>
          </a:p>
          <a:p>
            <a:pPr>
              <a:spcAft>
                <a:spcPts val="2400"/>
              </a:spcAft>
            </a:pPr>
            <a:r>
              <a:rPr lang="en-GB" sz="2800" dirty="0"/>
              <a:t>GSBPM should therefore be seen more as a matrix, through which there are </a:t>
            </a:r>
            <a:r>
              <a:rPr lang="en-GB" sz="2800" dirty="0">
                <a:solidFill>
                  <a:srgbClr val="154F98"/>
                </a:solidFill>
              </a:rPr>
              <a:t>many possible not linear paths. </a:t>
            </a:r>
          </a:p>
          <a:p>
            <a:r>
              <a:rPr lang="en-GB" sz="2800" dirty="0"/>
              <a:t>In this way it aims to be </a:t>
            </a:r>
            <a:r>
              <a:rPr lang="en-GB" sz="2800" dirty="0">
                <a:solidFill>
                  <a:srgbClr val="154F98"/>
                </a:solidFill>
              </a:rPr>
              <a:t>sufficiently generic and flexible </a:t>
            </a:r>
            <a:r>
              <a:rPr lang="en-GB" sz="2800" dirty="0"/>
              <a:t>to be </a:t>
            </a:r>
            <a:r>
              <a:rPr lang="en-GB" sz="2800" dirty="0">
                <a:solidFill>
                  <a:srgbClr val="154F98"/>
                </a:solidFill>
              </a:rPr>
              <a:t>widely applicable in many scenarios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703513" y="0"/>
            <a:ext cx="872819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57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Understanding</a:t>
            </a:r>
            <a:r>
              <a:rPr lang="it-IT" dirty="0"/>
              <a:t> the GSBPM                          2/2</a:t>
            </a:r>
            <a:br>
              <a:rPr lang="it-IT" dirty="0"/>
            </a:br>
            <a:endParaRPr lang="it-IT" dirty="0"/>
          </a:p>
        </p:txBody>
      </p:sp>
      <p:pic>
        <p:nvPicPr>
          <p:cNvPr id="7" name="Picture 7" descr="C:\Users\hallgrimur\Vinnuskjöl\Erl. verkefni HS\GSBPM\Bahrain May 2015\Level-1-and-2_A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8"/>
          <a:stretch/>
        </p:blipFill>
        <p:spPr bwMode="auto">
          <a:xfrm>
            <a:off x="1391477" y="1036338"/>
            <a:ext cx="8856983" cy="5322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tangolo 7"/>
          <p:cNvSpPr/>
          <p:nvPr/>
        </p:nvSpPr>
        <p:spPr>
          <a:xfrm>
            <a:off x="2882680" y="4741832"/>
            <a:ext cx="7927466" cy="1938992"/>
          </a:xfrm>
          <a:prstGeom prst="rect">
            <a:avLst/>
          </a:prstGeom>
          <a:solidFill>
            <a:srgbClr val="CCECFF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In different circumstances sub-processes 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may </a:t>
            </a:r>
            <a:r>
              <a:rPr lang="en-GB" sz="2400" dirty="0">
                <a:solidFill>
                  <a:srgbClr val="C00000"/>
                </a:solidFill>
              </a:rPr>
              <a:t>occur in different orders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may be revisited a number of times forming  </a:t>
            </a:r>
            <a:r>
              <a:rPr lang="en-GB" sz="2400" dirty="0">
                <a:solidFill>
                  <a:srgbClr val="C00000"/>
                </a:solidFill>
              </a:rPr>
              <a:t>iterative loops </a:t>
            </a:r>
            <a:r>
              <a:rPr lang="en-GB" sz="2400" dirty="0"/>
              <a:t>(e.g. Process and Analyse )</a:t>
            </a:r>
          </a:p>
          <a:p>
            <a:pPr marL="285750" indent="-285750">
              <a:buFontTx/>
              <a:buChar char="-"/>
            </a:pPr>
            <a:r>
              <a:rPr lang="it-IT" sz="2400" dirty="0" err="1"/>
              <a:t>may</a:t>
            </a:r>
            <a:r>
              <a:rPr lang="it-IT" sz="2400" dirty="0"/>
              <a:t> be </a:t>
            </a:r>
            <a:r>
              <a:rPr lang="it-IT" sz="2400" dirty="0" err="1">
                <a:solidFill>
                  <a:srgbClr val="C00000"/>
                </a:solidFill>
              </a:rPr>
              <a:t>skipped</a:t>
            </a:r>
            <a:r>
              <a:rPr lang="it-IT" sz="2400" dirty="0"/>
              <a:t> (e.g. in </a:t>
            </a:r>
            <a:r>
              <a:rPr lang="en-GB" sz="2400" dirty="0"/>
              <a:t>regular processes/iterations)</a:t>
            </a:r>
          </a:p>
        </p:txBody>
      </p:sp>
      <p:grpSp>
        <p:nvGrpSpPr>
          <p:cNvPr id="40" name="Gruppo 39"/>
          <p:cNvGrpSpPr/>
          <p:nvPr/>
        </p:nvGrpSpPr>
        <p:grpSpPr>
          <a:xfrm>
            <a:off x="2162335" y="2132857"/>
            <a:ext cx="7580312" cy="2116551"/>
            <a:chOff x="750337" y="2016504"/>
            <a:chExt cx="7580312" cy="2116551"/>
          </a:xfrm>
          <a:solidFill>
            <a:srgbClr val="FF0000"/>
          </a:solidFill>
        </p:grpSpPr>
        <p:cxnSp>
          <p:nvCxnSpPr>
            <p:cNvPr id="41" name="Straight Arrow Connector 15374"/>
            <p:cNvCxnSpPr>
              <a:cxnSpLocks noChangeShapeType="1"/>
            </p:cNvCxnSpPr>
            <p:nvPr/>
          </p:nvCxnSpPr>
          <p:spPr bwMode="auto">
            <a:xfrm>
              <a:off x="6325637" y="2751136"/>
              <a:ext cx="603287" cy="33684"/>
            </a:xfrm>
            <a:prstGeom prst="straightConnector1">
              <a:avLst/>
            </a:prstGeom>
            <a:grpFill/>
            <a:ln w="34925" algn="ctr">
              <a:solidFill>
                <a:srgbClr val="FF0000"/>
              </a:solidFill>
              <a:round/>
              <a:headEnd type="none" w="sm" len="sm"/>
              <a:tailEnd type="arrow" w="med" len="med"/>
            </a:ln>
          </p:spPr>
        </p:cxnSp>
        <p:grpSp>
          <p:nvGrpSpPr>
            <p:cNvPr id="42" name="Gruppo 41"/>
            <p:cNvGrpSpPr/>
            <p:nvPr/>
          </p:nvGrpSpPr>
          <p:grpSpPr>
            <a:xfrm>
              <a:off x="750337" y="2016504"/>
              <a:ext cx="7580312" cy="2116551"/>
              <a:chOff x="740001" y="1832355"/>
              <a:chExt cx="7580312" cy="2116551"/>
            </a:xfrm>
            <a:grpFill/>
          </p:grpSpPr>
          <p:cxnSp>
            <p:nvCxnSpPr>
              <p:cNvPr id="43" name="Straight Arrow Connector 7"/>
              <p:cNvCxnSpPr>
                <a:cxnSpLocks noChangeShapeType="1"/>
              </p:cNvCxnSpPr>
              <p:nvPr/>
            </p:nvCxnSpPr>
            <p:spPr bwMode="auto">
              <a:xfrm flipH="1">
                <a:off x="900113" y="3397250"/>
                <a:ext cx="7256" cy="201613"/>
              </a:xfrm>
              <a:prstGeom prst="straightConnector1">
                <a:avLst/>
              </a:prstGeom>
              <a:grpFill/>
              <a:ln w="34925" algn="ctr">
                <a:solidFill>
                  <a:srgbClr val="FF0000"/>
                </a:solidFill>
                <a:round/>
                <a:headEnd type="none" w="sm" len="sm"/>
                <a:tailEnd type="arrow" w="med" len="med"/>
              </a:ln>
            </p:spPr>
          </p:cxnSp>
          <p:cxnSp>
            <p:nvCxnSpPr>
              <p:cNvPr id="44" name="Straight Arrow Connector 13"/>
              <p:cNvCxnSpPr>
                <a:cxnSpLocks noChangeShapeType="1"/>
              </p:cNvCxnSpPr>
              <p:nvPr/>
            </p:nvCxnSpPr>
            <p:spPr bwMode="auto">
              <a:xfrm>
                <a:off x="1994125" y="2237709"/>
                <a:ext cx="1" cy="1160335"/>
              </a:xfrm>
              <a:prstGeom prst="straightConnector1">
                <a:avLst/>
              </a:prstGeom>
              <a:grpFill/>
              <a:ln w="34925" algn="ctr">
                <a:solidFill>
                  <a:srgbClr val="FF0000"/>
                </a:solidFill>
                <a:round/>
                <a:headEnd type="none" w="sm" len="sm"/>
                <a:tailEnd type="arrow" w="med" len="med"/>
              </a:ln>
            </p:spPr>
          </p:cxnSp>
          <p:grpSp>
            <p:nvGrpSpPr>
              <p:cNvPr id="45" name="Gruppo 44"/>
              <p:cNvGrpSpPr/>
              <p:nvPr/>
            </p:nvGrpSpPr>
            <p:grpSpPr>
              <a:xfrm>
                <a:off x="740001" y="1832355"/>
                <a:ext cx="7580312" cy="2116551"/>
                <a:chOff x="725488" y="1804574"/>
                <a:chExt cx="7580312" cy="2116551"/>
              </a:xfrm>
              <a:grpFill/>
            </p:grpSpPr>
            <p:cxnSp>
              <p:nvCxnSpPr>
                <p:cNvPr id="46" name="Straight Arrow Connector 11"/>
                <p:cNvCxnSpPr>
                  <a:cxnSpLocks noChangeShapeType="1"/>
                </p:cNvCxnSpPr>
                <p:nvPr/>
              </p:nvCxnSpPr>
              <p:spPr bwMode="auto">
                <a:xfrm flipV="1">
                  <a:off x="1037318" y="2163952"/>
                  <a:ext cx="817031" cy="1370013"/>
                </a:xfrm>
                <a:prstGeom prst="straightConnector1">
                  <a:avLst/>
                </a:prstGeom>
                <a:grpFill/>
                <a:ln w="34925" algn="ctr">
                  <a:solidFill>
                    <a:srgbClr val="FF0000"/>
                  </a:solidFill>
                  <a:round/>
                  <a:headEnd type="none" w="sm" len="sm"/>
                  <a:tailEnd type="arrow" w="med" len="med"/>
                </a:ln>
              </p:spPr>
            </p:cxnSp>
            <p:grpSp>
              <p:nvGrpSpPr>
                <p:cNvPr id="47" name="Gruppo 46"/>
                <p:cNvGrpSpPr/>
                <p:nvPr/>
              </p:nvGrpSpPr>
              <p:grpSpPr>
                <a:xfrm>
                  <a:off x="725488" y="1804574"/>
                  <a:ext cx="7580312" cy="2116551"/>
                  <a:chOff x="725488" y="1804574"/>
                  <a:chExt cx="7580312" cy="2116551"/>
                </a:xfrm>
                <a:grpFill/>
              </p:grpSpPr>
              <p:cxnSp>
                <p:nvCxnSpPr>
                  <p:cNvPr id="48" name="Straight Arrow Connector 4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885600" y="1989138"/>
                    <a:ext cx="14513" cy="864393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49" name="Straight Arrow Connector 21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2232780" y="3255169"/>
                    <a:ext cx="503153" cy="205934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50" name="Straight Arrow Connector 23"/>
                  <p:cNvCxnSpPr>
                    <a:cxnSpLocks noChangeShapeType="1"/>
                    <a:endCxn id="64" idx="2"/>
                  </p:cNvCxnSpPr>
                  <p:nvPr/>
                </p:nvCxnSpPr>
                <p:spPr bwMode="auto">
                  <a:xfrm>
                    <a:off x="3303468" y="3096187"/>
                    <a:ext cx="419375" cy="15039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51" name="Straight Arrow Connector 25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156634" y="2724570"/>
                    <a:ext cx="676195" cy="304666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52" name="Straight Arrow Connector 27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5003800" y="2810669"/>
                    <a:ext cx="15188" cy="788194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53" name="Straight Arrow Connector 30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003800" y="2698424"/>
                    <a:ext cx="913323" cy="875040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54" name="Straight Arrow Connector 15360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5148263" y="2817019"/>
                    <a:ext cx="831631" cy="781844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55" name="Straight Arrow Connector 15372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5281192" y="2737128"/>
                    <a:ext cx="827977" cy="897908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56" name="Straight Arrow Connector 1537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106444" y="2556048"/>
                    <a:ext cx="0" cy="503238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cxnSp>
                <p:nvCxnSpPr>
                  <p:cNvPr id="57" name="Straight Arrow Connector 15378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7235825" y="2724570"/>
                    <a:ext cx="719039" cy="420492"/>
                  </a:xfrm>
                  <a:prstGeom prst="straightConnector1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sp>
                <p:nvSpPr>
                  <p:cNvPr id="58" name="Oval 15391"/>
                  <p:cNvSpPr>
                    <a:spLocks noChangeArrowheads="1"/>
                  </p:cNvSpPr>
                  <p:nvPr/>
                </p:nvSpPr>
                <p:spPr bwMode="auto">
                  <a:xfrm rot="-297797">
                    <a:off x="725488" y="1849438"/>
                    <a:ext cx="347662" cy="300037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59" name="Oval 64"/>
                  <p:cNvSpPr>
                    <a:spLocks noChangeArrowheads="1"/>
                  </p:cNvSpPr>
                  <p:nvPr/>
                </p:nvSpPr>
                <p:spPr bwMode="auto">
                  <a:xfrm rot="21302203">
                    <a:off x="741948" y="2971249"/>
                    <a:ext cx="347663" cy="300038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0" name="Oval 65"/>
                  <p:cNvSpPr>
                    <a:spLocks noChangeArrowheads="1"/>
                  </p:cNvSpPr>
                  <p:nvPr/>
                </p:nvSpPr>
                <p:spPr bwMode="auto">
                  <a:xfrm rot="-297797">
                    <a:off x="725488" y="3582988"/>
                    <a:ext cx="347662" cy="300037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1" name="Oval 66"/>
                  <p:cNvSpPr>
                    <a:spLocks noChangeArrowheads="1"/>
                  </p:cNvSpPr>
                  <p:nvPr/>
                </p:nvSpPr>
                <p:spPr bwMode="auto">
                  <a:xfrm rot="21302203">
                    <a:off x="1805781" y="1804574"/>
                    <a:ext cx="347662" cy="300038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2" name="Oval 67"/>
                  <p:cNvSpPr>
                    <a:spLocks noChangeArrowheads="1"/>
                  </p:cNvSpPr>
                  <p:nvPr/>
                </p:nvSpPr>
                <p:spPr bwMode="auto">
                  <a:xfrm rot="-297797">
                    <a:off x="1792288" y="3440113"/>
                    <a:ext cx="347662" cy="317500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3" name="Oval 68"/>
                  <p:cNvSpPr>
                    <a:spLocks noChangeArrowheads="1"/>
                  </p:cNvSpPr>
                  <p:nvPr/>
                </p:nvSpPr>
                <p:spPr bwMode="auto">
                  <a:xfrm rot="21302203">
                    <a:off x="2814638" y="2990850"/>
                    <a:ext cx="347662" cy="300038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4" name="Oval 69"/>
                  <p:cNvSpPr>
                    <a:spLocks noChangeArrowheads="1"/>
                  </p:cNvSpPr>
                  <p:nvPr/>
                </p:nvSpPr>
                <p:spPr bwMode="auto">
                  <a:xfrm rot="21302203">
                    <a:off x="3722191" y="2946168"/>
                    <a:ext cx="347662" cy="300038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5" name="Oval 70"/>
                  <p:cNvSpPr>
                    <a:spLocks noChangeArrowheads="1"/>
                  </p:cNvSpPr>
                  <p:nvPr/>
                </p:nvSpPr>
                <p:spPr bwMode="auto">
                  <a:xfrm rot="21302203">
                    <a:off x="4845157" y="2426683"/>
                    <a:ext cx="347662" cy="300038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6" name="Oval 71"/>
                  <p:cNvSpPr>
                    <a:spLocks noChangeArrowheads="1"/>
                  </p:cNvSpPr>
                  <p:nvPr/>
                </p:nvSpPr>
                <p:spPr bwMode="auto">
                  <a:xfrm rot="-297797">
                    <a:off x="4838700" y="3621088"/>
                    <a:ext cx="347663" cy="300037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7" name="Oval 72"/>
                  <p:cNvSpPr>
                    <a:spLocks noChangeArrowheads="1"/>
                  </p:cNvSpPr>
                  <p:nvPr/>
                </p:nvSpPr>
                <p:spPr bwMode="auto">
                  <a:xfrm rot="21302203">
                    <a:off x="5888885" y="2395726"/>
                    <a:ext cx="347663" cy="300037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8" name="Oval 73"/>
                  <p:cNvSpPr>
                    <a:spLocks noChangeArrowheads="1"/>
                  </p:cNvSpPr>
                  <p:nvPr/>
                </p:nvSpPr>
                <p:spPr bwMode="auto">
                  <a:xfrm rot="-297797">
                    <a:off x="6932613" y="2389188"/>
                    <a:ext cx="347662" cy="300037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69" name="Oval 74"/>
                  <p:cNvSpPr>
                    <a:spLocks noChangeArrowheads="1"/>
                  </p:cNvSpPr>
                  <p:nvPr/>
                </p:nvSpPr>
                <p:spPr bwMode="auto">
                  <a:xfrm rot="21302203">
                    <a:off x="6923465" y="3105150"/>
                    <a:ext cx="347662" cy="300038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  <p:sp>
                <p:nvSpPr>
                  <p:cNvPr id="70" name="Oval 75"/>
                  <p:cNvSpPr>
                    <a:spLocks noChangeArrowheads="1"/>
                  </p:cNvSpPr>
                  <p:nvPr/>
                </p:nvSpPr>
                <p:spPr bwMode="auto">
                  <a:xfrm rot="-297797">
                    <a:off x="7958138" y="2468563"/>
                    <a:ext cx="347662" cy="254000"/>
                  </a:xfrm>
                  <a:prstGeom prst="ellipse">
                    <a:avLst/>
                  </a:prstGeom>
                  <a:grpFill/>
                  <a:ln w="34925" algn="ctr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is-IS" altLang="is-IS"/>
                  </a:p>
                </p:txBody>
              </p:sp>
            </p:grpSp>
          </p:grpSp>
        </p:grpSp>
      </p:grpSp>
      <p:sp>
        <p:nvSpPr>
          <p:cNvPr id="73" name="Title 1"/>
          <p:cNvSpPr txBox="1">
            <a:spLocks/>
          </p:cNvSpPr>
          <p:nvPr/>
        </p:nvSpPr>
        <p:spPr>
          <a:xfrm>
            <a:off x="1703513" y="0"/>
            <a:ext cx="872819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75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91477" y="476672"/>
            <a:ext cx="10681187" cy="720080"/>
          </a:xfrm>
        </p:spPr>
        <p:txBody>
          <a:bodyPr/>
          <a:lstStyle/>
          <a:p>
            <a:r>
              <a:rPr lang="en-GB" sz="3200" dirty="0"/>
              <a:t>Why statistical offices (we) need a business process model ?    </a:t>
            </a:r>
            <a:r>
              <a:rPr lang="en-GB" sz="2400" dirty="0"/>
              <a:t>1/2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393155" cy="50405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altLang="is-IS" sz="2400" dirty="0"/>
              <a:t>To </a:t>
            </a:r>
            <a:r>
              <a:rPr lang="is-IS" altLang="is-IS" sz="2400" dirty="0"/>
              <a:t>develop a structured approach for </a:t>
            </a:r>
            <a:r>
              <a:rPr lang="en-GB" altLang="is-IS" sz="2400" dirty="0">
                <a:solidFill>
                  <a:srgbClr val="154F98"/>
                </a:solidFill>
              </a:rPr>
              <a:t>organisation of the statistical production processes</a:t>
            </a:r>
            <a:r>
              <a:rPr lang="en-GB" altLang="is-IS" sz="2400" dirty="0">
                <a:solidFill>
                  <a:srgbClr val="C00000"/>
                </a:solidFill>
              </a:rPr>
              <a:t> </a:t>
            </a:r>
            <a:r>
              <a:rPr lang="en-GB" altLang="is-IS" sz="2400" dirty="0"/>
              <a:t>in a logical manner from beginning to end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altLang="is-IS" sz="2400" dirty="0"/>
              <a:t>To help us think about the statistical production as a coherent process made of a </a:t>
            </a:r>
            <a:r>
              <a:rPr lang="en-GB" altLang="is-IS" sz="2400" dirty="0">
                <a:solidFill>
                  <a:srgbClr val="154F98"/>
                </a:solidFill>
              </a:rPr>
              <a:t>sequence of activities and steps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altLang="is-IS" sz="2400" dirty="0"/>
              <a:t>To ensure that we think through the whole statistical production in a </a:t>
            </a:r>
            <a:r>
              <a:rPr lang="en-GB" altLang="is-IS" sz="2400" dirty="0">
                <a:solidFill>
                  <a:srgbClr val="154F98"/>
                </a:solidFill>
              </a:rPr>
              <a:t>disciplined manner, 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GB" altLang="is-IS" sz="2400" dirty="0"/>
              <a:t>It encourages to </a:t>
            </a:r>
            <a:r>
              <a:rPr lang="en-GB" altLang="is-IS" sz="2400" dirty="0">
                <a:solidFill>
                  <a:srgbClr val="154F98"/>
                </a:solidFill>
              </a:rPr>
              <a:t>better organize our work </a:t>
            </a:r>
            <a:r>
              <a:rPr lang="en-GB" altLang="is-IS" sz="2400" dirty="0"/>
              <a:t>…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altLang="is-IS" sz="2400" dirty="0"/>
              <a:t>			      … does not allow messy work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GB" altLang="is-IS" sz="2400" dirty="0"/>
              <a:t>It ensures we </a:t>
            </a:r>
            <a:r>
              <a:rPr lang="en-GB" altLang="is-IS" sz="2400" dirty="0">
                <a:solidFill>
                  <a:srgbClr val="154F98"/>
                </a:solidFill>
              </a:rPr>
              <a:t>do not forget / skip </a:t>
            </a:r>
            <a:r>
              <a:rPr lang="en-GB" altLang="is-IS" sz="2400" dirty="0"/>
              <a:t>anything</a:t>
            </a:r>
          </a:p>
        </p:txBody>
      </p:sp>
    </p:spTree>
    <p:extLst>
      <p:ext uri="{BB962C8B-B14F-4D97-AF65-F5344CB8AC3E}">
        <p14:creationId xmlns:p14="http://schemas.microsoft.com/office/powerpoint/2010/main" val="30166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268760"/>
            <a:ext cx="10465163" cy="4968552"/>
          </a:xfrm>
        </p:spPr>
        <p:txBody>
          <a:bodyPr>
            <a:normAutofit/>
          </a:bodyPr>
          <a:lstStyle/>
          <a:p>
            <a:pPr lvl="1">
              <a:spcBef>
                <a:spcPts val="1200"/>
              </a:spcBef>
            </a:pPr>
            <a:r>
              <a:rPr lang="en-GB" altLang="is-IS" sz="2400" dirty="0"/>
              <a:t>Use of the same </a:t>
            </a:r>
            <a:r>
              <a:rPr lang="en-GB" altLang="is-IS" sz="2400" dirty="0">
                <a:solidFill>
                  <a:srgbClr val="154F98"/>
                </a:solidFill>
              </a:rPr>
              <a:t>standardized processes </a:t>
            </a:r>
            <a:r>
              <a:rPr lang="en-GB" altLang="is-IS" sz="2400" dirty="0"/>
              <a:t>in different subjects areas </a:t>
            </a:r>
            <a:r>
              <a:rPr lang="en-GB" altLang="is-IS" sz="2400" i="1" dirty="0"/>
              <a:t>(e.g. data capturing, weighting, coding, tables for dissemination, etc.)</a:t>
            </a:r>
          </a:p>
          <a:p>
            <a:pPr lvl="1">
              <a:spcBef>
                <a:spcPts val="1200"/>
              </a:spcBef>
            </a:pPr>
            <a:r>
              <a:rPr lang="en-GB" altLang="is-IS" sz="2400" dirty="0">
                <a:solidFill>
                  <a:srgbClr val="154F98"/>
                </a:solidFill>
              </a:rPr>
              <a:t>Defining, describing and mapping </a:t>
            </a:r>
            <a:r>
              <a:rPr lang="en-GB" altLang="is-IS" sz="2400" dirty="0"/>
              <a:t>processes in a coherent way</a:t>
            </a:r>
          </a:p>
          <a:p>
            <a:pPr>
              <a:spcBef>
                <a:spcPts val="1800"/>
              </a:spcBef>
            </a:pPr>
            <a:r>
              <a:rPr lang="en-GB" altLang="is-IS" sz="2600" dirty="0"/>
              <a:t>and, most important, it contributes</a:t>
            </a:r>
          </a:p>
          <a:p>
            <a:pPr lvl="1">
              <a:spcBef>
                <a:spcPts val="1200"/>
              </a:spcBef>
            </a:pPr>
            <a:r>
              <a:rPr lang="en-GB" altLang="is-IS" sz="2400" dirty="0"/>
              <a:t>to </a:t>
            </a:r>
            <a:r>
              <a:rPr lang="en-GB" altLang="is-IS" sz="2400" dirty="0">
                <a:solidFill>
                  <a:srgbClr val="154F98"/>
                </a:solidFill>
              </a:rPr>
              <a:t>enhance overall efficiency</a:t>
            </a:r>
          </a:p>
          <a:p>
            <a:pPr lvl="1">
              <a:spcBef>
                <a:spcPts val="1200"/>
              </a:spcBef>
            </a:pPr>
            <a:r>
              <a:rPr lang="en-GB" altLang="is-IS" sz="2400" dirty="0"/>
              <a:t>to </a:t>
            </a:r>
            <a:r>
              <a:rPr lang="en-GB" altLang="is-IS" sz="2400" dirty="0">
                <a:solidFill>
                  <a:srgbClr val="154F98"/>
                </a:solidFill>
              </a:rPr>
              <a:t>enhance overall quality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91477" y="476672"/>
            <a:ext cx="10681187" cy="720080"/>
          </a:xfrm>
        </p:spPr>
        <p:txBody>
          <a:bodyPr/>
          <a:lstStyle/>
          <a:p>
            <a:r>
              <a:rPr lang="en-GB" sz="3200" dirty="0"/>
              <a:t>Why statistical offices (we) need a business process model ?    </a:t>
            </a:r>
            <a:r>
              <a:rPr lang="en-GB" sz="2400" dirty="0"/>
              <a:t>2/2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0755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implementation of GSBPM: where to start from</a:t>
            </a:r>
            <a:br>
              <a:rPr lang="en-US" dirty="0"/>
            </a:br>
            <a:endParaRPr lang="it-IT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GB" altLang="is-IS" sz="2200" dirty="0"/>
              <a:t>Initially, it is not necessary that the model is adopted for all subjects, all surveys and all processes.</a:t>
            </a:r>
          </a:p>
          <a:p>
            <a:pPr>
              <a:spcBef>
                <a:spcPts val="600"/>
              </a:spcBef>
            </a:pPr>
            <a:r>
              <a:rPr lang="en-GB" altLang="is-IS" sz="2200" dirty="0"/>
              <a:t>Best </a:t>
            </a:r>
            <a:r>
              <a:rPr lang="en-GB" altLang="is-IS" sz="2200" dirty="0">
                <a:solidFill>
                  <a:srgbClr val="154F98"/>
                </a:solidFill>
              </a:rPr>
              <a:t>to apply a gradual approach, </a:t>
            </a:r>
          </a:p>
          <a:p>
            <a:pPr lvl="1"/>
            <a:r>
              <a:rPr lang="en-GB" altLang="is-IS" sz="2000" dirty="0"/>
              <a:t>select some specific tasks, </a:t>
            </a:r>
          </a:p>
          <a:p>
            <a:pPr lvl="1"/>
            <a:r>
              <a:rPr lang="en-GB" altLang="is-IS" sz="2000" dirty="0"/>
              <a:t>select existing surveys / data collections / processes that need an overhaul and renewal, </a:t>
            </a:r>
          </a:p>
          <a:p>
            <a:pPr lvl="1"/>
            <a:r>
              <a:rPr lang="en-GB" altLang="is-IS" sz="2000" dirty="0"/>
              <a:t>or, start by applying the model only for new surveys </a:t>
            </a:r>
          </a:p>
          <a:p>
            <a:pPr>
              <a:spcBef>
                <a:spcPts val="600"/>
              </a:spcBef>
            </a:pPr>
            <a:r>
              <a:rPr lang="en-GB" altLang="is-IS" sz="2200" dirty="0"/>
              <a:t>The </a:t>
            </a:r>
            <a:r>
              <a:rPr lang="en-GB" altLang="is-IS" sz="2200" dirty="0">
                <a:solidFill>
                  <a:srgbClr val="154F98"/>
                </a:solidFill>
              </a:rPr>
              <a:t>model is flexible </a:t>
            </a:r>
            <a:r>
              <a:rPr lang="en-GB" altLang="is-IS" sz="2200" dirty="0"/>
              <a:t>– we can decide where to start, what to skip and what need more focus</a:t>
            </a:r>
            <a:endParaRPr lang="en-GB" altLang="is-IS" sz="2200" dirty="0">
              <a:solidFill>
                <a:srgbClr val="C0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CH" altLang="is-IS" dirty="0">
                <a:solidFill>
                  <a:srgbClr val="154F98"/>
                </a:solidFill>
              </a:rPr>
              <a:t>but</a:t>
            </a:r>
            <a:endParaRPr lang="en-GB" altLang="is-IS" dirty="0">
              <a:solidFill>
                <a:srgbClr val="154F98"/>
              </a:solidFill>
            </a:endParaRPr>
          </a:p>
          <a:p>
            <a:pPr>
              <a:spcBef>
                <a:spcPts val="600"/>
              </a:spcBef>
            </a:pPr>
            <a:r>
              <a:rPr lang="en-GB" altLang="is-IS" sz="2200" dirty="0"/>
              <a:t>Set precise rules for </a:t>
            </a:r>
            <a:r>
              <a:rPr lang="en-GB" altLang="is-IS" sz="2200" dirty="0">
                <a:solidFill>
                  <a:srgbClr val="154F98"/>
                </a:solidFill>
              </a:rPr>
              <a:t>D</a:t>
            </a:r>
            <a:r>
              <a:rPr lang="en-GB" sz="2200" dirty="0">
                <a:solidFill>
                  <a:srgbClr val="154F98"/>
                </a:solidFill>
              </a:rPr>
              <a:t>ata Management</a:t>
            </a:r>
            <a:endParaRPr lang="en-GB" altLang="is-IS" sz="2200" dirty="0">
              <a:solidFill>
                <a:srgbClr val="154F98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2200" dirty="0"/>
              <a:t>Prepare detailed </a:t>
            </a:r>
            <a:r>
              <a:rPr lang="en-GB" sz="2200" dirty="0">
                <a:solidFill>
                  <a:srgbClr val="154F98"/>
                </a:solidFill>
              </a:rPr>
              <a:t>Metadata, </a:t>
            </a:r>
            <a:r>
              <a:rPr lang="en-GB" sz="2200" dirty="0"/>
              <a:t>they</a:t>
            </a:r>
            <a:r>
              <a:rPr lang="en-GB" sz="2200" dirty="0">
                <a:solidFill>
                  <a:srgbClr val="C00000"/>
                </a:solidFill>
              </a:rPr>
              <a:t> </a:t>
            </a:r>
            <a:r>
              <a:rPr lang="en-GB" sz="2200" dirty="0"/>
              <a:t>are crucial </a:t>
            </a:r>
            <a:r>
              <a:rPr lang="fr-CH" sz="2200" dirty="0" err="1"/>
              <a:t>because</a:t>
            </a:r>
            <a:r>
              <a:rPr lang="en-US" sz="2200" dirty="0"/>
              <a:t> describe data and drive processes and actions</a:t>
            </a:r>
            <a:endParaRPr lang="en-GB" altLang="is-IS" sz="22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682056" y="0"/>
            <a:ext cx="8590409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32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52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GSBPM </a:t>
            </a:r>
            <a:r>
              <a:rPr lang="it-IT" dirty="0" err="1"/>
              <a:t>cornerstone</a:t>
            </a:r>
            <a:r>
              <a:rPr lang="it-IT" dirty="0"/>
              <a:t> for </a:t>
            </a:r>
            <a:r>
              <a:rPr lang="it-IT" dirty="0" err="1"/>
              <a:t>modernisation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504056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is-IS" sz="2200" dirty="0"/>
              <a:t>The GSBPM </a:t>
            </a:r>
            <a:r>
              <a:rPr lang="en-US" altLang="is-IS" sz="2200" dirty="0">
                <a:solidFill>
                  <a:srgbClr val="154F98"/>
                </a:solidFill>
              </a:rPr>
              <a:t>facilitates and encourages standardization </a:t>
            </a:r>
            <a:r>
              <a:rPr lang="en-US" altLang="is-IS" sz="2200" dirty="0"/>
              <a:t>of processes, methods, procedures, applications, templates, tools, questionnaires etc.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altLang="is-IS" sz="2000" dirty="0"/>
              <a:t>Use of the same </a:t>
            </a:r>
            <a:r>
              <a:rPr lang="en-GB" altLang="is-IS" sz="2000" dirty="0">
                <a:solidFill>
                  <a:srgbClr val="154F98"/>
                </a:solidFill>
              </a:rPr>
              <a:t>standardized processes </a:t>
            </a:r>
            <a:r>
              <a:rPr lang="en-GB" altLang="is-IS" sz="2000" dirty="0"/>
              <a:t>in different subjects areas </a:t>
            </a:r>
            <a:r>
              <a:rPr lang="en-GB" altLang="is-IS" sz="2000" i="1" dirty="0"/>
              <a:t>(e.g. data capturing, weighting, coding, tables for dissemination, etc.)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altLang="is-IS" sz="2000" dirty="0"/>
              <a:t>Defining, describing and mapping processes in a coherent way</a:t>
            </a:r>
            <a:endParaRPr lang="en-US" altLang="is-IS" sz="2000" dirty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Clearly </a:t>
            </a:r>
            <a:r>
              <a:rPr lang="en-US" sz="2000" dirty="0">
                <a:solidFill>
                  <a:srgbClr val="154F98"/>
                </a:solidFill>
              </a:rPr>
              <a:t>defining the boundaries between sub-process </a:t>
            </a:r>
            <a:r>
              <a:rPr lang="en-US" sz="2000" dirty="0"/>
              <a:t>and the </a:t>
            </a:r>
            <a:r>
              <a:rPr lang="en-US" sz="2000" dirty="0">
                <a:solidFill>
                  <a:srgbClr val="154F98"/>
                </a:solidFill>
              </a:rPr>
              <a:t>inputs and outputs </a:t>
            </a:r>
            <a:r>
              <a:rPr lang="en-US" sz="2000" dirty="0"/>
              <a:t>of each of them </a:t>
            </a:r>
            <a:endParaRPr lang="en-US" altLang="is-IS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is-IS" sz="2200" dirty="0"/>
              <a:t>The </a:t>
            </a:r>
            <a:r>
              <a:rPr lang="en-US" altLang="is-IS" sz="2200" dirty="0">
                <a:solidFill>
                  <a:srgbClr val="154F98"/>
                </a:solidFill>
              </a:rPr>
              <a:t>use of standardized instruments </a:t>
            </a:r>
            <a:r>
              <a:rPr lang="en-US" altLang="is-IS" sz="2200" dirty="0"/>
              <a:t>across the institution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is-IS" sz="2000" dirty="0">
                <a:solidFill>
                  <a:srgbClr val="154F98"/>
                </a:solidFill>
              </a:rPr>
              <a:t>reduces risks, costs and time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is-IS" sz="2000" dirty="0"/>
              <a:t>facilitates </a:t>
            </a:r>
            <a:r>
              <a:rPr lang="en-US" altLang="is-IS" sz="2000" dirty="0">
                <a:solidFill>
                  <a:srgbClr val="154F98"/>
                </a:solidFill>
              </a:rPr>
              <a:t>more uniform training </a:t>
            </a:r>
            <a:r>
              <a:rPr lang="en-US" altLang="is-IS" sz="2000" dirty="0"/>
              <a:t>within the organization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is-IS" sz="2000" dirty="0"/>
              <a:t>allows for </a:t>
            </a:r>
            <a:r>
              <a:rPr lang="en-US" altLang="is-IS" sz="2000" dirty="0">
                <a:solidFill>
                  <a:srgbClr val="154F98"/>
                </a:solidFill>
              </a:rPr>
              <a:t>increased mobility </a:t>
            </a:r>
            <a:r>
              <a:rPr lang="en-US" altLang="is-IS" sz="2000" dirty="0"/>
              <a:t>within the institution across sectors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altLang="is-IS" sz="2000" dirty="0"/>
              <a:t> </a:t>
            </a:r>
            <a:r>
              <a:rPr lang="en-GB" altLang="is-IS" sz="2000" dirty="0">
                <a:solidFill>
                  <a:srgbClr val="154F98"/>
                </a:solidFill>
              </a:rPr>
              <a:t>enhance overall quality </a:t>
            </a:r>
            <a:r>
              <a:rPr lang="en-GB" altLang="is-IS" sz="2000" dirty="0"/>
              <a:t>and </a:t>
            </a:r>
            <a:r>
              <a:rPr lang="en-GB" altLang="is-IS" sz="2000" dirty="0">
                <a:solidFill>
                  <a:srgbClr val="154F98"/>
                </a:solidFill>
              </a:rPr>
              <a:t>efficiency </a:t>
            </a:r>
            <a:endParaRPr lang="en-US" altLang="is-IS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775521" y="0"/>
            <a:ext cx="8712967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sz="20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12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15480" y="1700808"/>
            <a:ext cx="9385043" cy="3744416"/>
          </a:xfrm>
        </p:spPr>
        <p:txBody>
          <a:bodyPr/>
          <a:lstStyle/>
          <a:p>
            <a:pPr algn="ctr"/>
            <a:r>
              <a:rPr lang="en-GB" dirty="0"/>
              <a:t>Part 2: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chemeClr val="accent6"/>
                </a:solidFill>
              </a:rPr>
              <a:t>Getting the production phases organized </a:t>
            </a:r>
            <a:br>
              <a:rPr lang="en-GB" dirty="0">
                <a:solidFill>
                  <a:schemeClr val="accent6"/>
                </a:solidFill>
              </a:rPr>
            </a:br>
            <a:r>
              <a:rPr lang="en-GB" dirty="0">
                <a:solidFill>
                  <a:schemeClr val="accent6"/>
                </a:solidFill>
              </a:rPr>
              <a:t>according  to the GSBPM</a:t>
            </a:r>
            <a:br>
              <a:rPr lang="en-GB" dirty="0">
                <a:solidFill>
                  <a:schemeClr val="accent6"/>
                </a:solidFill>
              </a:rPr>
            </a:br>
            <a:r>
              <a:rPr lang="en-GB" dirty="0">
                <a:solidFill>
                  <a:schemeClr val="accent6"/>
                </a:solidFill>
              </a:rPr>
              <a:t>(</a:t>
            </a:r>
            <a:r>
              <a:rPr lang="en-GB" dirty="0"/>
              <a:t>for a labour force survey </a:t>
            </a:r>
            <a:br>
              <a:rPr lang="en-GB" dirty="0"/>
            </a:br>
            <a:r>
              <a:rPr lang="en-GB" dirty="0"/>
              <a:t>with regular survey rounds) </a:t>
            </a:r>
            <a:br>
              <a:rPr lang="it-IT" dirty="0"/>
            </a:br>
            <a:br>
              <a:rPr lang="en-US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4997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phase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1487488" y="1340768"/>
            <a:ext cx="4752528" cy="4536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The </a:t>
            </a:r>
            <a:r>
              <a:rPr lang="en-GB" sz="2600" dirty="0">
                <a:solidFill>
                  <a:srgbClr val="154F98"/>
                </a:solidFill>
              </a:rPr>
              <a:t>production phase </a:t>
            </a:r>
            <a:r>
              <a:rPr lang="en-GB" sz="2600" dirty="0"/>
              <a:t>revolves around</a:t>
            </a:r>
            <a:r>
              <a:rPr lang="en-GB" sz="2600" dirty="0">
                <a:solidFill>
                  <a:srgbClr val="002060"/>
                </a:solidFill>
              </a:rPr>
              <a:t> </a:t>
            </a:r>
            <a:r>
              <a:rPr lang="en-GB" sz="2600" dirty="0">
                <a:solidFill>
                  <a:srgbClr val="154F98"/>
                </a:solidFill>
              </a:rPr>
              <a:t>4 phases </a:t>
            </a:r>
            <a:r>
              <a:rPr lang="en-GB" sz="2600" dirty="0"/>
              <a:t>and </a:t>
            </a:r>
            <a:r>
              <a:rPr lang="en-GB" sz="2600" dirty="0">
                <a:solidFill>
                  <a:srgbClr val="154F98"/>
                </a:solidFill>
              </a:rPr>
              <a:t>22 sub-process, </a:t>
            </a:r>
          </a:p>
          <a:p>
            <a:r>
              <a:rPr lang="en-GB" sz="2400" dirty="0"/>
              <a:t>are </a:t>
            </a:r>
            <a:r>
              <a:rPr lang="en-GB" sz="2400" dirty="0">
                <a:solidFill>
                  <a:srgbClr val="154F98"/>
                </a:solidFill>
              </a:rPr>
              <a:t>generally sequential,</a:t>
            </a:r>
          </a:p>
          <a:p>
            <a:r>
              <a:rPr lang="en-GB" sz="2400" dirty="0"/>
              <a:t>can be done  in </a:t>
            </a:r>
            <a:r>
              <a:rPr lang="en-GB" sz="2400" dirty="0">
                <a:solidFill>
                  <a:srgbClr val="154F98"/>
                </a:solidFill>
              </a:rPr>
              <a:t>different orders </a:t>
            </a:r>
            <a:r>
              <a:rPr lang="en-GB" sz="2400" dirty="0"/>
              <a:t>in different circumstances</a:t>
            </a:r>
          </a:p>
          <a:p>
            <a:pPr marL="0" indent="0">
              <a:buNone/>
            </a:pPr>
            <a:r>
              <a:rPr lang="en-GB" sz="2400" dirty="0"/>
              <a:t>They have </a:t>
            </a:r>
            <a:r>
              <a:rPr lang="en-GB" sz="2400" dirty="0">
                <a:solidFill>
                  <a:srgbClr val="154F98"/>
                </a:solidFill>
              </a:rPr>
              <a:t>many inter-dependencies</a:t>
            </a:r>
          </a:p>
          <a:p>
            <a:r>
              <a:rPr lang="en-GB" sz="2400" dirty="0"/>
              <a:t>can also occur in </a:t>
            </a:r>
            <a:r>
              <a:rPr lang="en-GB" sz="2400" dirty="0">
                <a:solidFill>
                  <a:srgbClr val="154F98"/>
                </a:solidFill>
              </a:rPr>
              <a:t>parallel</a:t>
            </a:r>
            <a:r>
              <a:rPr lang="en-GB" sz="2400" dirty="0">
                <a:solidFill>
                  <a:srgbClr val="002060"/>
                </a:solidFill>
              </a:rPr>
              <a:t>, </a:t>
            </a:r>
          </a:p>
          <a:p>
            <a:r>
              <a:rPr lang="en-GB" sz="2400" dirty="0"/>
              <a:t>and can be </a:t>
            </a:r>
            <a:r>
              <a:rPr lang="en-GB" sz="2400" dirty="0">
                <a:solidFill>
                  <a:srgbClr val="154F98"/>
                </a:solidFill>
              </a:rPr>
              <a:t>iterative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631505" y="0"/>
            <a:ext cx="903649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en-GB" altLang="is-IS" sz="3200" b="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0" name="Picture 695" descr="GSBPM-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" t="13456" r="711" b="37521"/>
          <a:stretch/>
        </p:blipFill>
        <p:spPr bwMode="auto">
          <a:xfrm rot="5400000">
            <a:off x="6766338" y="1474797"/>
            <a:ext cx="5138042" cy="475452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ttangolo 10"/>
          <p:cNvSpPr/>
          <p:nvPr/>
        </p:nvSpPr>
        <p:spPr>
          <a:xfrm>
            <a:off x="6958096" y="1268761"/>
            <a:ext cx="4754528" cy="5051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3356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From </a:t>
            </a:r>
            <a:r>
              <a:rPr lang="it-IT" dirty="0" err="1"/>
              <a:t>theory</a:t>
            </a:r>
            <a:r>
              <a:rPr lang="it-IT" dirty="0"/>
              <a:t> to </a:t>
            </a:r>
            <a:r>
              <a:rPr lang="it-IT" dirty="0" err="1"/>
              <a:t>practice</a:t>
            </a:r>
            <a:r>
              <a:rPr lang="it-IT" dirty="0"/>
              <a:t>                                            </a:t>
            </a:r>
            <a:r>
              <a:rPr lang="it-IT" sz="2400" dirty="0"/>
              <a:t>1/3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968552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600" dirty="0"/>
              <a:t>While </a:t>
            </a:r>
            <a:r>
              <a:rPr lang="en-US" sz="2600" dirty="0">
                <a:solidFill>
                  <a:srgbClr val="154F98"/>
                </a:solidFill>
              </a:rPr>
              <a:t>the theoretical framework and the advantages of the GSBPM are very clear </a:t>
            </a:r>
            <a:r>
              <a:rPr lang="en-US" sz="2600" dirty="0">
                <a:solidFill>
                  <a:srgbClr val="C00000"/>
                </a:solidFill>
              </a:rPr>
              <a:t>…</a:t>
            </a:r>
            <a:r>
              <a:rPr lang="en-US" sz="2600" dirty="0"/>
              <a:t>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600" dirty="0"/>
              <a:t> … the way to set up procedures and to store data and metadata on computers or servers might not be always straightforward.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/>
              <a:t>Our aim is to </a:t>
            </a:r>
            <a:r>
              <a:rPr lang="en-US" sz="2400" dirty="0">
                <a:solidFill>
                  <a:srgbClr val="154F98"/>
                </a:solidFill>
              </a:rPr>
              <a:t>carry out the many and diverse activities </a:t>
            </a:r>
            <a:r>
              <a:rPr lang="en-US" sz="2400" dirty="0"/>
              <a:t>of the statistical process in an </a:t>
            </a:r>
            <a:r>
              <a:rPr lang="en-US" sz="2400" dirty="0">
                <a:solidFill>
                  <a:srgbClr val="154F98"/>
                </a:solidFill>
              </a:rPr>
              <a:t>orderly and disciplined manner</a:t>
            </a:r>
            <a:r>
              <a:rPr lang="en-US" sz="2400" dirty="0"/>
              <a:t>, following the GSBPM.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400" dirty="0"/>
              <a:t>Therefore, also the organization of folders/sub-folders, documents, data and procedure/programs could follow the same approach. </a:t>
            </a:r>
          </a:p>
        </p:txBody>
      </p:sp>
    </p:spTree>
    <p:extLst>
      <p:ext uri="{BB962C8B-B14F-4D97-AF65-F5344CB8AC3E}">
        <p14:creationId xmlns:p14="http://schemas.microsoft.com/office/powerpoint/2010/main" val="232806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From </a:t>
            </a:r>
            <a:r>
              <a:rPr lang="it-IT" dirty="0" err="1"/>
              <a:t>theory</a:t>
            </a:r>
            <a:r>
              <a:rPr lang="it-IT" dirty="0"/>
              <a:t> to </a:t>
            </a:r>
            <a:r>
              <a:rPr lang="it-IT" dirty="0" err="1"/>
              <a:t>practice</a:t>
            </a:r>
            <a:r>
              <a:rPr lang="it-IT" dirty="0"/>
              <a:t>                                            </a:t>
            </a:r>
            <a:r>
              <a:rPr lang="it-IT" sz="2400" dirty="0"/>
              <a:t>2/3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96855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One of the </a:t>
            </a:r>
            <a:r>
              <a:rPr lang="en-US" sz="2600" dirty="0">
                <a:solidFill>
                  <a:srgbClr val="154F98"/>
                </a:solidFill>
              </a:rPr>
              <a:t>challenges </a:t>
            </a:r>
            <a:r>
              <a:rPr lang="en-US" sz="2600" dirty="0"/>
              <a:t>for many NSOs is to </a:t>
            </a:r>
            <a:r>
              <a:rPr lang="en-US" sz="2600" dirty="0">
                <a:solidFill>
                  <a:srgbClr val="154F98"/>
                </a:solidFill>
              </a:rPr>
              <a:t>get the different components of a statistical process well organized</a:t>
            </a:r>
            <a:r>
              <a:rPr lang="en-US" sz="2600" dirty="0"/>
              <a:t>, especially when surveys are carried out on </a:t>
            </a:r>
            <a:r>
              <a:rPr lang="en-US" sz="2600" dirty="0">
                <a:solidFill>
                  <a:srgbClr val="154F98"/>
                </a:solidFill>
              </a:rPr>
              <a:t>periodic or regular bases</a:t>
            </a:r>
            <a:r>
              <a:rPr lang="en-US" sz="2600" dirty="0"/>
              <a:t>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There are </a:t>
            </a:r>
            <a:r>
              <a:rPr lang="en-GB" sz="2400" dirty="0">
                <a:solidFill>
                  <a:srgbClr val="154F98"/>
                </a:solidFill>
              </a:rPr>
              <a:t>many possible ways </a:t>
            </a:r>
            <a:r>
              <a:rPr lang="en-GB" sz="2400" dirty="0"/>
              <a:t>to organize data, programs, metadata, documents, indicators, </a:t>
            </a:r>
            <a:r>
              <a:rPr lang="en-GB" sz="2400" dirty="0" err="1"/>
              <a:t>etc</a:t>
            </a:r>
            <a:r>
              <a:rPr lang="en-GB" sz="2400" dirty="0"/>
              <a:t>,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sz="2400" dirty="0">
                <a:solidFill>
                  <a:srgbClr val="154F98"/>
                </a:solidFill>
              </a:rPr>
              <a:t>Some very advanced </a:t>
            </a:r>
            <a:r>
              <a:rPr lang="en-GB" sz="2400" dirty="0"/>
              <a:t>from the IT point of view,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sz="2400" dirty="0">
                <a:solidFill>
                  <a:srgbClr val="154F98"/>
                </a:solidFill>
              </a:rPr>
              <a:t>Others less advanced, but anyway very efficient and effective</a:t>
            </a:r>
            <a:r>
              <a:rPr lang="en-GB" sz="2400" dirty="0"/>
              <a:t>, especially for countries with few resources and that cannot invest in more advanced IT systems 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71088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simple</a:t>
            </a:r>
            <a:r>
              <a:rPr lang="it-IT" dirty="0"/>
              <a:t> way to </a:t>
            </a:r>
            <a:r>
              <a:rPr lang="it-IT" dirty="0" err="1"/>
              <a:t>get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components</a:t>
            </a:r>
            <a:r>
              <a:rPr lang="it-IT" dirty="0"/>
              <a:t> </a:t>
            </a:r>
            <a:r>
              <a:rPr lang="it-IT" dirty="0" err="1"/>
              <a:t>organized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321147" cy="496855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The solution presented below is only </a:t>
            </a:r>
            <a:r>
              <a:rPr lang="en-GB" sz="2400" dirty="0">
                <a:solidFill>
                  <a:srgbClr val="154F98"/>
                </a:solidFill>
              </a:rPr>
              <a:t>one of the many possible ways </a:t>
            </a:r>
            <a:r>
              <a:rPr lang="en-GB" sz="2400" dirty="0"/>
              <a:t>to organize the different components. It takes into account: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The main objective – and the related advantages - of </a:t>
            </a:r>
            <a:r>
              <a:rPr lang="en-GB" sz="2200" dirty="0">
                <a:solidFill>
                  <a:srgbClr val="154F98"/>
                </a:solidFill>
              </a:rPr>
              <a:t>re-using most of the standardised procedures</a:t>
            </a:r>
            <a:r>
              <a:rPr lang="en-GB" sz="2200" dirty="0"/>
              <a:t> – with minor changes – in different survey rounds.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Examples presented are based on a quarterly LFS. They can be easily adapted to surveys conducted on continuous, monthly, seasonal, and annual bases. </a:t>
            </a:r>
            <a:endParaRPr lang="it-IT" sz="18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The </a:t>
            </a:r>
            <a:r>
              <a:rPr lang="en-GB" sz="2200" dirty="0">
                <a:solidFill>
                  <a:srgbClr val="154F98"/>
                </a:solidFill>
              </a:rPr>
              <a:t>programs and procedures </a:t>
            </a:r>
            <a:r>
              <a:rPr lang="en-GB" sz="2200" dirty="0"/>
              <a:t>for each of the sub-processes can generally be run using </a:t>
            </a:r>
            <a:r>
              <a:rPr lang="en-GB" sz="2200" dirty="0">
                <a:solidFill>
                  <a:srgbClr val="154F98"/>
                </a:solidFill>
              </a:rPr>
              <a:t>any statistical software already available within the NSO </a:t>
            </a:r>
            <a:r>
              <a:rPr lang="en-GB" sz="2200" dirty="0"/>
              <a:t>(e.g. SPSS, STATA, SAS, R, etc.).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solidFill>
                  <a:srgbClr val="154F98"/>
                </a:solidFill>
              </a:rPr>
              <a:t>Different software can be used for different tasks</a:t>
            </a:r>
            <a:r>
              <a:rPr lang="en-GB" sz="1800" dirty="0"/>
              <a:t>, which increases flexibility of the entire statistical business process.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solidFill>
                  <a:srgbClr val="154F98"/>
                </a:solidFill>
              </a:rPr>
              <a:t>To begin</a:t>
            </a:r>
            <a:r>
              <a:rPr lang="en-GB" sz="1800" dirty="0"/>
              <a:t>, perhaps we do not need to invest in software, but only </a:t>
            </a:r>
            <a:r>
              <a:rPr lang="en-GB" sz="1800" dirty="0">
                <a:solidFill>
                  <a:srgbClr val="154F98"/>
                </a:solidFill>
              </a:rPr>
              <a:t>put an order </a:t>
            </a:r>
            <a:r>
              <a:rPr lang="en-GB" sz="1800" dirty="0"/>
              <a:t>in the various procedures/programs/data/metadata/outputs that are used for each survey round</a:t>
            </a: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192804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a common server, computer or a shared disk  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321147" cy="496855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One of the first general suggestions is that all the </a:t>
            </a:r>
            <a:r>
              <a:rPr lang="en-US" sz="2200" dirty="0">
                <a:solidFill>
                  <a:srgbClr val="154F98"/>
                </a:solidFill>
              </a:rPr>
              <a:t>procedures/ programs/ data/ metadata/ and outputs should be all placed on a shared server/computer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With regular </a:t>
            </a:r>
            <a:r>
              <a:rPr lang="en-US" sz="2000" dirty="0">
                <a:solidFill>
                  <a:srgbClr val="154F98"/>
                </a:solidFill>
              </a:rPr>
              <a:t>backups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That can be </a:t>
            </a:r>
            <a:r>
              <a:rPr lang="en-US" sz="2000" dirty="0">
                <a:solidFill>
                  <a:srgbClr val="154F98"/>
                </a:solidFill>
              </a:rPr>
              <a:t>accessed remotely </a:t>
            </a:r>
            <a:r>
              <a:rPr lang="en-US" sz="2000" dirty="0"/>
              <a:t>by all the staff members who are in charge of the different tasks</a:t>
            </a:r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A </a:t>
            </a:r>
            <a:r>
              <a:rPr lang="en-GB" sz="2200" dirty="0">
                <a:solidFill>
                  <a:srgbClr val="154F98"/>
                </a:solidFill>
              </a:rPr>
              <a:t>gradual approach </a:t>
            </a:r>
            <a:r>
              <a:rPr lang="en-GB" sz="2200" dirty="0"/>
              <a:t>is possible,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Starting with </a:t>
            </a:r>
            <a:r>
              <a:rPr lang="en-GB" sz="2000" dirty="0">
                <a:solidFill>
                  <a:srgbClr val="154F98"/>
                </a:solidFill>
              </a:rPr>
              <a:t>the resources already available </a:t>
            </a:r>
            <a:r>
              <a:rPr lang="en-GB" sz="2000" dirty="0"/>
              <a:t>in the office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000" dirty="0"/>
              <a:t>Planning to move to a better solution in the medium term. </a:t>
            </a:r>
          </a:p>
          <a:p>
            <a:pPr marL="1200150" lvl="3" indent="-342900">
              <a:spcBef>
                <a:spcPts val="600"/>
              </a:spcBef>
              <a:spcAft>
                <a:spcPts val="600"/>
              </a:spcAft>
            </a:pPr>
            <a:r>
              <a:rPr lang="en-GB" sz="1800" dirty="0"/>
              <a:t>IT colleagues within the office can probably help to identify the best solution with the resources available. </a:t>
            </a:r>
            <a:endParaRPr lang="it-IT" sz="18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600" dirty="0"/>
              <a:t>Sometimes the quick solution could be a simple shared remote drive ( or disk) on a dedicated desktop pc that acts as server. Then the staff can connect to the drive from their own computer to launch the programs/procedures stored on the shared drive and automatically save the results on it as well.</a:t>
            </a:r>
            <a:endParaRPr lang="it-IT" sz="16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3334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a standardised system of folder and sub-folders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321147" cy="1512168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On the computer server (or the shared disk) we need to </a:t>
            </a:r>
            <a:r>
              <a:rPr lang="en-US" sz="2200" dirty="0">
                <a:solidFill>
                  <a:srgbClr val="154F98"/>
                </a:solidFill>
              </a:rPr>
              <a:t>define what we can call the “File Structure”,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i.e. </a:t>
            </a:r>
            <a:r>
              <a:rPr lang="en-US" dirty="0">
                <a:solidFill>
                  <a:srgbClr val="154F98"/>
                </a:solidFill>
              </a:rPr>
              <a:t>system of folder and sub-folders </a:t>
            </a:r>
            <a:r>
              <a:rPr lang="en-US" dirty="0"/>
              <a:t>that will contain the various procedure, programs, data, metadata, outputs and documentation of the entire statistical process.</a:t>
            </a:r>
            <a:endParaRPr lang="en-US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</p:txBody>
      </p:sp>
      <p:sp>
        <p:nvSpPr>
          <p:cNvPr id="4" name="Segnaposto contenuto 2"/>
          <p:cNvSpPr txBox="1">
            <a:spLocks/>
          </p:cNvSpPr>
          <p:nvPr/>
        </p:nvSpPr>
        <p:spPr>
          <a:xfrm>
            <a:off x="1477276" y="2996952"/>
            <a:ext cx="7211012" cy="432048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kern="0" dirty="0"/>
              <a:t>Example for a LFS (under </a:t>
            </a:r>
            <a:r>
              <a:rPr lang="en-US" sz="2000" kern="0" dirty="0"/>
              <a:t>Windows operating system)</a:t>
            </a:r>
            <a:endParaRPr lang="en-US" kern="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2200" kern="0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2"/>
          <a:srcRect l="7924" r="29998"/>
          <a:stretch/>
        </p:blipFill>
        <p:spPr>
          <a:xfrm>
            <a:off x="2207568" y="3728189"/>
            <a:ext cx="3384377" cy="2789305"/>
          </a:xfrm>
          <a:prstGeom prst="rect">
            <a:avLst/>
          </a:prstGeom>
        </p:spPr>
      </p:pic>
      <p:sp>
        <p:nvSpPr>
          <p:cNvPr id="9" name="Rettangolo 8"/>
          <p:cNvSpPr/>
          <p:nvPr/>
        </p:nvSpPr>
        <p:spPr>
          <a:xfrm>
            <a:off x="6240016" y="3728189"/>
            <a:ext cx="5400600" cy="2474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154F98"/>
              </a:buClr>
              <a:buSzPct val="120000"/>
              <a:tabLst>
                <a:tab pos="914400" algn="l"/>
              </a:tabLst>
            </a:pPr>
            <a:r>
              <a:rPr lang="en-GB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</a:t>
            </a:r>
            <a:r>
              <a:rPr lang="en-GB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main folder </a:t>
            </a:r>
            <a:r>
              <a:rPr lang="en-GB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 called </a:t>
            </a:r>
            <a:r>
              <a:rPr lang="en-GB" b="1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“LFS_GSBPM</a:t>
            </a:r>
            <a:r>
              <a:rPr lang="en-GB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GB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this is only an example, the suffix GSBPM helps us to distinguish it from a LFS folder that could already exist on the server,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GB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allows us to keep both old and new folders up until all the processes have moved to the new system</a:t>
            </a:r>
            <a:endParaRPr lang="it-IT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15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a standardised system of folder and sub-folders</a:t>
            </a:r>
            <a:endParaRPr lang="it-IT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2"/>
          <a:srcRect l="7924" r="29998"/>
          <a:stretch/>
        </p:blipFill>
        <p:spPr>
          <a:xfrm>
            <a:off x="1199456" y="1412776"/>
            <a:ext cx="3384377" cy="2789305"/>
          </a:xfrm>
          <a:prstGeom prst="rect">
            <a:avLst/>
          </a:prstGeom>
        </p:spPr>
      </p:pic>
      <p:sp>
        <p:nvSpPr>
          <p:cNvPr id="9" name="Rettangolo 8"/>
          <p:cNvSpPr/>
          <p:nvPr/>
        </p:nvSpPr>
        <p:spPr>
          <a:xfrm>
            <a:off x="4295800" y="2060848"/>
            <a:ext cx="7488832" cy="4110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154F98"/>
              </a:buClr>
              <a:buSzPct val="120000"/>
              <a:tabLst>
                <a:tab pos="914400" algn="l"/>
              </a:tabLst>
            </a:pPr>
            <a:r>
              <a:rPr lang="en-GB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main folder contains three folders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b="1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-</a:t>
            </a: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Contains input and output data, as well as output tables and collections of indicators. 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b="1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PROG -</a:t>
            </a: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Contains the programs/procedure for the different sub-processes. These could be based on different software used for different purposes (e.g. specific statistical packages for the data storage, processing and tabulation; specific software for imputation, weighting and anonymization; other software for dissemination of tables and indicators, etc.).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b="1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 -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Contains the documentation, manuals and metadata regarding the sub-processes needed to complete the entire process. </a:t>
            </a:r>
          </a:p>
        </p:txBody>
      </p:sp>
    </p:spTree>
    <p:extLst>
      <p:ext uri="{BB962C8B-B14F-4D97-AF65-F5344CB8AC3E}">
        <p14:creationId xmlns:p14="http://schemas.microsoft.com/office/powerpoint/2010/main" val="3667714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a standardised system of folder and sub-folders</a:t>
            </a:r>
            <a:endParaRPr lang="it-IT" dirty="0"/>
          </a:p>
        </p:txBody>
      </p:sp>
      <p:sp>
        <p:nvSpPr>
          <p:cNvPr id="9" name="Rettangolo 8"/>
          <p:cNvSpPr/>
          <p:nvPr/>
        </p:nvSpPr>
        <p:spPr>
          <a:xfrm>
            <a:off x="4367808" y="1196752"/>
            <a:ext cx="7636428" cy="463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Within each of the three folders we have 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series of sub-folders, one for each sub-process actually implemented in the LFS. 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name of the sub-folder starts with 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3-digit prefix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reflecting:</a:t>
            </a:r>
          </a:p>
          <a:p>
            <a:pPr marL="1200150" lvl="2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GSBPM sub-process code (2-digits),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</a:p>
          <a:p>
            <a:pPr marL="1200150" lvl="2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further digit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(by default zero) that can be used to identify further specific sub-processes 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needed to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customize the implementation. </a:t>
            </a:r>
          </a:p>
          <a:p>
            <a:pPr marL="1657350" lvl="3" indent="-285750">
              <a:spcBef>
                <a:spcPts val="600"/>
              </a:spcBef>
              <a:spcAft>
                <a:spcPts val="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For example, to </a:t>
            </a:r>
            <a:r>
              <a:rPr lang="en-GB" sz="1600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weights (sub-process 5.6)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we need to: </a:t>
            </a:r>
          </a:p>
          <a:p>
            <a:pPr marL="1657350" lvl="3" indent="-285750">
              <a:spcBef>
                <a:spcPts val="600"/>
              </a:spcBef>
              <a:spcAft>
                <a:spcPts val="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First, calculate the </a:t>
            </a:r>
            <a:r>
              <a:rPr lang="en-GB" sz="1600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 for the reference population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that will be the benchmark for weighting (</a:t>
            </a:r>
            <a:r>
              <a:rPr lang="en-GB" sz="1600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prefix 5.6.0 in our example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1657350" lvl="3" indent="-285750">
              <a:spcBef>
                <a:spcPts val="600"/>
              </a:spcBef>
              <a:spcAft>
                <a:spcPts val="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Then, </a:t>
            </a:r>
            <a:r>
              <a:rPr lang="en-GB" sz="1600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benchmark the sample data to the population figures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1600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sub-process 5.6.5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in our example). </a:t>
            </a:r>
          </a:p>
          <a:p>
            <a:pPr marL="1657350" lvl="3" indent="-285750">
              <a:spcBef>
                <a:spcPts val="600"/>
              </a:spcBef>
              <a:spcAft>
                <a:spcPts val="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It is also possible that NSO calculates monthly estimates; hence, a specific sub-process could be conveniently added for it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08"/>
          <a:stretch/>
        </p:blipFill>
        <p:spPr bwMode="auto">
          <a:xfrm>
            <a:off x="1271465" y="1196752"/>
            <a:ext cx="3496237" cy="511256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87090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a standardised system of folder and sub-folders</a:t>
            </a:r>
            <a:endParaRPr lang="it-IT" dirty="0"/>
          </a:p>
        </p:txBody>
      </p:sp>
      <p:sp>
        <p:nvSpPr>
          <p:cNvPr id="9" name="Rettangolo 8"/>
          <p:cNvSpPr/>
          <p:nvPr/>
        </p:nvSpPr>
        <p:spPr>
          <a:xfrm>
            <a:off x="4367808" y="1196752"/>
            <a:ext cx="7636428" cy="491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3-digit 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Prefixes</a:t>
            </a: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1200150" lvl="2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allow us – and our coworkers - to recognize easily the different sub-process</a:t>
            </a:r>
          </a:p>
          <a:p>
            <a:pPr marL="1200150" lvl="2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Allows to keep the folders and subfolder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ordered </a:t>
            </a: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according to the general logical sequence activities and steps. 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This kind of organization </a:t>
            </a:r>
          </a:p>
          <a:p>
            <a:pPr marL="1200150" lvl="2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helps us thinking through the whole statistical production in a disciplined manner </a:t>
            </a:r>
          </a:p>
          <a:p>
            <a:pPr marL="1200150" lvl="2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ensures we do not forget / skip anything because we can write the programs so that we cannot execute a task if we have not concluded “successfully” the previous one(s).</a:t>
            </a:r>
          </a:p>
          <a:p>
            <a:pPr marL="1657350" lvl="3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sz="1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E.g. we cannot calculate the derived variables needed to produce the tables for dissemination if we have not concluded the editing and imputation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08"/>
          <a:stretch/>
        </p:blipFill>
        <p:spPr bwMode="auto">
          <a:xfrm>
            <a:off x="1271465" y="1196752"/>
            <a:ext cx="3496237" cy="511256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63418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a standardised system of folder and sub-folders</a:t>
            </a:r>
            <a:endParaRPr lang="it-IT" dirty="0"/>
          </a:p>
        </p:txBody>
      </p:sp>
      <p:sp>
        <p:nvSpPr>
          <p:cNvPr id="9" name="Rettangolo 8"/>
          <p:cNvSpPr/>
          <p:nvPr/>
        </p:nvSpPr>
        <p:spPr>
          <a:xfrm>
            <a:off x="4583832" y="1196752"/>
            <a:ext cx="6552728" cy="2719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Depending on the periodicity of the survey, within each sub-process we need </a:t>
            </a:r>
            <a:r>
              <a:rPr lang="en-US" dirty="0">
                <a:solidFill>
                  <a:srgbClr val="154F9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further folders for the year, quarter and month of reference</a:t>
            </a: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of the survey round </a:t>
            </a:r>
          </a:p>
          <a:p>
            <a:pPr marL="1200150" lvl="2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 any kind of other identifier, e.g. Round1, Round2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a quarterly </a:t>
            </a:r>
            <a:r>
              <a:rPr lang="en-US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labour</a:t>
            </a:r>
            <a:r>
              <a:rPr 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force survey, we might envisage other folders organized as shown for the sub-processes 440 and 580.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2" r="44567" b="7741"/>
          <a:stretch/>
        </p:blipFill>
        <p:spPr bwMode="auto">
          <a:xfrm>
            <a:off x="1480296" y="1124744"/>
            <a:ext cx="3096343" cy="528643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</p:pic>
      <p:sp>
        <p:nvSpPr>
          <p:cNvPr id="5" name="Rettangolo 4"/>
          <p:cNvSpPr/>
          <p:nvPr/>
        </p:nvSpPr>
        <p:spPr>
          <a:xfrm>
            <a:off x="1703512" y="4725144"/>
            <a:ext cx="1512168" cy="16860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025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391477" y="44624"/>
            <a:ext cx="10492747" cy="720080"/>
          </a:xfrm>
        </p:spPr>
        <p:txBody>
          <a:bodyPr/>
          <a:lstStyle/>
          <a:p>
            <a:pPr lvl="0"/>
            <a:r>
              <a:rPr lang="en-GB" dirty="0"/>
              <a:t>Use standardised names and contents for data files</a:t>
            </a:r>
            <a:endParaRPr lang="it-IT" dirty="0"/>
          </a:p>
        </p:txBody>
      </p:sp>
      <p:sp>
        <p:nvSpPr>
          <p:cNvPr id="5" name="Segnaposto contenuto 2"/>
          <p:cNvSpPr>
            <a:spLocks noGrp="1"/>
          </p:cNvSpPr>
          <p:nvPr>
            <p:ph sz="quarter" idx="13"/>
          </p:nvPr>
        </p:nvSpPr>
        <p:spPr>
          <a:xfrm>
            <a:off x="767407" y="753750"/>
            <a:ext cx="11116816" cy="720080"/>
          </a:xfrm>
        </p:spPr>
        <p:txBody>
          <a:bodyPr/>
          <a:lstStyle/>
          <a:p>
            <a:r>
              <a:rPr lang="en-GB" sz="1800" dirty="0"/>
              <a:t>Generally, we will have </a:t>
            </a:r>
            <a:r>
              <a:rPr lang="en-GB" sz="1800" dirty="0">
                <a:solidFill>
                  <a:srgbClr val="154F98"/>
                </a:solidFill>
              </a:rPr>
              <a:t>several output microdata </a:t>
            </a:r>
            <a:r>
              <a:rPr lang="en-GB" sz="1800" dirty="0"/>
              <a:t>from the main sub-processes, </a:t>
            </a:r>
            <a:r>
              <a:rPr lang="en-GB" sz="1800" dirty="0">
                <a:solidFill>
                  <a:srgbClr val="154F98"/>
                </a:solidFill>
              </a:rPr>
              <a:t>named in a similar way, </a:t>
            </a:r>
            <a:r>
              <a:rPr lang="en-GB" sz="1800" dirty="0"/>
              <a:t>but with a </a:t>
            </a:r>
            <a:r>
              <a:rPr lang="en-GB" sz="1800" dirty="0">
                <a:solidFill>
                  <a:srgbClr val="154F98"/>
                </a:solidFill>
              </a:rPr>
              <a:t>suffix indicating the task they are the result of. </a:t>
            </a:r>
            <a:r>
              <a:rPr lang="en-GB" sz="1800" dirty="0"/>
              <a:t>For example: in case the SPSS is used: </a:t>
            </a: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695400" y="1628800"/>
          <a:ext cx="11188824" cy="3926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67017">
                  <a:extLst>
                    <a:ext uri="{9D8B030D-6E8A-4147-A177-3AD203B41FA5}">
                      <a16:colId xmlns:a16="http://schemas.microsoft.com/office/drawing/2014/main" val="4239489157"/>
                    </a:ext>
                  </a:extLst>
                </a:gridCol>
                <a:gridCol w="3583348">
                  <a:extLst>
                    <a:ext uri="{9D8B030D-6E8A-4147-A177-3AD203B41FA5}">
                      <a16:colId xmlns:a16="http://schemas.microsoft.com/office/drawing/2014/main" val="2029589758"/>
                    </a:ext>
                  </a:extLst>
                </a:gridCol>
                <a:gridCol w="5338459">
                  <a:extLst>
                    <a:ext uri="{9D8B030D-6E8A-4147-A177-3AD203B41FA5}">
                      <a16:colId xmlns:a16="http://schemas.microsoft.com/office/drawing/2014/main" val="342850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200" dirty="0"/>
                        <a:t>FILENAME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82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LFS_2021_Q2_RAW.sav</a:t>
                      </a:r>
                      <a:endParaRPr lang="it-IT" sz="1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..DATA\440_RAW_DATA\2021\Quarter2</a:t>
                      </a:r>
                      <a:endParaRPr lang="it-IT" sz="1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Raw data received from the data collection team </a:t>
                      </a:r>
                      <a:endParaRPr lang="it-IT" sz="14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08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LFS_2021_Q2_FMTD.sav</a:t>
                      </a:r>
                      <a:endParaRPr lang="it-IT" sz="105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..\DATA\520_CODING\2021\Quarter2</a:t>
                      </a:r>
                      <a:endParaRPr lang="it-IT" sz="105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Variables whose names and formats have been harmonized/standardized</a:t>
                      </a:r>
                      <a:endParaRPr lang="it-IT" sz="105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486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LFS_2021_Q2_CHECK.sav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..DATA\ 530_CHECKING\2021\Quarter2</a:t>
                      </a:r>
                      <a:endParaRPr lang="it-IT" sz="1400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Result</a:t>
                      </a:r>
                      <a:r>
                        <a:rPr lang="en-GB" sz="1400" kern="1200" baseline="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validation,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indicating which record and variable need to be imputed</a:t>
                      </a:r>
                      <a:endParaRPr lang="it-IT" sz="1400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28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LFS_2021_Q2_CLEAN.sav</a:t>
                      </a:r>
                      <a:endParaRPr lang="it-IT" sz="1400" b="1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 DATA\540_IMPUTATION\2021\Quarter2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400" kern="1200" baseline="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Containing the data cleaned and imputed</a:t>
                      </a:r>
                      <a:endParaRPr lang="it-IT" sz="1400" kern="1200" baseline="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54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LFS_2021_Q2_DER.sav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..DATA\550_DERIVED_VARIABLES\2021\Quarter2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Clean data to which the derived variables for analysis and dissemination have been added</a:t>
                      </a:r>
                      <a:endParaRPr lang="it-IT" sz="1400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59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LFS_2021_Q2_WEIGHTS.sav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 DATA\565_WEIGHTING\2021\Quarter2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Containing the design, intermediate and final weights for the microdata of the quarter </a:t>
                      </a:r>
                      <a:endParaRPr lang="it-IT" sz="1400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632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LFS_2021_Q2_FIN.sav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DATA\580_FINAL_DATA\2021\Quarter2</a:t>
                      </a:r>
                      <a:endParaRPr lang="it-IT" sz="1400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Result of a merge between the clean data with the derived variables (DER dataset) and the final weights (WEIGHTS)</a:t>
                      </a:r>
                      <a:endParaRPr lang="it-IT" sz="1400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39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b="1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LFS_2021_Q2_TAB.sav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it-IT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..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DATA\610_DRAFT_TABLES\2021\Quarter2</a:t>
                      </a:r>
                      <a:endParaRPr lang="it-IT" sz="1400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Containing final data standardized across quarters (in case the FIN data are not yet standardized). To be used for standard tables and feed information systems</a:t>
                      </a:r>
                      <a:endParaRPr lang="it-IT" sz="1400" kern="1200" dirty="0">
                        <a:solidFill>
                          <a:schemeClr val="dk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59928"/>
                  </a:ext>
                </a:extLst>
              </a:tr>
            </a:tbl>
          </a:graphicData>
        </a:graphic>
      </p:graphicFrame>
      <p:sp>
        <p:nvSpPr>
          <p:cNvPr id="3" name="Rettangolo 2"/>
          <p:cNvSpPr/>
          <p:nvPr/>
        </p:nvSpPr>
        <p:spPr>
          <a:xfrm>
            <a:off x="691410" y="5627648"/>
            <a:ext cx="11192813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914400" algn="l"/>
              </a:tabLst>
            </a:pPr>
            <a:r>
              <a:rPr lang="en-GB" sz="2000" b="1" dirty="0">
                <a:solidFill>
                  <a:srgbClr val="154F98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in the datasets should have standard names, formats and classifications in order to facilitate the use of standard programs/syntax (a metadata system would document this aspect).</a:t>
            </a:r>
            <a:endParaRPr lang="it-IT" sz="2000" b="1" dirty="0">
              <a:solidFill>
                <a:srgbClr val="154F98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735830" y="1988840"/>
            <a:ext cx="1831777" cy="411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7" name="Rettangolo 6"/>
          <p:cNvSpPr/>
          <p:nvPr/>
        </p:nvSpPr>
        <p:spPr>
          <a:xfrm>
            <a:off x="3503712" y="1925975"/>
            <a:ext cx="2232248" cy="411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8" name="Rettangolo 7"/>
          <p:cNvSpPr/>
          <p:nvPr/>
        </p:nvSpPr>
        <p:spPr>
          <a:xfrm>
            <a:off x="780008" y="2349785"/>
            <a:ext cx="1831777" cy="411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9" name="Rettangolo 8"/>
          <p:cNvSpPr/>
          <p:nvPr/>
        </p:nvSpPr>
        <p:spPr>
          <a:xfrm>
            <a:off x="3547890" y="2286920"/>
            <a:ext cx="2232248" cy="411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0" name="Rettangolo 9"/>
          <p:cNvSpPr/>
          <p:nvPr/>
        </p:nvSpPr>
        <p:spPr>
          <a:xfrm>
            <a:off x="735830" y="2696239"/>
            <a:ext cx="1949956" cy="411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Rettangolo 10"/>
          <p:cNvSpPr/>
          <p:nvPr/>
        </p:nvSpPr>
        <p:spPr>
          <a:xfrm>
            <a:off x="3503712" y="2633374"/>
            <a:ext cx="2376264" cy="411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321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standardised and re-usable program files</a:t>
            </a:r>
            <a:endParaRPr lang="it-IT" dirty="0"/>
          </a:p>
        </p:txBody>
      </p:sp>
      <p:sp>
        <p:nvSpPr>
          <p:cNvPr id="10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321147" cy="4968552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200" dirty="0"/>
              <a:t>Programs and procedure could be based on different software used for different purposes in different sub-processes.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In many cases, </a:t>
            </a:r>
            <a:r>
              <a:rPr lang="en-US" dirty="0">
                <a:solidFill>
                  <a:srgbClr val="154F98"/>
                </a:solidFill>
              </a:rPr>
              <a:t>programs and procedures can be “generic”, </a:t>
            </a:r>
            <a:r>
              <a:rPr lang="en-US" dirty="0"/>
              <a:t>hence </a:t>
            </a:r>
            <a:r>
              <a:rPr lang="en-US" dirty="0">
                <a:solidFill>
                  <a:srgbClr val="154F98"/>
                </a:solidFill>
              </a:rPr>
              <a:t>re-usable</a:t>
            </a:r>
            <a:r>
              <a:rPr lang="en-US" dirty="0"/>
              <a:t> without any major change for different survey rounds – </a:t>
            </a:r>
            <a:r>
              <a:rPr lang="en-US" dirty="0">
                <a:solidFill>
                  <a:srgbClr val="154F98"/>
                </a:solidFill>
              </a:rPr>
              <a:t>by simply changing a few external parameters,</a:t>
            </a:r>
            <a:r>
              <a:rPr lang="en-US" dirty="0"/>
              <a:t> such as the </a:t>
            </a:r>
            <a:r>
              <a:rPr lang="en-US" dirty="0">
                <a:solidFill>
                  <a:srgbClr val="154F98"/>
                </a:solidFill>
              </a:rPr>
              <a:t>year and the quarter of the survey round</a:t>
            </a:r>
            <a:r>
              <a:rPr lang="en-US" dirty="0"/>
              <a:t>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This is usually the case for the </a:t>
            </a:r>
            <a:r>
              <a:rPr lang="en-US" dirty="0">
                <a:solidFill>
                  <a:srgbClr val="154F98"/>
                </a:solidFill>
              </a:rPr>
              <a:t>calculation of fieldwork indicators</a:t>
            </a:r>
            <a:r>
              <a:rPr lang="en-US" dirty="0"/>
              <a:t>, </a:t>
            </a:r>
            <a:r>
              <a:rPr lang="en-US" dirty="0">
                <a:solidFill>
                  <a:srgbClr val="154F98"/>
                </a:solidFill>
              </a:rPr>
              <a:t>calculation of standardized derived variables</a:t>
            </a:r>
            <a:r>
              <a:rPr lang="en-US" dirty="0"/>
              <a:t> (when the questionnaire does not change across quarters), </a:t>
            </a:r>
            <a:r>
              <a:rPr lang="en-US" dirty="0">
                <a:solidFill>
                  <a:srgbClr val="154F98"/>
                </a:solidFill>
              </a:rPr>
              <a:t>preparation of inputs for the weighting procedure, production of standard tables</a:t>
            </a:r>
            <a:r>
              <a:rPr lang="en-US" dirty="0"/>
              <a:t>, </a:t>
            </a:r>
            <a:r>
              <a:rPr lang="en-US" dirty="0">
                <a:solidFill>
                  <a:srgbClr val="154F98"/>
                </a:solidFill>
              </a:rPr>
              <a:t>upload of information systems and websites</a:t>
            </a:r>
            <a:r>
              <a:rPr lang="en-US" dirty="0"/>
              <a:t>, etc.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dirty="0"/>
              <a:t>Most of the statistical software more commonly used allow some kind of </a:t>
            </a:r>
            <a:r>
              <a:rPr lang="en-GB" dirty="0">
                <a:solidFill>
                  <a:srgbClr val="154F98"/>
                </a:solidFill>
              </a:rPr>
              <a:t>parameterisation of programs (syntaxes) using either macros or macro variables</a:t>
            </a:r>
            <a:r>
              <a:rPr lang="en-GB" dirty="0"/>
              <a:t>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GB" dirty="0"/>
              <a:t>to parameterize year, quarter, filenames, folders, etc.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067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Parameterisation of program files</a:t>
            </a:r>
            <a:endParaRPr lang="it-IT" dirty="0"/>
          </a:p>
        </p:txBody>
      </p:sp>
      <p:sp>
        <p:nvSpPr>
          <p:cNvPr id="10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321147" cy="496855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use of macro parameters in programs can really increase efficiency of the process and reduce burden on staff.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600" dirty="0"/>
              <a:t>For examples: Instead of writing codes like </a:t>
            </a:r>
            <a:r>
              <a:rPr lang="it-IT" sz="1600" dirty="0"/>
              <a:t>(</a:t>
            </a:r>
            <a:r>
              <a:rPr lang="it-IT" sz="1600" dirty="0" err="1"/>
              <a:t>using</a:t>
            </a:r>
            <a:r>
              <a:rPr lang="it-IT" sz="1600" dirty="0"/>
              <a:t> STATA </a:t>
            </a:r>
            <a:r>
              <a:rPr lang="it-IT" sz="1600" dirty="0" err="1"/>
              <a:t>syntax</a:t>
            </a:r>
            <a:r>
              <a:rPr lang="it-IT" sz="1600" dirty="0"/>
              <a:t>)</a:t>
            </a:r>
            <a:endParaRPr lang="en-GB" sz="16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600" dirty="0">
                <a:solidFill>
                  <a:schemeClr val="accent6"/>
                </a:solidFill>
              </a:rPr>
              <a:t>  </a:t>
            </a:r>
            <a:r>
              <a:rPr lang="en-GB" sz="1600" b="1" dirty="0">
                <a:solidFill>
                  <a:schemeClr val="accent6"/>
                </a:solidFill>
              </a:rPr>
              <a:t>SAVE “C:\LFS_GSBPM_DATA\580_FINAL_DATA\</a:t>
            </a:r>
            <a:r>
              <a:rPr lang="en-GB" sz="1600" b="1" dirty="0">
                <a:solidFill>
                  <a:srgbClr val="C00000"/>
                </a:solidFill>
              </a:rPr>
              <a:t>2021</a:t>
            </a:r>
            <a:r>
              <a:rPr lang="en-GB" sz="1600" b="1" dirty="0">
                <a:solidFill>
                  <a:schemeClr val="accent6"/>
                </a:solidFill>
              </a:rPr>
              <a:t>\Quarter</a:t>
            </a:r>
            <a:r>
              <a:rPr lang="en-GB" sz="1600" b="1" dirty="0">
                <a:solidFill>
                  <a:srgbClr val="269610"/>
                </a:solidFill>
              </a:rPr>
              <a:t>2</a:t>
            </a:r>
            <a:r>
              <a:rPr lang="en-GB" sz="1600" b="1" dirty="0">
                <a:solidFill>
                  <a:schemeClr val="accent6"/>
                </a:solidFill>
              </a:rPr>
              <a:t>\</a:t>
            </a:r>
            <a:r>
              <a:rPr lang="it-IT" sz="1600" b="1" dirty="0">
                <a:solidFill>
                  <a:schemeClr val="accent6"/>
                </a:solidFill>
              </a:rPr>
              <a:t>LFS_</a:t>
            </a:r>
            <a:r>
              <a:rPr lang="it-IT" sz="1600" b="1" dirty="0">
                <a:solidFill>
                  <a:srgbClr val="C00000"/>
                </a:solidFill>
              </a:rPr>
              <a:t>2021</a:t>
            </a:r>
            <a:r>
              <a:rPr lang="it-IT" sz="1600" b="1" dirty="0">
                <a:solidFill>
                  <a:schemeClr val="accent6"/>
                </a:solidFill>
              </a:rPr>
              <a:t>_Q</a:t>
            </a:r>
            <a:r>
              <a:rPr lang="it-IT" sz="1600" b="1" dirty="0">
                <a:solidFill>
                  <a:srgbClr val="269610"/>
                </a:solidFill>
              </a:rPr>
              <a:t>2</a:t>
            </a:r>
            <a:r>
              <a:rPr lang="it-IT" sz="1600" b="1" dirty="0">
                <a:solidFill>
                  <a:schemeClr val="accent6"/>
                </a:solidFill>
              </a:rPr>
              <a:t>_FIN.dta</a:t>
            </a:r>
            <a:r>
              <a:rPr lang="en-GB" sz="1600" b="1" dirty="0">
                <a:solidFill>
                  <a:schemeClr val="accent6"/>
                </a:solidFill>
              </a:rPr>
              <a:t>“</a:t>
            </a:r>
            <a:endParaRPr lang="it-IT" sz="1600" b="1" dirty="0">
              <a:solidFill>
                <a:schemeClr val="accent6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600" dirty="0" err="1"/>
              <a:t>We</a:t>
            </a:r>
            <a:r>
              <a:rPr lang="it-IT" sz="1600" dirty="0"/>
              <a:t> </a:t>
            </a:r>
            <a:r>
              <a:rPr lang="it-IT" sz="1600" dirty="0" err="1"/>
              <a:t>could</a:t>
            </a:r>
            <a:r>
              <a:rPr lang="it-IT" sz="1600" dirty="0"/>
              <a:t> </a:t>
            </a:r>
            <a:r>
              <a:rPr lang="it-IT" sz="1600" dirty="0" err="1"/>
              <a:t>write</a:t>
            </a:r>
            <a:r>
              <a:rPr lang="it-IT" sz="1600" dirty="0"/>
              <a:t> </a:t>
            </a:r>
            <a:r>
              <a:rPr lang="it-IT" sz="1600" dirty="0" err="1"/>
              <a:t>something</a:t>
            </a:r>
            <a:r>
              <a:rPr lang="it-IT" sz="1600" dirty="0"/>
              <a:t> more </a:t>
            </a:r>
            <a:r>
              <a:rPr lang="it-IT" sz="1600" dirty="0" err="1"/>
              <a:t>generic</a:t>
            </a:r>
            <a:endParaRPr lang="it-IT" sz="16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400" b="1" dirty="0">
                <a:solidFill>
                  <a:schemeClr val="accent6"/>
                </a:solidFill>
              </a:rPr>
              <a:t>  GLOBAL   </a:t>
            </a:r>
            <a:r>
              <a:rPr lang="it-IT" sz="1400" b="1" dirty="0" err="1">
                <a:solidFill>
                  <a:schemeClr val="accent6"/>
                </a:solidFill>
              </a:rPr>
              <a:t>par_year</a:t>
            </a:r>
            <a:r>
              <a:rPr lang="it-IT" sz="1400" b="1" dirty="0">
                <a:solidFill>
                  <a:schemeClr val="accent6"/>
                </a:solidFill>
              </a:rPr>
              <a:t>      = </a:t>
            </a:r>
            <a:r>
              <a:rPr lang="it-IT" sz="1400" b="1" dirty="0">
                <a:solidFill>
                  <a:srgbClr val="C00000"/>
                </a:solidFill>
              </a:rPr>
              <a:t>2021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400" b="1" dirty="0">
                <a:solidFill>
                  <a:srgbClr val="C00000"/>
                </a:solidFill>
              </a:rPr>
              <a:t>  </a:t>
            </a:r>
            <a:r>
              <a:rPr lang="it-IT" sz="1400" b="1" dirty="0">
                <a:solidFill>
                  <a:schemeClr val="accent6"/>
                </a:solidFill>
              </a:rPr>
              <a:t>GLOBAL   </a:t>
            </a:r>
            <a:r>
              <a:rPr lang="it-IT" sz="1400" b="1" dirty="0" err="1">
                <a:solidFill>
                  <a:schemeClr val="accent6"/>
                </a:solidFill>
              </a:rPr>
              <a:t>par_quarter</a:t>
            </a:r>
            <a:r>
              <a:rPr lang="it-IT" sz="1400" b="1" dirty="0">
                <a:solidFill>
                  <a:schemeClr val="accent6"/>
                </a:solidFill>
              </a:rPr>
              <a:t> = </a:t>
            </a:r>
            <a:r>
              <a:rPr lang="it-IT" sz="1400" b="1" dirty="0">
                <a:solidFill>
                  <a:srgbClr val="269610"/>
                </a:solidFill>
              </a:rPr>
              <a:t>2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500" b="1" dirty="0">
                <a:solidFill>
                  <a:schemeClr val="accent6"/>
                </a:solidFill>
              </a:rPr>
              <a:t>  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600" b="1" dirty="0">
                <a:solidFill>
                  <a:schemeClr val="accent6"/>
                </a:solidFill>
              </a:rPr>
              <a:t>SAVE  “C:\LFS_GSBPM\DATA\580_FINAL_DATA\” </a:t>
            </a:r>
            <a:r>
              <a:rPr lang="en-GB" sz="1600" b="1" dirty="0">
                <a:solidFill>
                  <a:srgbClr val="C00000"/>
                </a:solidFill>
              </a:rPr>
              <a:t>+ </a:t>
            </a:r>
            <a:r>
              <a:rPr lang="it-IT" sz="1600" b="1" dirty="0" err="1">
                <a:solidFill>
                  <a:srgbClr val="C00000"/>
                </a:solidFill>
              </a:rPr>
              <a:t>par_year</a:t>
            </a:r>
            <a:r>
              <a:rPr lang="en-GB" sz="1600" b="1" dirty="0">
                <a:solidFill>
                  <a:srgbClr val="C00000"/>
                </a:solidFill>
              </a:rPr>
              <a:t> + </a:t>
            </a:r>
            <a:r>
              <a:rPr lang="en-GB" sz="1600" b="1" dirty="0">
                <a:solidFill>
                  <a:schemeClr val="accent6"/>
                </a:solidFill>
              </a:rPr>
              <a:t>“\Quarter” </a:t>
            </a:r>
            <a:r>
              <a:rPr lang="en-GB" sz="1600" b="1" dirty="0">
                <a:solidFill>
                  <a:srgbClr val="269610"/>
                </a:solidFill>
              </a:rPr>
              <a:t>+ </a:t>
            </a:r>
            <a:r>
              <a:rPr lang="it-IT" sz="1600" b="1" dirty="0" err="1">
                <a:solidFill>
                  <a:srgbClr val="269610"/>
                </a:solidFill>
              </a:rPr>
              <a:t>par_quarter</a:t>
            </a:r>
            <a:r>
              <a:rPr lang="en-GB" sz="1600" b="1" dirty="0">
                <a:solidFill>
                  <a:srgbClr val="269610"/>
                </a:solidFill>
              </a:rPr>
              <a:t> + </a:t>
            </a:r>
            <a:r>
              <a:rPr lang="en-GB" sz="1600" b="1" dirty="0">
                <a:solidFill>
                  <a:schemeClr val="accent6"/>
                </a:solidFill>
              </a:rPr>
              <a:t>”\</a:t>
            </a:r>
            <a:r>
              <a:rPr lang="it-IT" sz="1600" b="1" dirty="0">
                <a:solidFill>
                  <a:schemeClr val="accent6"/>
                </a:solidFill>
              </a:rPr>
              <a:t>LFS_</a:t>
            </a:r>
            <a:r>
              <a:rPr lang="en-GB" sz="1600" b="1" dirty="0">
                <a:solidFill>
                  <a:schemeClr val="accent6"/>
                </a:solidFill>
              </a:rPr>
              <a:t>”</a:t>
            </a:r>
            <a:r>
              <a:rPr lang="it-IT" sz="1600" b="1" dirty="0">
                <a:solidFill>
                  <a:schemeClr val="accent6"/>
                </a:solidFill>
              </a:rPr>
              <a:t> </a:t>
            </a:r>
          </a:p>
          <a:p>
            <a:pPr marL="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600" b="1" dirty="0">
                <a:solidFill>
                  <a:schemeClr val="accent6"/>
                </a:solidFill>
              </a:rPr>
              <a:t>               </a:t>
            </a:r>
            <a:r>
              <a:rPr lang="it-IT" sz="1600" b="1" dirty="0">
                <a:solidFill>
                  <a:srgbClr val="C00000"/>
                </a:solidFill>
              </a:rPr>
              <a:t>+ </a:t>
            </a:r>
            <a:r>
              <a:rPr lang="it-IT" sz="1600" b="1" dirty="0" err="1">
                <a:solidFill>
                  <a:srgbClr val="C00000"/>
                </a:solidFill>
              </a:rPr>
              <a:t>par_year</a:t>
            </a:r>
            <a:r>
              <a:rPr lang="it-IT" sz="1600" b="1" dirty="0">
                <a:solidFill>
                  <a:srgbClr val="C00000"/>
                </a:solidFill>
              </a:rPr>
              <a:t> + </a:t>
            </a:r>
            <a:r>
              <a:rPr lang="en-GB" sz="1600" b="1" dirty="0">
                <a:solidFill>
                  <a:schemeClr val="accent6"/>
                </a:solidFill>
              </a:rPr>
              <a:t>”</a:t>
            </a:r>
            <a:r>
              <a:rPr lang="it-IT" sz="1600" b="1" dirty="0">
                <a:solidFill>
                  <a:schemeClr val="accent6"/>
                </a:solidFill>
              </a:rPr>
              <a:t>_Q</a:t>
            </a:r>
            <a:r>
              <a:rPr lang="en-GB" sz="1600" b="1" dirty="0">
                <a:solidFill>
                  <a:schemeClr val="accent6"/>
                </a:solidFill>
              </a:rPr>
              <a:t> ” </a:t>
            </a:r>
            <a:r>
              <a:rPr lang="en-GB" sz="1600" b="1" dirty="0">
                <a:solidFill>
                  <a:srgbClr val="269610"/>
                </a:solidFill>
              </a:rPr>
              <a:t>+ </a:t>
            </a:r>
            <a:r>
              <a:rPr lang="it-IT" sz="1600" b="1" dirty="0" err="1">
                <a:solidFill>
                  <a:srgbClr val="269610"/>
                </a:solidFill>
              </a:rPr>
              <a:t>par_quarter</a:t>
            </a:r>
            <a:r>
              <a:rPr lang="it-IT" sz="1600" b="1" dirty="0">
                <a:solidFill>
                  <a:srgbClr val="269610"/>
                </a:solidFill>
              </a:rPr>
              <a:t> + </a:t>
            </a:r>
            <a:r>
              <a:rPr lang="en-GB" sz="1600" b="1" dirty="0">
                <a:solidFill>
                  <a:schemeClr val="accent6"/>
                </a:solidFill>
              </a:rPr>
              <a:t>”</a:t>
            </a:r>
            <a:r>
              <a:rPr lang="it-IT" sz="1600" b="1" dirty="0">
                <a:solidFill>
                  <a:schemeClr val="accent6"/>
                </a:solidFill>
              </a:rPr>
              <a:t>_</a:t>
            </a:r>
            <a:r>
              <a:rPr lang="it-IT" sz="1600" b="1" dirty="0" err="1">
                <a:solidFill>
                  <a:schemeClr val="accent6"/>
                </a:solidFill>
              </a:rPr>
              <a:t>FIN.dta</a:t>
            </a:r>
            <a:r>
              <a:rPr lang="en-GB" sz="1600" b="1" dirty="0">
                <a:solidFill>
                  <a:schemeClr val="accent6"/>
                </a:solidFill>
              </a:rPr>
              <a:t>”</a:t>
            </a:r>
            <a:endParaRPr lang="it-IT" sz="1600" b="1" dirty="0">
              <a:solidFill>
                <a:schemeClr val="accent6"/>
              </a:solidFill>
            </a:endParaRPr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  <a:buSzTx/>
            </a:pPr>
            <a:r>
              <a:rPr lang="en-GB" sz="2000" dirty="0"/>
              <a:t>Moreover, the parameterisation of “</a:t>
            </a:r>
            <a:r>
              <a:rPr lang="en-GB" sz="2000" dirty="0">
                <a:solidFill>
                  <a:srgbClr val="154F98"/>
                </a:solidFill>
              </a:rPr>
              <a:t>file names</a:t>
            </a:r>
            <a:r>
              <a:rPr lang="en-GB" sz="2000" dirty="0"/>
              <a:t>”, “</a:t>
            </a:r>
            <a:r>
              <a:rPr lang="en-GB" sz="2000" dirty="0">
                <a:solidFill>
                  <a:srgbClr val="154F98"/>
                </a:solidFill>
              </a:rPr>
              <a:t>folder names</a:t>
            </a:r>
            <a:r>
              <a:rPr lang="en-GB" sz="2000" dirty="0"/>
              <a:t>” and “</a:t>
            </a:r>
            <a:r>
              <a:rPr lang="en-GB" sz="2000" dirty="0">
                <a:solidFill>
                  <a:srgbClr val="154F98"/>
                </a:solidFill>
              </a:rPr>
              <a:t>paths” </a:t>
            </a:r>
            <a:r>
              <a:rPr lang="en-GB" sz="2000" dirty="0"/>
              <a:t>makes sure that the inputs and output are retrieved from - and saved in - the right folders.</a:t>
            </a:r>
          </a:p>
          <a:p>
            <a:pPr marL="742950" lvl="2" indent="-342900">
              <a:spcBef>
                <a:spcPts val="600"/>
              </a:spcBef>
              <a:spcAft>
                <a:spcPts val="600"/>
              </a:spcAft>
              <a:buSzTx/>
            </a:pPr>
            <a:r>
              <a:rPr lang="en-GB" dirty="0"/>
              <a:t>This makes </a:t>
            </a:r>
            <a:r>
              <a:rPr lang="en-GB" dirty="0">
                <a:solidFill>
                  <a:srgbClr val="154F98"/>
                </a:solidFill>
              </a:rPr>
              <a:t>future changes to the file structure more manageable </a:t>
            </a:r>
            <a:r>
              <a:rPr lang="en-GB" dirty="0"/>
              <a:t>(e.g. move the main folder to another drive)</a:t>
            </a:r>
            <a:endParaRPr lang="it-IT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1600" dirty="0"/>
              <a:t>	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it-IT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16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</p:txBody>
      </p:sp>
      <p:sp>
        <p:nvSpPr>
          <p:cNvPr id="3" name="Parentesi graffa chiusa 2"/>
          <p:cNvSpPr/>
          <p:nvPr/>
        </p:nvSpPr>
        <p:spPr>
          <a:xfrm>
            <a:off x="4307440" y="3356992"/>
            <a:ext cx="1080120" cy="648072"/>
          </a:xfrm>
          <a:prstGeom prst="rightBrac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/>
          <p:cNvSpPr txBox="1"/>
          <p:nvPr/>
        </p:nvSpPr>
        <p:spPr bwMode="auto">
          <a:xfrm>
            <a:off x="5447928" y="3429000"/>
            <a:ext cx="426539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rtlCol="0" anchor="ctr">
            <a:spAutoFit/>
          </a:bodyPr>
          <a:lstStyle/>
          <a:p>
            <a:pPr eaLnBrk="1" hangingPunct="1"/>
            <a:r>
              <a:rPr lang="it-IT" sz="1600" i="1" noProof="0" dirty="0" err="1">
                <a:solidFill>
                  <a:schemeClr val="accent5"/>
                </a:solidFill>
                <a:cs typeface="Arial" charset="0"/>
              </a:rPr>
              <a:t>We</a:t>
            </a:r>
            <a:r>
              <a:rPr lang="it-IT" sz="1600" i="1" noProof="0" dirty="0">
                <a:solidFill>
                  <a:schemeClr val="accent5"/>
                </a:solidFill>
                <a:cs typeface="Arial" charset="0"/>
              </a:rPr>
              <a:t> </a:t>
            </a:r>
            <a:r>
              <a:rPr lang="it-IT" sz="1600" i="1" noProof="0" dirty="0" err="1">
                <a:solidFill>
                  <a:schemeClr val="accent5"/>
                </a:solidFill>
                <a:cs typeface="Arial" charset="0"/>
              </a:rPr>
              <a:t>assign</a:t>
            </a:r>
            <a:r>
              <a:rPr lang="it-IT" sz="1600" i="1" noProof="0" dirty="0">
                <a:solidFill>
                  <a:schemeClr val="accent5"/>
                </a:solidFill>
                <a:cs typeface="Arial" charset="0"/>
              </a:rPr>
              <a:t> a </a:t>
            </a:r>
            <a:r>
              <a:rPr lang="it-IT" sz="1600" i="1" noProof="0" dirty="0" err="1">
                <a:solidFill>
                  <a:schemeClr val="accent5"/>
                </a:solidFill>
                <a:cs typeface="Arial" charset="0"/>
              </a:rPr>
              <a:t>specific</a:t>
            </a:r>
            <a:r>
              <a:rPr lang="it-IT" sz="1600" i="1" noProof="0" dirty="0">
                <a:solidFill>
                  <a:schemeClr val="accent5"/>
                </a:solidFill>
                <a:cs typeface="Arial" charset="0"/>
              </a:rPr>
              <a:t> </a:t>
            </a:r>
            <a:r>
              <a:rPr lang="it-IT" sz="1600" i="1" noProof="0" dirty="0" err="1">
                <a:solidFill>
                  <a:schemeClr val="accent5"/>
                </a:solidFill>
                <a:cs typeface="Arial" charset="0"/>
              </a:rPr>
              <a:t>value</a:t>
            </a:r>
            <a:r>
              <a:rPr lang="it-IT" sz="1600" i="1" noProof="0" dirty="0">
                <a:solidFill>
                  <a:schemeClr val="accent5"/>
                </a:solidFill>
                <a:cs typeface="Arial" charset="0"/>
              </a:rPr>
              <a:t> to the </a:t>
            </a:r>
            <a:r>
              <a:rPr lang="it-IT" sz="1600" i="1" noProof="0" dirty="0" err="1">
                <a:solidFill>
                  <a:schemeClr val="accent5"/>
                </a:solidFill>
                <a:cs typeface="Arial" charset="0"/>
              </a:rPr>
              <a:t>parameters</a:t>
            </a:r>
            <a:endParaRPr lang="it-IT" sz="1600" i="1" noProof="0" dirty="0">
              <a:solidFill>
                <a:schemeClr val="accent5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30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standardised and re-usable program files</a:t>
            </a:r>
            <a:endParaRPr lang="it-IT" dirty="0"/>
          </a:p>
        </p:txBody>
      </p:sp>
      <p:sp>
        <p:nvSpPr>
          <p:cNvPr id="10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321147" cy="496855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Different software have </a:t>
            </a:r>
            <a:r>
              <a:rPr lang="en-US" sz="2200" dirty="0">
                <a:solidFill>
                  <a:srgbClr val="154F98"/>
                </a:solidFill>
              </a:rPr>
              <a:t>different level of complexity in using parameters</a:t>
            </a:r>
            <a:r>
              <a:rPr lang="en-US" sz="2200" dirty="0"/>
              <a:t>, macros and macro variables, hence a certain level of training/learning is required to develop such kind of </a:t>
            </a:r>
            <a:r>
              <a:rPr lang="en-US" sz="2200" dirty="0">
                <a:solidFill>
                  <a:srgbClr val="154F98"/>
                </a:solidFill>
              </a:rPr>
              <a:t>“parameterized</a:t>
            </a:r>
            <a:r>
              <a:rPr lang="en-US" sz="2200" dirty="0"/>
              <a:t>” programs.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When the </a:t>
            </a:r>
            <a:r>
              <a:rPr lang="en-US" sz="2200" dirty="0">
                <a:solidFill>
                  <a:srgbClr val="154F98"/>
                </a:solidFill>
              </a:rPr>
              <a:t>parameterization of programs results too difficult</a:t>
            </a:r>
            <a:r>
              <a:rPr lang="en-US" sz="2200" dirty="0"/>
              <a:t>, programs have to be specific for each survey round and need to be placed in the PROG folder of the corresponding sub-process and survey round.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To </a:t>
            </a:r>
            <a:r>
              <a:rPr lang="en-US" dirty="0">
                <a:solidFill>
                  <a:srgbClr val="154F98"/>
                </a:solidFill>
              </a:rPr>
              <a:t>re-use these programs in future rounds</a:t>
            </a:r>
            <a:r>
              <a:rPr lang="en-US" dirty="0"/>
              <a:t>, it would be possible to make a copy of them and change manually (within them) the pa</a:t>
            </a:r>
            <a:r>
              <a:rPr lang="en-GB" dirty="0" err="1"/>
              <a:t>rameters</a:t>
            </a:r>
            <a:r>
              <a:rPr lang="en-GB" dirty="0"/>
              <a:t> that identify the survey round.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Suggestion: we should write programs that allow to use the function “find and substitute” to change the parameters altogether within the program files (we do not want to risk to </a:t>
            </a:r>
            <a:r>
              <a:rPr lang="it-IT" dirty="0" err="1"/>
              <a:t>omit</a:t>
            </a:r>
            <a:r>
              <a:rPr lang="it-IT" dirty="0"/>
              <a:t> some of </a:t>
            </a:r>
            <a:r>
              <a:rPr lang="it-IT" dirty="0" err="1"/>
              <a:t>them</a:t>
            </a:r>
            <a:r>
              <a:rPr lang="en-GB" dirty="0"/>
              <a:t>).</a:t>
            </a:r>
            <a:r>
              <a:rPr lang="en-US" dirty="0"/>
              <a:t>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For some sub-processes, programs need to be always </a:t>
            </a:r>
            <a:r>
              <a:rPr lang="en-US" sz="2200" dirty="0">
                <a:solidFill>
                  <a:srgbClr val="154F98"/>
                </a:solidFill>
              </a:rPr>
              <a:t>“specific” </a:t>
            </a:r>
            <a:r>
              <a:rPr lang="en-US" sz="2200" dirty="0"/>
              <a:t>of the survey “round”, as for editing, probabilistic/deterministic imputation, and validation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	</a:t>
            </a:r>
            <a:r>
              <a:rPr lang="en-US" dirty="0"/>
              <a:t>given that the type of errors and/or the records affected may well be different </a:t>
            </a:r>
          </a:p>
        </p:txBody>
      </p:sp>
    </p:spTree>
    <p:extLst>
      <p:ext uri="{BB962C8B-B14F-4D97-AF65-F5344CB8AC3E}">
        <p14:creationId xmlns:p14="http://schemas.microsoft.com/office/powerpoint/2010/main" val="253206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Use of program files for data processing</a:t>
            </a:r>
            <a:endParaRPr lang="it-IT" dirty="0"/>
          </a:p>
        </p:txBody>
      </p:sp>
      <p:sp>
        <p:nvSpPr>
          <p:cNvPr id="10" name="Segnaposto contenuto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321147" cy="496855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It is always recommended that </a:t>
            </a:r>
            <a:r>
              <a:rPr lang="en-US" dirty="0">
                <a:solidFill>
                  <a:srgbClr val="154F98"/>
                </a:solidFill>
              </a:rPr>
              <a:t>any change to be made on the microdata </a:t>
            </a:r>
            <a:r>
              <a:rPr lang="en-US" dirty="0"/>
              <a:t>is made via </a:t>
            </a:r>
            <a:r>
              <a:rPr lang="en-US" dirty="0">
                <a:solidFill>
                  <a:srgbClr val="154F98"/>
                </a:solidFill>
              </a:rPr>
              <a:t>specific instructions in a program file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E.g. syntax files SPSS; do files STATA; program file SAS; script files R, Python Notebooks , etc.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Changes to variable formats, missing value imputation, calculation of derived variables, merge of datasets, import and export of data, etc.</a:t>
            </a:r>
          </a:p>
          <a:p>
            <a:r>
              <a:rPr lang="en-GB" dirty="0"/>
              <a:t>The use of program files have many advantages, among which: </a:t>
            </a:r>
            <a:endParaRPr lang="it-IT" dirty="0"/>
          </a:p>
          <a:p>
            <a:pPr lvl="1"/>
            <a:r>
              <a:rPr lang="en-GB" sz="1600" dirty="0">
                <a:solidFill>
                  <a:srgbClr val="154F98"/>
                </a:solidFill>
              </a:rPr>
              <a:t>Possibility to replicate tasks in </a:t>
            </a:r>
            <a:r>
              <a:rPr lang="en-GB" sz="1600" dirty="0"/>
              <a:t>case of errors, loss or damage to the data (data that are over-written, wrong merge/match that corrupts data, etc. )</a:t>
            </a:r>
            <a:endParaRPr lang="it-IT" sz="1600" dirty="0"/>
          </a:p>
          <a:p>
            <a:pPr lvl="1"/>
            <a:r>
              <a:rPr lang="en-GB" sz="1600" dirty="0">
                <a:solidFill>
                  <a:srgbClr val="154F98"/>
                </a:solidFill>
              </a:rPr>
              <a:t>Possibility to re-use the program files </a:t>
            </a:r>
            <a:r>
              <a:rPr lang="en-GB" sz="1600" dirty="0"/>
              <a:t>(as is or with minor changes) to replicate the same tasks on data from different survey rounds (or on different surveys)</a:t>
            </a:r>
            <a:endParaRPr lang="it-IT" sz="1600" dirty="0"/>
          </a:p>
          <a:p>
            <a:pPr lvl="1"/>
            <a:r>
              <a:rPr lang="en-GB" sz="1600" dirty="0">
                <a:solidFill>
                  <a:srgbClr val="154F98"/>
                </a:solidFill>
              </a:rPr>
              <a:t>Document the operations made on the data </a:t>
            </a:r>
            <a:r>
              <a:rPr lang="en-GB" sz="1600" dirty="0"/>
              <a:t>(e.g. imputation of data), hence allow to trace back possible errors, fix them and quickly re-execute the task</a:t>
            </a:r>
            <a:endParaRPr lang="it-IT" sz="1600" dirty="0"/>
          </a:p>
          <a:p>
            <a:pPr lvl="1"/>
            <a:r>
              <a:rPr lang="en-GB" sz="1600" dirty="0">
                <a:solidFill>
                  <a:srgbClr val="154F98"/>
                </a:solidFill>
              </a:rPr>
              <a:t>Put comments in the programs on how to run some tasks</a:t>
            </a:r>
            <a:r>
              <a:rPr lang="en-GB" sz="1600" dirty="0"/>
              <a:t>, e.g. what to check in the outputs</a:t>
            </a:r>
          </a:p>
          <a:p>
            <a:pPr lvl="1"/>
            <a:r>
              <a:rPr lang="en-GB" sz="1600" dirty="0"/>
              <a:t>Add code to </a:t>
            </a:r>
            <a:r>
              <a:rPr lang="en-GB" sz="1600" dirty="0">
                <a:solidFill>
                  <a:srgbClr val="154F98"/>
                </a:solidFill>
              </a:rPr>
              <a:t>move, copy, rename and zip files </a:t>
            </a:r>
          </a:p>
          <a:p>
            <a:pPr lvl="1"/>
            <a:r>
              <a:rPr lang="en-GB" sz="1600" dirty="0"/>
              <a:t>Sometimes, program the </a:t>
            </a:r>
            <a:r>
              <a:rPr lang="en-GB" sz="1600" dirty="0">
                <a:solidFill>
                  <a:srgbClr val="154F98"/>
                </a:solidFill>
              </a:rPr>
              <a:t>visualization of pop-up messages </a:t>
            </a:r>
            <a:r>
              <a:rPr lang="en-GB" sz="1600" dirty="0"/>
              <a:t>that provide guidance on next step </a:t>
            </a:r>
          </a:p>
          <a:p>
            <a:pPr lvl="1"/>
            <a:endParaRPr lang="it-IT" dirty="0">
              <a:solidFill>
                <a:srgbClr val="C00000"/>
              </a:solidFill>
            </a:endParaRPr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2393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/>
        </p:nvSpPr>
        <p:spPr>
          <a:xfrm>
            <a:off x="695400" y="1196752"/>
            <a:ext cx="11308836" cy="1537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sz="1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same cases, names of program files can be written in a way that help users to document the actual sequence of the operations, hence help to run the tasks with the planned sequence reducing the risk to forget/omit some tasks. </a:t>
            </a:r>
          </a:p>
          <a:p>
            <a:pPr marL="742950" lvl="1" indent="-2857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GB" sz="1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 an example, the following figure shows the sequence of programs used to calculate the final weights. They have a prefix from 01 to 08 so that they appear in the exact order they have </a:t>
            </a:r>
            <a:r>
              <a:rPr lang="en-GB" sz="160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 be executed</a:t>
            </a:r>
            <a:r>
              <a:rPr lang="en-GB" sz="16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which greatly simplify the overall task. </a:t>
            </a:r>
            <a:endParaRPr lang="en-US" sz="160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olo 1"/>
          <p:cNvSpPr>
            <a:spLocks noGrp="1"/>
          </p:cNvSpPr>
          <p:nvPr>
            <p:ph type="title"/>
          </p:nvPr>
        </p:nvSpPr>
        <p:spPr>
          <a:xfrm>
            <a:off x="1391477" y="476672"/>
            <a:ext cx="10492747" cy="720080"/>
          </a:xfrm>
        </p:spPr>
        <p:txBody>
          <a:bodyPr/>
          <a:lstStyle/>
          <a:p>
            <a:pPr lvl="0"/>
            <a:r>
              <a:rPr lang="en-GB" dirty="0"/>
              <a:t>Use of program files for data processing</a:t>
            </a:r>
            <a:endParaRPr lang="it-IT" dirty="0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 rotWithShape="1">
          <a:blip r:embed="rId2"/>
          <a:srcRect t="44468" r="79324" b="39168"/>
          <a:stretch/>
        </p:blipFill>
        <p:spPr bwMode="auto">
          <a:xfrm>
            <a:off x="1199456" y="2708920"/>
            <a:ext cx="9906815" cy="3773355"/>
          </a:xfrm>
          <a:prstGeom prst="rect">
            <a:avLst/>
          </a:prstGeom>
          <a:ln w="28575">
            <a:solidFill>
              <a:schemeClr val="accent6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76080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154F98"/>
                </a:solidFill>
                <a:latin typeface="Arial Narrow" panose="020B0606020202030204" pitchFamily="34" charset="0"/>
                <a:ea typeface="+mj-ea"/>
              </a:rPr>
              <a:t>THANK YOU FOR YOUR ATTENTION!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330422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DESIGN_ID_INSIDE 01" val="h1HIXlRo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inside 01">
  <a:themeElements>
    <a:clrScheme name="ITICILO styl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6AB072"/>
      </a:accent2>
      <a:accent3>
        <a:srgbClr val="E67B1B"/>
      </a:accent3>
      <a:accent4>
        <a:srgbClr val="A43D4E"/>
      </a:accent4>
      <a:accent5>
        <a:srgbClr val="7B289E"/>
      </a:accent5>
      <a:accent6>
        <a:srgbClr val="154F98"/>
      </a:accent6>
      <a:hlink>
        <a:srgbClr val="009999"/>
      </a:hlink>
      <a:folHlink>
        <a:srgbClr val="99CC00"/>
      </a:folHlink>
    </a:clrScheme>
    <a:fontScheme name="inside 01">
      <a:majorFont>
        <a:latin typeface="Verdana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anchor="ctr"/>
      <a:lstStyle>
        <a:defPPr eaLnBrk="1" hangingPunct="1">
          <a:defRPr sz="1400" i="0" noProof="0" dirty="0">
            <a:solidFill>
              <a:srgbClr val="B11B86"/>
            </a:solidFill>
            <a:cs typeface="Arial" charset="0"/>
          </a:defRPr>
        </a:defPPr>
      </a:lstStyle>
    </a:txDef>
  </a:objectDefaults>
  <a:extraClrSchemeLst>
    <a:extraClrScheme>
      <a:clrScheme name="inside 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13">
        <a:dk1>
          <a:srgbClr val="000000"/>
        </a:dk1>
        <a:lt1>
          <a:srgbClr val="FFFFFF"/>
        </a:lt1>
        <a:dk2>
          <a:srgbClr val="FFFF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3674</Words>
  <Application>Microsoft Office PowerPoint</Application>
  <PresentationFormat>Widescreen</PresentationFormat>
  <Paragraphs>305</Paragraphs>
  <Slides>37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Narrow</vt:lpstr>
      <vt:lpstr>Calibri</vt:lpstr>
      <vt:lpstr>Verdana</vt:lpstr>
      <vt:lpstr>Wingdings</vt:lpstr>
      <vt:lpstr>inside 01</vt:lpstr>
      <vt:lpstr>Practical implementation of the GSBPM for regular LFS</vt:lpstr>
      <vt:lpstr>Outline of the session S05</vt:lpstr>
      <vt:lpstr>Part 1:   Overview of the  Generic Statistical Business Process Model (GSBPM)</vt:lpstr>
      <vt:lpstr>Survey Management</vt:lpstr>
      <vt:lpstr>The Business Process</vt:lpstr>
      <vt:lpstr>GSBPM: Background and overview                      1/2 </vt:lpstr>
      <vt:lpstr>Structure of the GSBPM </vt:lpstr>
      <vt:lpstr>Main phases of the GSBPM </vt:lpstr>
      <vt:lpstr>GSBPM version 5.0: Level 1 and 2 </vt:lpstr>
      <vt:lpstr>GSBPM version 5.0: Level 1 and 2 </vt:lpstr>
      <vt:lpstr>GSBPM version 5.0: Level 1 and 2 </vt:lpstr>
      <vt:lpstr>GSBPM: Over-arching processes </vt:lpstr>
      <vt:lpstr>GSBPM: Background and overview                     2/2      pe of the GSBPM</vt:lpstr>
      <vt:lpstr>Understanding the GSBPM                          1/2 </vt:lpstr>
      <vt:lpstr>Understanding the GSBPM                          2/2 </vt:lpstr>
      <vt:lpstr>Why statistical offices (we) need a business process model ?    1/2</vt:lpstr>
      <vt:lpstr>Why statistical offices (we) need a business process model ?    2/2</vt:lpstr>
      <vt:lpstr>First implementation of GSBPM: where to start from </vt:lpstr>
      <vt:lpstr>GSBPM cornerstone for modernisation</vt:lpstr>
      <vt:lpstr>Part 2:  Getting the production phases organized  according  to the GSBPM (for a labour force survey  with regular survey rounds)   </vt:lpstr>
      <vt:lpstr>Production phase</vt:lpstr>
      <vt:lpstr>From theory to practice                                            1/3</vt:lpstr>
      <vt:lpstr>From theory to practice                                            2/3</vt:lpstr>
      <vt:lpstr>A simple way to get all the components organized</vt:lpstr>
      <vt:lpstr>Use a common server, computer or a shared disk  </vt:lpstr>
      <vt:lpstr>Use a standardised system of folder and sub-folders</vt:lpstr>
      <vt:lpstr>Use a standardised system of folder and sub-folders</vt:lpstr>
      <vt:lpstr>Use a standardised system of folder and sub-folders</vt:lpstr>
      <vt:lpstr>Use a standardised system of folder and sub-folders</vt:lpstr>
      <vt:lpstr>Use a standardised system of folder and sub-folders</vt:lpstr>
      <vt:lpstr>Use standardised names and contents for data files</vt:lpstr>
      <vt:lpstr>Use standardised and re-usable program files</vt:lpstr>
      <vt:lpstr>Parameterisation of program files</vt:lpstr>
      <vt:lpstr>Use standardised and re-usable program files</vt:lpstr>
      <vt:lpstr>Use of program files for data processing</vt:lpstr>
      <vt:lpstr>Use of program files for data processing</vt:lpstr>
      <vt:lpstr>PowerPoint Presentation</vt:lpstr>
    </vt:vector>
  </TitlesOfParts>
  <Company>ITC of the ILO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LFIORE</dc:creator>
  <cp:lastModifiedBy>Discenza, Antonio Rinaldo</cp:lastModifiedBy>
  <cp:revision>413</cp:revision>
  <cp:lastPrinted>2013-05-11T13:24:19Z</cp:lastPrinted>
  <dcterms:created xsi:type="dcterms:W3CDTF">2011-11-13T21:20:19Z</dcterms:created>
  <dcterms:modified xsi:type="dcterms:W3CDTF">2025-03-04T08:02:04Z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D98A665E-B088-400C-BE49-9FF1F77C6CE8</vt:lpwstr>
  </property>
  <property fmtid="{D5CDD505-2E9C-101B-9397-08002B2CF9AE}" pid="3" name="ArticulatePath">
    <vt:lpwstr>SSEA Korea_template PPT EN +KR</vt:lpwstr>
  </property>
</Properties>
</file>