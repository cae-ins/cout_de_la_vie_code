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27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797675" cy="9928225"/>
  <p:custDataLst>
    <p:tags r:id="rId19"/>
  </p:custDataLst>
  <p:defaultTextStyle>
    <a:defPPr>
      <a:defRPr lang="id-ID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FIORE" initials="" lastIdx="0" clrIdx="0"/>
  <p:cmAuthor id="1" name="ecocentric" initials="e" lastIdx="16" clrIdx="1"/>
  <p:cmAuthor id="2" name="Maikel Lieuw-Kie-Song" initials="ML" lastIdx="8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4F98"/>
    <a:srgbClr val="82A8B6"/>
    <a:srgbClr val="269610"/>
    <a:srgbClr val="B11B86"/>
    <a:srgbClr val="F2650E"/>
    <a:srgbClr val="993366"/>
    <a:srgbClr val="98C306"/>
    <a:srgbClr val="EB9915"/>
    <a:srgbClr val="FFE48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12" autoAdjust="0"/>
    <p:restoredTop sz="90965" autoAdjust="0"/>
  </p:normalViewPr>
  <p:slideViewPr>
    <p:cSldViewPr>
      <p:cViewPr varScale="1">
        <p:scale>
          <a:sx n="71" d="100"/>
          <a:sy n="71" d="100"/>
        </p:scale>
        <p:origin x="1301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6" d="100"/>
        <a:sy n="76" d="100"/>
      </p:scale>
      <p:origin x="0" y="2102"/>
    </p:cViewPr>
  </p:sorterViewPr>
  <p:notesViewPr>
    <p:cSldViewPr>
      <p:cViewPr varScale="1">
        <p:scale>
          <a:sx n="76" d="100"/>
          <a:sy n="76" d="100"/>
        </p:scale>
        <p:origin x="-2214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d-ID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96F2457-ACE3-BA4A-873A-FD29B17A1D12}" type="datetime1">
              <a:rPr lang="id-ID"/>
              <a:pPr/>
              <a:t>03/03/2025</a:t>
            </a:fld>
            <a:endParaRPr lang="id-ID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d-ID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1E29981-8FE8-C344-88CF-A3DAF804C809}" type="slidenum">
              <a:rPr lang="id-ID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93672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d-ID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A2CEB4C-364C-674E-A933-C3977187AE0B}" type="datetime1">
              <a:rPr lang="id-ID"/>
              <a:pPr/>
              <a:t>03/03/2025</a:t>
            </a:fld>
            <a:endParaRPr lang="id-ID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d-ID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8DA8B1A-13F2-1446-8603-74185E46CFC5}" type="slidenum">
              <a:rPr lang="id-ID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7216432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582" y="6145249"/>
            <a:ext cx="1682500" cy="54254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0" y="476673"/>
            <a:ext cx="5384800" cy="4248471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82A8B6"/>
              </a:buClr>
              <a:buFont typeface="Wingdings" panose="05000000000000000000" pitchFamily="2" charset="2"/>
              <a:buChar char="§"/>
              <a:defRPr sz="2800" b="1">
                <a:solidFill>
                  <a:srgbClr val="154F98"/>
                </a:solidFill>
                <a:latin typeface="Arial" pitchFamily="34" charset="0"/>
                <a:cs typeface="Arial" pitchFamily="34" charset="0"/>
              </a:defRPr>
            </a:lvl1pPr>
            <a:lvl2pPr>
              <a:buClr>
                <a:srgbClr val="82A8B6"/>
              </a:buClr>
              <a:defRPr sz="2400"/>
            </a:lvl2pPr>
            <a:lvl3pPr>
              <a:buClr>
                <a:srgbClr val="82A8B6"/>
              </a:buClr>
              <a:defRPr sz="2000"/>
            </a:lvl3pPr>
            <a:lvl4pPr>
              <a:buClr>
                <a:srgbClr val="82A8B6"/>
              </a:buClr>
              <a:defRPr sz="1800"/>
            </a:lvl4pPr>
            <a:lvl5pPr>
              <a:buClr>
                <a:srgbClr val="82A8B6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4559829" y="4077072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859800" y="481397"/>
            <a:ext cx="5428221" cy="4243747"/>
          </a:xfrm>
          <a:prstGeom prst="rect">
            <a:avLst/>
          </a:prstGeom>
        </p:spPr>
        <p:txBody>
          <a:bodyPr/>
          <a:lstStyle>
            <a:lvl1pPr>
              <a:buClr>
                <a:srgbClr val="82A8B6"/>
              </a:buClr>
              <a:defRPr sz="2800" b="1">
                <a:solidFill>
                  <a:srgbClr val="154F98"/>
                </a:solidFill>
                <a:latin typeface="Arial" pitchFamily="34" charset="0"/>
                <a:cs typeface="Arial" pitchFamily="34" charset="0"/>
              </a:defRPr>
            </a:lvl1pPr>
            <a:lvl2pPr>
              <a:buClr>
                <a:srgbClr val="82A8B6"/>
              </a:buClr>
              <a:defRPr sz="2400"/>
            </a:lvl2pPr>
            <a:lvl3pPr>
              <a:buClr>
                <a:srgbClr val="82A8B6"/>
              </a:buClr>
              <a:defRPr sz="2000"/>
            </a:lvl3pPr>
            <a:lvl4pPr>
              <a:buClr>
                <a:srgbClr val="82A8B6"/>
              </a:buClr>
              <a:defRPr sz="1800"/>
            </a:lvl4pPr>
            <a:lvl5pPr>
              <a:buClr>
                <a:srgbClr val="82A8B6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81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477" y="476672"/>
            <a:ext cx="10492747" cy="72008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465163" cy="4536504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54F9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154F98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154F9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154F9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154F9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084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392" y="476673"/>
            <a:ext cx="10972800" cy="4525963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82A8B6"/>
              </a:buClr>
              <a:defRPr/>
            </a:lvl1pPr>
            <a:lvl2pPr>
              <a:buClr>
                <a:srgbClr val="82A8B6"/>
              </a:buClr>
              <a:defRPr/>
            </a:lvl2pPr>
            <a:lvl3pPr>
              <a:buClr>
                <a:srgbClr val="82A8B6"/>
              </a:buClr>
              <a:defRPr/>
            </a:lvl3pPr>
            <a:lvl4pPr>
              <a:buClr>
                <a:srgbClr val="82A8B6"/>
              </a:buClr>
              <a:defRPr/>
            </a:lvl4pPr>
            <a:lvl5pPr>
              <a:buClr>
                <a:srgbClr val="82A8B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159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28580" y="187464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154F98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28580" y="332657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472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538" y="2873014"/>
            <a:ext cx="7200000" cy="608525"/>
          </a:xfrm>
        </p:spPr>
        <p:txBody>
          <a:bodyPr wrap="square" bIns="54000" anchor="t" anchorCtr="0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538" y="3481539"/>
            <a:ext cx="7200000" cy="165576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1200"/>
              </a:spcAft>
              <a:buNone/>
              <a:defRPr sz="4000" b="0">
                <a:solidFill>
                  <a:schemeClr val="accent1"/>
                </a:solidFill>
              </a:defRPr>
            </a:lvl1pPr>
            <a:lvl2pPr marL="0" indent="0" algn="l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90538" y="6180035"/>
            <a:ext cx="2743200" cy="216000"/>
          </a:xfrm>
        </p:spPr>
        <p:txBody>
          <a:bodyPr anchor="b" anchorCtr="0">
            <a:noAutofit/>
          </a:bodyPr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r>
              <a:rPr lang="en-US"/>
              <a:t>Date: Monday / 01 / October / 2019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0538" y="6858000"/>
            <a:ext cx="5605462" cy="1800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GB"/>
              <a:t>Advancing social justice, promoting decent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61462" y="6870450"/>
            <a:ext cx="540000" cy="2880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fld id="{856227C0-AD57-4F9B-BAE3-EEFB0D0EE42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0" y="2988404"/>
            <a:ext cx="214312" cy="2515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8" y="490538"/>
            <a:ext cx="1371600" cy="494482"/>
          </a:xfrm>
          <a:prstGeom prst="rect">
            <a:avLst/>
          </a:prstGeom>
        </p:spPr>
      </p:pic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2946400" y="0"/>
            <a:ext cx="9245600" cy="5321300"/>
          </a:xfrm>
          <a:custGeom>
            <a:avLst/>
            <a:gdLst>
              <a:gd name="connsiteX0" fmla="*/ 0 w 9245600"/>
              <a:gd name="connsiteY0" fmla="*/ 0 h 5321300"/>
              <a:gd name="connsiteX1" fmla="*/ 9245600 w 9245600"/>
              <a:gd name="connsiteY1" fmla="*/ 0 h 5321300"/>
              <a:gd name="connsiteX2" fmla="*/ 9245600 w 9245600"/>
              <a:gd name="connsiteY2" fmla="*/ 5321300 h 5321300"/>
              <a:gd name="connsiteX3" fmla="*/ 0 w 9245600"/>
              <a:gd name="connsiteY3" fmla="*/ 5321300 h 5321300"/>
              <a:gd name="connsiteX4" fmla="*/ 0 w 9245600"/>
              <a:gd name="connsiteY4" fmla="*/ 0 h 5321300"/>
              <a:gd name="connsiteX0" fmla="*/ 0 w 9245600"/>
              <a:gd name="connsiteY0" fmla="*/ 0 h 5321300"/>
              <a:gd name="connsiteX1" fmla="*/ 9245600 w 9245600"/>
              <a:gd name="connsiteY1" fmla="*/ 0 h 5321300"/>
              <a:gd name="connsiteX2" fmla="*/ 9245600 w 9245600"/>
              <a:gd name="connsiteY2" fmla="*/ 5321300 h 5321300"/>
              <a:gd name="connsiteX3" fmla="*/ 0 w 9245600"/>
              <a:gd name="connsiteY3" fmla="*/ 0 h 532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600" h="5321300">
                <a:moveTo>
                  <a:pt x="0" y="0"/>
                </a:moveTo>
                <a:lnTo>
                  <a:pt x="9245600" y="0"/>
                </a:lnTo>
                <a:lnTo>
                  <a:pt x="9245600" y="53213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insert picture, or leave unchanged for plain colour fill</a:t>
            </a:r>
          </a:p>
        </p:txBody>
      </p:sp>
    </p:spTree>
    <p:extLst>
      <p:ext uri="{BB962C8B-B14F-4D97-AF65-F5344CB8AC3E}">
        <p14:creationId xmlns:p14="http://schemas.microsoft.com/office/powerpoint/2010/main" val="191871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/>
          <p:cNvSpPr txBox="1">
            <a:spLocks/>
          </p:cNvSpPr>
          <p:nvPr userDrawn="1"/>
        </p:nvSpPr>
        <p:spPr>
          <a:xfrm>
            <a:off x="11280576" y="6453336"/>
            <a:ext cx="719403" cy="317500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fld id="{AC611B22-04DA-49DB-8F00-1DBB662793CA}" type="slidenum">
              <a:rPr lang="it-IT" sz="1400" smtClean="0">
                <a:solidFill>
                  <a:schemeClr val="bg1"/>
                </a:solidFill>
              </a:rPr>
              <a:pPr algn="ctr" eaLnBrk="1" hangingPunct="1">
                <a:defRPr/>
              </a:pPr>
              <a:t>‹#›</a:t>
            </a:fld>
            <a:endParaRPr lang="id-ID" sz="16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19403" y="476672"/>
            <a:ext cx="0" cy="54006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8" r:id="rId5"/>
    <p:sldLayoutId id="2147483659" r:id="rId6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F2650E"/>
          </a:solidFill>
          <a:latin typeface="Verdana" charset="0"/>
          <a:ea typeface="Arial Unicode MS" charset="0"/>
          <a:cs typeface="Arial Unicode MS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2650E"/>
        </a:buClr>
        <a:buFont typeface="Wingdings" charset="2"/>
        <a:buChar char="§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0099FF"/>
        </a:buClr>
        <a:buSzPct val="120000"/>
        <a:buChar char="•"/>
        <a:defRPr sz="2800">
          <a:solidFill>
            <a:schemeClr val="tx1"/>
          </a:solidFill>
          <a:latin typeface="Arial" charset="0"/>
          <a:ea typeface="+mn-ea"/>
          <a:cs typeface="Arial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0099FF"/>
        </a:buClr>
        <a:buSzPct val="80000"/>
        <a:buFont typeface="Wingdings" charset="2"/>
        <a:buChar char="Ø"/>
        <a:defRPr sz="2400">
          <a:solidFill>
            <a:schemeClr val="tx1"/>
          </a:solidFill>
          <a:latin typeface="Arial" charset="0"/>
          <a:ea typeface="+mn-ea"/>
          <a:cs typeface="Arial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+mn-ea"/>
          <a:cs typeface="Arial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+mn-ea"/>
          <a:cs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+mn-ea"/>
          <a:cs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+mn-ea"/>
          <a:cs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+mn-ea"/>
          <a:cs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+mn-ea"/>
          <a:cs typeface="Arial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iscenza@ilo.org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bin/windows/base/" TargetMode="External"/><Relationship Id="rId2" Type="http://schemas.openxmlformats.org/officeDocument/2006/relationships/hyperlink" Target="https://cran.r-project.org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ran.r-project.org/manuals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other-docs.html" TargetMode="External"/><Relationship Id="rId2" Type="http://schemas.openxmlformats.org/officeDocument/2006/relationships/hyperlink" Target="https://cran.r-project.org/manuals.html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ran.r-project.org/web/views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intro2r.com/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r4ds.had.co.nz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6227C0-AD57-4F9B-BAE3-EEFB0D0EE427}" type="slidenum">
              <a:rPr kumimoji="0" lang="en-GB" sz="1800" b="0" i="0" u="none" strike="noStrike" kern="1200" cap="none" spc="0" normalizeH="0" baseline="0" noProof="0" smtClean="0">
                <a:ln>
                  <a:noFill/>
                </a:ln>
                <a:noFill/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4" t="12107" r="18927" b="19025"/>
          <a:stretch/>
        </p:blipFill>
        <p:spPr/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490538" y="2799488"/>
            <a:ext cx="7261646" cy="1259024"/>
          </a:xfrm>
        </p:spPr>
        <p:txBody>
          <a:bodyPr/>
          <a:lstStyle/>
          <a:p>
            <a:pPr eaLnBrk="1" hangingPunct="1"/>
            <a:r>
              <a:rPr lang="en-GB" sz="3600" b="1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rPr>
              <a:t>Introduction to the software R</a:t>
            </a:r>
            <a:endParaRPr lang="en-US" sz="3600" b="1" dirty="0">
              <a:solidFill>
                <a:srgbClr val="154F98"/>
              </a:solidFill>
              <a:latin typeface="Arial Narrow" panose="020B0606020202030204" pitchFamily="34" charset="0"/>
              <a:cs typeface="Arial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C85B5D-DF3D-473E-983E-D576A2165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Advancing social justice, promoting decent work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F83B710-FB41-7A6E-75E4-CCCBD37148DA}"/>
              </a:ext>
            </a:extLst>
          </p:cNvPr>
          <p:cNvSpPr txBox="1">
            <a:spLocks/>
          </p:cNvSpPr>
          <p:nvPr/>
        </p:nvSpPr>
        <p:spPr>
          <a:xfrm>
            <a:off x="508772" y="4058512"/>
            <a:ext cx="8413774" cy="2280378"/>
          </a:xfrm>
        </p:spPr>
        <p:txBody>
          <a:bodyPr wrap="square" bIns="54000" anchor="t" anchorCtr="0"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F2650E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9pPr>
          </a:lstStyle>
          <a:p>
            <a:pPr>
              <a:lnSpc>
                <a:spcPct val="107000"/>
              </a:lnSpc>
            </a:pPr>
            <a:r>
              <a:rPr lang="en-GB" sz="2000" b="1" kern="0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rPr>
              <a:t>Series of webinars on  Strategies to calculate LFS sample weights using Calibration. </a:t>
            </a:r>
          </a:p>
          <a:p>
            <a:pPr>
              <a:lnSpc>
                <a:spcPct val="107000"/>
              </a:lnSpc>
            </a:pPr>
            <a:r>
              <a:rPr lang="en-GB" sz="2000" b="1" kern="0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rPr>
              <a:t>4-13 March 2025</a:t>
            </a:r>
          </a:p>
          <a:p>
            <a:pPr>
              <a:lnSpc>
                <a:spcPct val="107000"/>
              </a:lnSpc>
            </a:pPr>
            <a:endParaRPr lang="en-GB" sz="1800" b="1" kern="0" dirty="0">
              <a:solidFill>
                <a:srgbClr val="154F98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pPr>
              <a:lnSpc>
                <a:spcPct val="107000"/>
              </a:lnSpc>
            </a:pPr>
            <a:endParaRPr lang="en-GB" sz="1800" b="1" kern="0" dirty="0">
              <a:solidFill>
                <a:srgbClr val="154F98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pPr>
              <a:lnSpc>
                <a:spcPct val="107000"/>
              </a:lnSpc>
            </a:pPr>
            <a:r>
              <a:rPr lang="fi-FI" sz="1800" b="1" kern="0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rPr>
              <a:t>Antonio R. DISCENZA    </a:t>
            </a:r>
          </a:p>
          <a:p>
            <a:pPr>
              <a:lnSpc>
                <a:spcPct val="107000"/>
              </a:lnSpc>
            </a:pPr>
            <a:r>
              <a:rPr lang="en-GB" sz="1800" b="1" kern="0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rPr>
              <a:t>Senior Labour Statistician - ILO Department of Statistics - </a:t>
            </a:r>
            <a:r>
              <a:rPr lang="fi-FI" sz="1800" b="1" i="1" kern="0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discenza@ilo.org</a:t>
            </a:r>
            <a:r>
              <a:rPr lang="fi-FI" sz="1800" b="1" i="1" kern="0" dirty="0">
                <a:solidFill>
                  <a:srgbClr val="154F98"/>
                </a:solidFill>
                <a:latin typeface="Arial Narrow" panose="020B0606020202030204" pitchFamily="34" charset="0"/>
                <a:cs typeface="Arial" pitchFamily="34" charset="0"/>
              </a:rPr>
              <a:t> </a:t>
            </a:r>
            <a:endParaRPr lang="en-GB" sz="1800" b="1" i="1" kern="0" dirty="0">
              <a:solidFill>
                <a:srgbClr val="154F98"/>
              </a:solidFill>
              <a:latin typeface="Arial Narrow" panose="020B0606020202030204" pitchFamily="34" charset="0"/>
              <a:cs typeface="Arial" pitchFamily="34" charset="0"/>
            </a:endParaRPr>
          </a:p>
          <a:p>
            <a:pPr>
              <a:lnSpc>
                <a:spcPct val="107000"/>
              </a:lnSpc>
            </a:pPr>
            <a:endParaRPr lang="en-GB" sz="1800" b="1" kern="0" dirty="0">
              <a:solidFill>
                <a:srgbClr val="154F98"/>
              </a:solidFill>
              <a:latin typeface="Arial Narrow" panose="020B060602020203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571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fontAlgn="ctr"/>
            <a:r>
              <a:rPr lang="en-US" sz="2400" dirty="0"/>
              <a:t>Introduction to the software R</a:t>
            </a:r>
          </a:p>
          <a:p>
            <a:pPr marL="0" indent="0" fontAlgn="ctr">
              <a:buNone/>
            </a:pPr>
            <a:endParaRPr lang="en-US" sz="2400" dirty="0"/>
          </a:p>
          <a:p>
            <a:pPr fontAlgn="ctr"/>
            <a:r>
              <a:rPr lang="en-US" sz="2400" dirty="0"/>
              <a:t>Starting with R</a:t>
            </a:r>
          </a:p>
          <a:p>
            <a:pPr lvl="1" fontAlgn="ctr"/>
            <a:r>
              <a:rPr lang="en-US" sz="2200" dirty="0"/>
              <a:t>Introduction to R</a:t>
            </a:r>
          </a:p>
          <a:p>
            <a:pPr lvl="1" fontAlgn="ctr"/>
            <a:r>
              <a:rPr lang="en-US" sz="2200" dirty="0"/>
              <a:t>Scalars and vectors</a:t>
            </a:r>
          </a:p>
          <a:p>
            <a:pPr lvl="1" fontAlgn="ctr"/>
            <a:r>
              <a:rPr lang="en-US" sz="2200" dirty="0" err="1"/>
              <a:t>DataFrames</a:t>
            </a:r>
            <a:endParaRPr lang="en-US" sz="2200" dirty="0"/>
          </a:p>
          <a:p>
            <a:pPr lvl="1" fontAlgn="ctr"/>
            <a:r>
              <a:rPr lang="en-US" sz="2200" dirty="0"/>
              <a:t>Parameterization of paths and filenames</a:t>
            </a:r>
          </a:p>
          <a:p>
            <a:pPr fontAlgn="ctr"/>
            <a:endParaRPr lang="en-US" sz="2400" dirty="0"/>
          </a:p>
          <a:p>
            <a:pPr fontAlgn="ctr"/>
            <a:r>
              <a:rPr lang="en-US" sz="2400" dirty="0"/>
              <a:t>Installation and use of R packages </a:t>
            </a:r>
          </a:p>
          <a:p>
            <a:pPr font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97255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>
          <a:xfrm>
            <a:off x="1415480" y="2852936"/>
            <a:ext cx="10492747" cy="720080"/>
          </a:xfrm>
        </p:spPr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statistical</a:t>
            </a:r>
            <a:r>
              <a:rPr lang="it-IT" dirty="0"/>
              <a:t> software 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916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arrotondato 6"/>
          <p:cNvSpPr/>
          <p:nvPr/>
        </p:nvSpPr>
        <p:spPr>
          <a:xfrm>
            <a:off x="1127448" y="5373216"/>
            <a:ext cx="10585176" cy="792088"/>
          </a:xfrm>
          <a:prstGeom prst="roundRect">
            <a:avLst/>
          </a:prstGeom>
          <a:solidFill>
            <a:srgbClr val="F0D5DA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software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465163" cy="5040560"/>
          </a:xfrm>
        </p:spPr>
        <p:txBody>
          <a:bodyPr/>
          <a:lstStyle/>
          <a:p>
            <a:pPr marL="0" indent="0" fontAlgn="ctr">
              <a:buNone/>
            </a:pPr>
            <a:r>
              <a:rPr lang="en-US" sz="2400" dirty="0">
                <a:solidFill>
                  <a:srgbClr val="154F98"/>
                </a:solidFill>
              </a:rPr>
              <a:t>R is a free software environment for statistical computing and graphics. </a:t>
            </a:r>
          </a:p>
          <a:p>
            <a:pPr lvl="1" fontAlgn="ctr"/>
            <a:r>
              <a:rPr lang="en-US" sz="2000" dirty="0"/>
              <a:t>It compiles and runs on a wide variety of UNIX platforms, Windows and </a:t>
            </a:r>
            <a:r>
              <a:rPr lang="en-US" sz="2000" dirty="0" err="1"/>
              <a:t>MacOS</a:t>
            </a:r>
            <a:r>
              <a:rPr lang="en-US" sz="2000" dirty="0"/>
              <a:t>. </a:t>
            </a:r>
          </a:p>
          <a:p>
            <a:pPr marL="0" indent="0" fontAlgn="ctr">
              <a:spcBef>
                <a:spcPts val="0"/>
              </a:spcBef>
              <a:buNone/>
            </a:pPr>
            <a:endParaRPr lang="it-IT" dirty="0"/>
          </a:p>
          <a:p>
            <a:pPr marL="0" indent="0" fontAlgn="ctr">
              <a:spcBef>
                <a:spcPts val="0"/>
              </a:spcBef>
              <a:buNone/>
            </a:pPr>
            <a:r>
              <a:rPr lang="en-US" sz="2400" dirty="0">
                <a:solidFill>
                  <a:srgbClr val="154F98"/>
                </a:solidFill>
              </a:rPr>
              <a:t>R is an integrated suite </a:t>
            </a:r>
            <a:r>
              <a:rPr lang="en-US" dirty="0"/>
              <a:t>of software facilities for:</a:t>
            </a:r>
          </a:p>
          <a:p>
            <a:pPr lvl="1" fontAlgn="ctr"/>
            <a:r>
              <a:rPr lang="en-US" sz="2000" dirty="0">
                <a:solidFill>
                  <a:srgbClr val="154F98"/>
                </a:solidFill>
              </a:rPr>
              <a:t>data manipulation </a:t>
            </a:r>
            <a:r>
              <a:rPr lang="en-US" sz="2000" dirty="0"/>
              <a:t>(storage, handling)</a:t>
            </a:r>
          </a:p>
          <a:p>
            <a:pPr lvl="1" fontAlgn="ctr"/>
            <a:r>
              <a:rPr lang="en-US" sz="2000" dirty="0">
                <a:solidFill>
                  <a:srgbClr val="154F98"/>
                </a:solidFill>
              </a:rPr>
              <a:t>calculations </a:t>
            </a:r>
            <a:r>
              <a:rPr lang="en-US" sz="2000" dirty="0"/>
              <a:t>(on arrays and matrices), </a:t>
            </a:r>
          </a:p>
          <a:p>
            <a:pPr lvl="1" fontAlgn="ctr"/>
            <a:r>
              <a:rPr lang="en-US" sz="2000" dirty="0">
                <a:solidFill>
                  <a:srgbClr val="154F98"/>
                </a:solidFill>
              </a:rPr>
              <a:t>data analysis </a:t>
            </a:r>
            <a:r>
              <a:rPr lang="en-US" sz="2000" dirty="0"/>
              <a:t>(with a large collection of tools,  linear and nonlinear modelling, statistical tests, time series analysis, classification, clustering, etc. )</a:t>
            </a:r>
          </a:p>
          <a:p>
            <a:pPr lvl="1" fontAlgn="ctr"/>
            <a:r>
              <a:rPr lang="en-US" sz="2000" dirty="0">
                <a:solidFill>
                  <a:srgbClr val="154F98"/>
                </a:solidFill>
              </a:rPr>
              <a:t>graphical display </a:t>
            </a:r>
            <a:r>
              <a:rPr lang="en-US" sz="2000" dirty="0"/>
              <a:t>(on screen and hardcopy).</a:t>
            </a:r>
          </a:p>
          <a:p>
            <a:pPr marL="0" lvl="1" indent="0" fontAlgn="ctr">
              <a:spcBef>
                <a:spcPts val="0"/>
              </a:spcBef>
              <a:buNone/>
            </a:pPr>
            <a:endParaRPr lang="it-IT" sz="2000" dirty="0"/>
          </a:p>
          <a:p>
            <a:pPr marL="0" lvl="1" indent="0" fontAlgn="ctr">
              <a:spcBef>
                <a:spcPts val="0"/>
              </a:spcBef>
              <a:buNone/>
            </a:pPr>
            <a:r>
              <a:rPr lang="en-US" sz="2000" dirty="0"/>
              <a:t>R allows users to add </a:t>
            </a:r>
            <a:r>
              <a:rPr lang="en-US" sz="2000" dirty="0">
                <a:solidFill>
                  <a:srgbClr val="154F98"/>
                </a:solidFill>
              </a:rPr>
              <a:t>additional functionality by defining new functions.</a:t>
            </a:r>
          </a:p>
          <a:p>
            <a:pPr marL="0" lvl="1" indent="0" fontAlgn="ctr">
              <a:spcBef>
                <a:spcPts val="0"/>
              </a:spcBef>
              <a:buNone/>
            </a:pPr>
            <a:endParaRPr lang="en-US" sz="2000" dirty="0"/>
          </a:p>
          <a:p>
            <a:pPr marL="0" lvl="1" indent="0" fontAlgn="ctr">
              <a:spcBef>
                <a:spcPts val="0"/>
              </a:spcBef>
              <a:buNone/>
            </a:pPr>
            <a:r>
              <a:rPr lang="en-US" sz="2000" dirty="0">
                <a:solidFill>
                  <a:srgbClr val="154F98"/>
                </a:solidFill>
              </a:rPr>
              <a:t>Functions for a wide range of modern statistics have been developed in </a:t>
            </a:r>
            <a:r>
              <a:rPr lang="en-US" sz="2000" b="1" dirty="0">
                <a:solidFill>
                  <a:srgbClr val="154F98"/>
                </a:solidFill>
              </a:rPr>
              <a:t>packages</a:t>
            </a:r>
            <a:r>
              <a:rPr lang="en-US" sz="2000" dirty="0">
                <a:solidFill>
                  <a:srgbClr val="154F98"/>
                </a:solidFill>
              </a:rPr>
              <a:t> by R contributors and </a:t>
            </a:r>
            <a:r>
              <a:rPr lang="en-US" sz="2000" b="1" dirty="0">
                <a:solidFill>
                  <a:srgbClr val="154F98"/>
                </a:solidFill>
              </a:rPr>
              <a:t>made available for free </a:t>
            </a:r>
            <a:r>
              <a:rPr lang="en-US" sz="2000" dirty="0">
                <a:solidFill>
                  <a:srgbClr val="154F98"/>
                </a:solidFill>
              </a:rPr>
              <a:t>to the R community</a:t>
            </a:r>
          </a:p>
        </p:txBody>
      </p:sp>
    </p:spTree>
    <p:extLst>
      <p:ext uri="{BB962C8B-B14F-4D97-AF65-F5344CB8AC3E}">
        <p14:creationId xmlns:p14="http://schemas.microsoft.com/office/powerpoint/2010/main" val="274521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Comprehensive R Archive Network (CRAN)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465163" cy="4968552"/>
          </a:xfrm>
        </p:spPr>
        <p:txBody>
          <a:bodyPr/>
          <a:lstStyle/>
          <a:p>
            <a:pPr marL="0" indent="0" fontAlgn="ctr">
              <a:spcBef>
                <a:spcPts val="0"/>
              </a:spcBef>
              <a:buNone/>
            </a:pPr>
            <a:r>
              <a:rPr lang="en-US" sz="2200" dirty="0">
                <a:solidFill>
                  <a:srgbClr val="154F98"/>
                </a:solidFill>
              </a:rPr>
              <a:t>CRAN is a network of servers </a:t>
            </a:r>
            <a:r>
              <a:rPr lang="en-US" sz="2200" dirty="0"/>
              <a:t>around</a:t>
            </a:r>
            <a:r>
              <a:rPr lang="it-IT" sz="2200" dirty="0"/>
              <a:t> the world </a:t>
            </a:r>
            <a:r>
              <a:rPr lang="it-IT" sz="2200" dirty="0" err="1"/>
              <a:t>that</a:t>
            </a:r>
            <a:r>
              <a:rPr lang="it-IT" sz="2200" dirty="0"/>
              <a:t> </a:t>
            </a:r>
            <a:r>
              <a:rPr lang="it-IT" sz="2200" dirty="0" err="1"/>
              <a:t>store</a:t>
            </a:r>
            <a:r>
              <a:rPr lang="it-IT" sz="2200" dirty="0"/>
              <a:t> code and </a:t>
            </a:r>
            <a:r>
              <a:rPr lang="it-IT" sz="2200" dirty="0" err="1"/>
              <a:t>documentation</a:t>
            </a:r>
            <a:r>
              <a:rPr lang="it-IT" sz="2200" dirty="0"/>
              <a:t> for  R</a:t>
            </a:r>
          </a:p>
          <a:p>
            <a:pPr marL="0" indent="0" fontAlgn="ctr">
              <a:spcBef>
                <a:spcPts val="0"/>
              </a:spcBef>
              <a:buNone/>
            </a:pPr>
            <a:endParaRPr lang="en-US" sz="2200" dirty="0"/>
          </a:p>
          <a:p>
            <a:pPr lvl="1" fontAlgn="ctr"/>
            <a:r>
              <a:rPr lang="en-US" sz="2000" dirty="0">
                <a:solidFill>
                  <a:srgbClr val="154F98"/>
                </a:solidFill>
              </a:rPr>
              <a:t>Official website</a:t>
            </a:r>
            <a:r>
              <a:rPr lang="en-US" sz="2000" dirty="0">
                <a:ln>
                  <a:solidFill>
                    <a:srgbClr val="154F98"/>
                  </a:solidFill>
                </a:ln>
              </a:rPr>
              <a:t>    </a:t>
            </a:r>
          </a:p>
          <a:p>
            <a:pPr marL="0" indent="0" algn="ctr" fontAlgn="ctr">
              <a:spcBef>
                <a:spcPts val="0"/>
              </a:spcBef>
              <a:buNone/>
            </a:pPr>
            <a:r>
              <a:rPr lang="en-US" sz="2200" dirty="0">
                <a:hlinkClick r:id="rId2"/>
              </a:rPr>
              <a:t>https://cran.r-project.org/</a:t>
            </a:r>
            <a:r>
              <a:rPr lang="en-US" sz="2200" dirty="0"/>
              <a:t> </a:t>
            </a:r>
          </a:p>
          <a:p>
            <a:pPr marL="0" indent="0" fontAlgn="ctr">
              <a:spcBef>
                <a:spcPts val="0"/>
              </a:spcBef>
              <a:buNone/>
            </a:pPr>
            <a:endParaRPr lang="it-IT" sz="2200" dirty="0"/>
          </a:p>
          <a:p>
            <a:pPr lvl="1" fontAlgn="ctr"/>
            <a:r>
              <a:rPr lang="en-US" sz="2000" dirty="0">
                <a:solidFill>
                  <a:srgbClr val="154F98"/>
                </a:solidFill>
              </a:rPr>
              <a:t>R binaries to install R on windows for the first time</a:t>
            </a:r>
          </a:p>
          <a:p>
            <a:pPr marL="0" indent="0" algn="ctr" fontAlgn="ctr">
              <a:spcBef>
                <a:spcPts val="0"/>
              </a:spcBef>
              <a:buNone/>
            </a:pPr>
            <a:endParaRPr lang="en-US" sz="2200" dirty="0">
              <a:hlinkClick r:id="" action="ppaction://noaction"/>
            </a:endParaRPr>
          </a:p>
          <a:p>
            <a:pPr marL="0" indent="0" algn="ctr" fontAlgn="ctr">
              <a:spcBef>
                <a:spcPts val="0"/>
              </a:spcBef>
              <a:buNone/>
            </a:pPr>
            <a:r>
              <a:rPr lang="en-US" sz="2200" dirty="0">
                <a:hlinkClick r:id="" action="ppaction://noaction"/>
              </a:rPr>
              <a:t>https</a:t>
            </a:r>
            <a:r>
              <a:rPr lang="en-US" sz="2200" dirty="0">
                <a:hlinkClick r:id="rId3"/>
              </a:rPr>
              <a:t>://cran.r-project.org/bin/windows/base/</a:t>
            </a:r>
            <a:r>
              <a:rPr lang="en-US" sz="2200" dirty="0"/>
              <a:t> </a:t>
            </a:r>
          </a:p>
          <a:p>
            <a:pPr marL="0" indent="0" fontAlgn="ctr">
              <a:spcBef>
                <a:spcPts val="0"/>
              </a:spcBef>
              <a:buNone/>
            </a:pPr>
            <a:endParaRPr lang="it-IT" sz="1200" dirty="0">
              <a:hlinkClick r:id="rId4"/>
            </a:endParaRPr>
          </a:p>
        </p:txBody>
      </p:sp>
    </p:spTree>
    <p:extLst>
      <p:ext uri="{BB962C8B-B14F-4D97-AF65-F5344CB8AC3E}">
        <p14:creationId xmlns:p14="http://schemas.microsoft.com/office/powerpoint/2010/main" val="82209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Help on the Internet - free </a:t>
            </a:r>
            <a:r>
              <a:rPr lang="en-US" dirty="0" err="1"/>
              <a:t>resourses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271464" y="1340768"/>
            <a:ext cx="10465163" cy="5256584"/>
          </a:xfrm>
        </p:spPr>
        <p:txBody>
          <a:bodyPr/>
          <a:lstStyle/>
          <a:p>
            <a:pPr marL="0" indent="0" fontAlgn="ctr">
              <a:spcBef>
                <a:spcPts val="0"/>
              </a:spcBef>
              <a:buNone/>
            </a:pPr>
            <a:r>
              <a:rPr lang="en-US" dirty="0"/>
              <a:t>The </a:t>
            </a:r>
            <a:r>
              <a:rPr lang="en-US" b="1" dirty="0">
                <a:solidFill>
                  <a:srgbClr val="154F98"/>
                </a:solidFill>
              </a:rPr>
              <a:t>official R Manuals</a:t>
            </a:r>
            <a:r>
              <a:rPr lang="en-US" dirty="0"/>
              <a:t>:    </a:t>
            </a:r>
          </a:p>
          <a:p>
            <a:pPr marL="0" indent="0" algn="ctr" fontAlgn="ctr">
              <a:spcBef>
                <a:spcPts val="0"/>
              </a:spcBef>
              <a:buNone/>
            </a:pPr>
            <a:r>
              <a:rPr lang="it-IT" sz="1800" dirty="0">
                <a:hlinkClick r:id="rId2"/>
              </a:rPr>
              <a:t>https://cran.r-project.org/manuals.html</a:t>
            </a:r>
            <a:endParaRPr lang="it-IT" sz="1800" dirty="0"/>
          </a:p>
          <a:p>
            <a:pPr marL="0" indent="0" algn="ctr" fontAlgn="ctr">
              <a:spcBef>
                <a:spcPts val="0"/>
              </a:spcBef>
              <a:buNone/>
            </a:pPr>
            <a:endParaRPr lang="it-IT" dirty="0"/>
          </a:p>
          <a:p>
            <a:pPr marL="0" indent="0" fontAlgn="ctr">
              <a:spcBef>
                <a:spcPts val="0"/>
              </a:spcBef>
              <a:buNone/>
            </a:pPr>
            <a:endParaRPr lang="en-US" sz="1100" dirty="0"/>
          </a:p>
          <a:p>
            <a:pPr marL="0" indent="0" fontAlgn="ctr">
              <a:spcBef>
                <a:spcPts val="0"/>
              </a:spcBef>
              <a:buNone/>
            </a:pPr>
            <a:r>
              <a:rPr lang="en-US" dirty="0"/>
              <a:t>Contributed documentation (</a:t>
            </a:r>
            <a:r>
              <a:rPr lang="en-US" b="1" dirty="0">
                <a:solidFill>
                  <a:srgbClr val="154F98"/>
                </a:solidFill>
              </a:rPr>
              <a:t>Manuals, tutorials</a:t>
            </a:r>
            <a:r>
              <a:rPr lang="en-US" dirty="0"/>
              <a:t>, etc.)  in different languages, provided by users of R </a:t>
            </a:r>
          </a:p>
          <a:p>
            <a:pPr marL="0" indent="0" algn="ctr" fontAlgn="ctr">
              <a:spcBef>
                <a:spcPts val="0"/>
              </a:spcBef>
              <a:buNone/>
            </a:pPr>
            <a:r>
              <a:rPr lang="en-US" sz="1800" dirty="0">
                <a:hlinkClick r:id="rId3"/>
              </a:rPr>
              <a:t>https://cran.r-project.org/other-docs.html</a:t>
            </a:r>
            <a:r>
              <a:rPr lang="en-US" sz="1800" dirty="0"/>
              <a:t> </a:t>
            </a:r>
          </a:p>
          <a:p>
            <a:pPr marL="0" indent="0" fontAlgn="ctr">
              <a:spcBef>
                <a:spcPts val="0"/>
              </a:spcBef>
              <a:buNone/>
            </a:pPr>
            <a:endParaRPr lang="en-US" dirty="0"/>
          </a:p>
          <a:p>
            <a:pPr marL="0" indent="0" fontAlgn="ctr">
              <a:spcBef>
                <a:spcPts val="0"/>
              </a:spcBef>
              <a:buNone/>
            </a:pPr>
            <a:r>
              <a:rPr lang="en-US" dirty="0"/>
              <a:t>CRAN Task Views </a:t>
            </a:r>
          </a:p>
          <a:p>
            <a:pPr lvl="1" fontAlgn="ctr">
              <a:spcBef>
                <a:spcPts val="0"/>
              </a:spcBef>
            </a:pPr>
            <a:r>
              <a:rPr lang="en-US" sz="2000" b="1" dirty="0">
                <a:solidFill>
                  <a:srgbClr val="154F98"/>
                </a:solidFill>
              </a:rPr>
              <a:t>guidance on packages </a:t>
            </a:r>
            <a:r>
              <a:rPr lang="en-US" sz="2000" dirty="0"/>
              <a:t>on CRAN relevant </a:t>
            </a:r>
            <a:r>
              <a:rPr lang="en-US" sz="2000" b="1" dirty="0">
                <a:solidFill>
                  <a:srgbClr val="154F98"/>
                </a:solidFill>
              </a:rPr>
              <a:t>for tasks related to a certain topic</a:t>
            </a:r>
            <a:r>
              <a:rPr lang="en-US" sz="2000" b="1" dirty="0"/>
              <a:t>.</a:t>
            </a:r>
          </a:p>
          <a:p>
            <a:pPr marL="0" indent="0" algn="ctr" fontAlgn="ctr">
              <a:spcBef>
                <a:spcPts val="0"/>
              </a:spcBef>
              <a:buNone/>
            </a:pPr>
            <a:endParaRPr lang="en-US" sz="1000" dirty="0">
              <a:hlinkClick r:id="rId4"/>
            </a:endParaRPr>
          </a:p>
          <a:p>
            <a:pPr marL="0" indent="0" algn="ctr" fontAlgn="ctr">
              <a:spcBef>
                <a:spcPts val="0"/>
              </a:spcBef>
              <a:buNone/>
            </a:pPr>
            <a:r>
              <a:rPr lang="en-US" sz="1800" dirty="0">
                <a:hlinkClick r:id="rId4"/>
              </a:rPr>
              <a:t>https://cran.r-project.org/web/views/</a:t>
            </a:r>
            <a:r>
              <a:rPr lang="en-US" sz="1800" dirty="0"/>
              <a:t> </a:t>
            </a:r>
          </a:p>
          <a:p>
            <a:pPr marL="0" indent="0" algn="ctr" fontAlgn="ctr">
              <a:spcBef>
                <a:spcPts val="0"/>
              </a:spcBef>
              <a:buNone/>
            </a:pPr>
            <a:endParaRPr lang="it-IT" sz="2400" dirty="0"/>
          </a:p>
          <a:p>
            <a:pPr marL="0" indent="0" fontAlgn="ctr">
              <a:spcBef>
                <a:spcPts val="0"/>
              </a:spcBef>
              <a:buNone/>
            </a:pPr>
            <a:r>
              <a:rPr lang="en-US" dirty="0"/>
              <a:t>CRAN Task View: </a:t>
            </a:r>
            <a:r>
              <a:rPr lang="en-US" b="1" dirty="0">
                <a:solidFill>
                  <a:srgbClr val="154F98"/>
                </a:solidFill>
              </a:rPr>
              <a:t>Official Statistics &amp; Survey Statistics</a:t>
            </a:r>
          </a:p>
          <a:p>
            <a:pPr lvl="1" fontAlgn="ctr">
              <a:spcBef>
                <a:spcPts val="0"/>
              </a:spcBef>
            </a:pPr>
            <a:r>
              <a:rPr lang="en-US" sz="2000" dirty="0"/>
              <a:t> list of packages with methods typically used in official statistics and survey statistics.</a:t>
            </a:r>
          </a:p>
          <a:p>
            <a:pPr marL="0" indent="0" algn="ctr" fontAlgn="ctr">
              <a:spcBef>
                <a:spcPts val="0"/>
              </a:spcBef>
              <a:buNone/>
            </a:pPr>
            <a:endParaRPr lang="it-IT" sz="1000" dirty="0">
              <a:hlinkClick r:id="rId2"/>
            </a:endParaRPr>
          </a:p>
          <a:p>
            <a:pPr marL="0" indent="0" algn="ctr" fontAlgn="ctr">
              <a:spcBef>
                <a:spcPts val="0"/>
              </a:spcBef>
              <a:buNone/>
            </a:pPr>
            <a:r>
              <a:rPr lang="it-IT" sz="1800" dirty="0">
                <a:hlinkClick r:id="rId2"/>
              </a:rPr>
              <a:t>https://cran.r-project.org/web/views/OfficialStatistics.html</a:t>
            </a:r>
          </a:p>
          <a:p>
            <a:pPr marL="0" indent="0" fontAlgn="ctr">
              <a:spcBef>
                <a:spcPts val="0"/>
              </a:spcBef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1014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>
          <a:xfrm>
            <a:off x="623392" y="0"/>
            <a:ext cx="10492747" cy="720080"/>
          </a:xfrm>
        </p:spPr>
        <p:txBody>
          <a:bodyPr/>
          <a:lstStyle/>
          <a:p>
            <a:r>
              <a:rPr lang="en-US" dirty="0"/>
              <a:t>R </a:t>
            </a:r>
            <a:r>
              <a:rPr lang="en-US" dirty="0" err="1"/>
              <a:t>Gui</a:t>
            </a:r>
            <a:endParaRPr lang="en-US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2"/>
          <a:srcRect l="50006" b="4801"/>
          <a:stretch/>
        </p:blipFill>
        <p:spPr>
          <a:xfrm>
            <a:off x="911424" y="548680"/>
            <a:ext cx="10463658" cy="5603834"/>
          </a:xfrm>
          <a:prstGeom prst="rect">
            <a:avLst/>
          </a:prstGeom>
        </p:spPr>
      </p:pic>
      <p:sp>
        <p:nvSpPr>
          <p:cNvPr id="8" name="Fumetto 2 7"/>
          <p:cNvSpPr/>
          <p:nvPr/>
        </p:nvSpPr>
        <p:spPr>
          <a:xfrm>
            <a:off x="8616280" y="1268760"/>
            <a:ext cx="1944216" cy="936104"/>
          </a:xfrm>
          <a:prstGeom prst="wedgeRoundRectCallout">
            <a:avLst>
              <a:gd name="adj1" fmla="val -79495"/>
              <a:gd name="adj2" fmla="val -924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154F98"/>
                </a:solidFill>
              </a:rPr>
              <a:t>Scripts </a:t>
            </a:r>
          </a:p>
          <a:p>
            <a:pPr algn="ctr"/>
            <a:r>
              <a:rPr lang="it-IT" dirty="0">
                <a:solidFill>
                  <a:srgbClr val="154F98"/>
                </a:solidFill>
              </a:rPr>
              <a:t>(</a:t>
            </a:r>
            <a:r>
              <a:rPr lang="it-IT" dirty="0" err="1">
                <a:solidFill>
                  <a:srgbClr val="154F98"/>
                </a:solidFill>
              </a:rPr>
              <a:t>syntax</a:t>
            </a:r>
            <a:r>
              <a:rPr lang="it-IT" dirty="0">
                <a:solidFill>
                  <a:srgbClr val="154F98"/>
                </a:solidFill>
              </a:rPr>
              <a:t> file)</a:t>
            </a:r>
            <a:endParaRPr lang="en-GB" dirty="0">
              <a:solidFill>
                <a:srgbClr val="154F98"/>
              </a:solidFill>
            </a:endParaRPr>
          </a:p>
        </p:txBody>
      </p:sp>
      <p:sp>
        <p:nvSpPr>
          <p:cNvPr id="9" name="Fumetto 2 8"/>
          <p:cNvSpPr/>
          <p:nvPr/>
        </p:nvSpPr>
        <p:spPr>
          <a:xfrm>
            <a:off x="6672064" y="5301208"/>
            <a:ext cx="3744416" cy="720080"/>
          </a:xfrm>
          <a:prstGeom prst="wedgeRoundRectCallout">
            <a:avLst>
              <a:gd name="adj1" fmla="val -94448"/>
              <a:gd name="adj2" fmla="val -28575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154F98"/>
                </a:solidFill>
              </a:rPr>
              <a:t>R Console.</a:t>
            </a:r>
          </a:p>
          <a:p>
            <a:pPr algn="ctr"/>
            <a:r>
              <a:rPr lang="it-IT" dirty="0">
                <a:solidFill>
                  <a:srgbClr val="154F98"/>
                </a:solidFill>
              </a:rPr>
              <a:t>Output and </a:t>
            </a:r>
            <a:r>
              <a:rPr lang="it-IT" dirty="0" err="1">
                <a:solidFill>
                  <a:srgbClr val="154F98"/>
                </a:solidFill>
              </a:rPr>
              <a:t>command</a:t>
            </a:r>
            <a:r>
              <a:rPr lang="it-IT" dirty="0">
                <a:solidFill>
                  <a:srgbClr val="154F98"/>
                </a:solidFill>
              </a:rPr>
              <a:t> line</a:t>
            </a:r>
            <a:endParaRPr lang="en-GB" dirty="0">
              <a:solidFill>
                <a:srgbClr val="154F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353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/>
          <p:cNvPicPr>
            <a:picLocks noChangeAspect="1"/>
          </p:cNvPicPr>
          <p:nvPr/>
        </p:nvPicPr>
        <p:blipFill rotWithShape="1">
          <a:blip r:embed="rId2"/>
          <a:srcRect l="49998" r="1" b="4200"/>
          <a:stretch/>
        </p:blipFill>
        <p:spPr>
          <a:xfrm>
            <a:off x="1271464" y="720080"/>
            <a:ext cx="10213315" cy="5503540"/>
          </a:xfrm>
          <a:prstGeom prst="rect">
            <a:avLst/>
          </a:prstGeom>
        </p:spPr>
      </p:pic>
      <p:sp>
        <p:nvSpPr>
          <p:cNvPr id="5" name="Titolo 4"/>
          <p:cNvSpPr>
            <a:spLocks noGrp="1"/>
          </p:cNvSpPr>
          <p:nvPr>
            <p:ph type="title"/>
          </p:nvPr>
        </p:nvSpPr>
        <p:spPr>
          <a:xfrm>
            <a:off x="623392" y="0"/>
            <a:ext cx="10492747" cy="720080"/>
          </a:xfrm>
        </p:spPr>
        <p:txBody>
          <a:bodyPr/>
          <a:lstStyle/>
          <a:p>
            <a:r>
              <a:rPr lang="en-US" dirty="0"/>
              <a:t>R Studio</a:t>
            </a:r>
          </a:p>
        </p:txBody>
      </p:sp>
      <p:sp>
        <p:nvSpPr>
          <p:cNvPr id="9" name="Fumetto 2 8"/>
          <p:cNvSpPr/>
          <p:nvPr/>
        </p:nvSpPr>
        <p:spPr>
          <a:xfrm>
            <a:off x="2063552" y="3212976"/>
            <a:ext cx="3744416" cy="1512168"/>
          </a:xfrm>
          <a:prstGeom prst="wedgeRoundRectCallout">
            <a:avLst>
              <a:gd name="adj1" fmla="val 53855"/>
              <a:gd name="adj2" fmla="val -88784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154F98"/>
                </a:solidFill>
              </a:rPr>
              <a:t>An integrated development environment for R</a:t>
            </a:r>
          </a:p>
        </p:txBody>
      </p:sp>
    </p:spTree>
    <p:extLst>
      <p:ext uri="{BB962C8B-B14F-4D97-AF65-F5344CB8AC3E}">
        <p14:creationId xmlns:p14="http://schemas.microsoft.com/office/powerpoint/2010/main" val="2805622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>
          <a:xfrm>
            <a:off x="1415480" y="2852936"/>
            <a:ext cx="10492747" cy="720080"/>
          </a:xfrm>
        </p:spPr>
        <p:txBody>
          <a:bodyPr/>
          <a:lstStyle/>
          <a:p>
            <a:r>
              <a:rPr lang="it-IT" dirty="0" err="1"/>
              <a:t>Starting</a:t>
            </a:r>
            <a:r>
              <a:rPr lang="it-IT" dirty="0"/>
              <a:t> with 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843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Starting</a:t>
            </a:r>
            <a:r>
              <a:rPr lang="it-IT" dirty="0"/>
              <a:t> with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465163" cy="5112568"/>
          </a:xfrm>
        </p:spPr>
        <p:txBody>
          <a:bodyPr/>
          <a:lstStyle/>
          <a:p>
            <a:pPr fontAlgn="ctr">
              <a:spcBef>
                <a:spcPts val="0"/>
              </a:spcBef>
              <a:spcAft>
                <a:spcPts val="1200"/>
              </a:spcAft>
            </a:pPr>
            <a:r>
              <a:rPr lang="it-IT" sz="2400" dirty="0" err="1"/>
              <a:t>There</a:t>
            </a:r>
            <a:r>
              <a:rPr lang="it-IT" sz="2400" dirty="0"/>
              <a:t> are </a:t>
            </a:r>
            <a:r>
              <a:rPr lang="it-IT" sz="2400" dirty="0" err="1"/>
              <a:t>plenty</a:t>
            </a:r>
            <a:r>
              <a:rPr lang="it-IT" sz="2400" dirty="0"/>
              <a:t> of books </a:t>
            </a:r>
            <a:r>
              <a:rPr lang="it-IT" sz="2400" dirty="0" err="1"/>
              <a:t>explaining</a:t>
            </a:r>
            <a:r>
              <a:rPr lang="it-IT" sz="2400" dirty="0"/>
              <a:t> </a:t>
            </a:r>
            <a:r>
              <a:rPr lang="it-IT" sz="2400" dirty="0" err="1"/>
              <a:t>how</a:t>
            </a:r>
            <a:r>
              <a:rPr lang="it-IT" sz="2400" dirty="0"/>
              <a:t> to </a:t>
            </a:r>
            <a:r>
              <a:rPr lang="it-IT" sz="2400" dirty="0" err="1"/>
              <a:t>program</a:t>
            </a:r>
            <a:r>
              <a:rPr lang="it-IT" sz="2400" dirty="0"/>
              <a:t> in R</a:t>
            </a:r>
          </a:p>
          <a:p>
            <a:pPr fontAlgn="ctr"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 very useful online book to start learning R</a:t>
            </a:r>
          </a:p>
          <a:p>
            <a:pPr marL="0" indent="0" font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    An Introduction to R </a:t>
            </a:r>
          </a:p>
          <a:p>
            <a:pPr marL="0" indent="0" font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     </a:t>
            </a:r>
            <a:r>
              <a:rPr lang="en-US" sz="1600" i="1" dirty="0"/>
              <a:t>Alex Douglas, Deon </a:t>
            </a:r>
            <a:r>
              <a:rPr lang="en-US" sz="1600" i="1" dirty="0" err="1"/>
              <a:t>Roos</a:t>
            </a:r>
            <a:r>
              <a:rPr lang="en-US" sz="1600" i="1" dirty="0"/>
              <a:t>, Francesca Mancini, Ana </a:t>
            </a:r>
            <a:r>
              <a:rPr lang="en-US" sz="1600" i="1" dirty="0" err="1"/>
              <a:t>Couto</a:t>
            </a:r>
            <a:r>
              <a:rPr lang="en-US" sz="1600" i="1" dirty="0"/>
              <a:t> &amp; David </a:t>
            </a:r>
            <a:r>
              <a:rPr lang="en-US" sz="1600" i="1" dirty="0" err="1"/>
              <a:t>Lusseau</a:t>
            </a:r>
            <a:r>
              <a:rPr lang="en-US" sz="1600" dirty="0"/>
              <a:t>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/>
              <a:t>      September 23, 2022</a:t>
            </a:r>
          </a:p>
          <a:p>
            <a:pPr marL="0" indent="0">
              <a:buNone/>
            </a:pPr>
            <a:endParaRPr lang="it-IT" i="1" dirty="0"/>
          </a:p>
          <a:p>
            <a:pPr marL="0" indent="0">
              <a:buNone/>
            </a:pPr>
            <a:r>
              <a:rPr lang="it-IT" i="1" dirty="0"/>
              <a:t>Made </a:t>
            </a:r>
            <a:r>
              <a:rPr lang="it-IT" i="1" dirty="0" err="1"/>
              <a:t>available</a:t>
            </a:r>
            <a:r>
              <a:rPr lang="it-IT" i="1" dirty="0"/>
              <a:t> for free by the </a:t>
            </a:r>
            <a:r>
              <a:rPr lang="it-IT" i="1" dirty="0" err="1"/>
              <a:t>authors</a:t>
            </a:r>
            <a:r>
              <a:rPr lang="it-IT" i="1" dirty="0"/>
              <a:t> on the web </a:t>
            </a:r>
            <a:r>
              <a:rPr lang="it-IT" i="1" dirty="0" err="1"/>
              <a:t>at</a:t>
            </a:r>
            <a:r>
              <a:rPr lang="it-IT" i="1" dirty="0"/>
              <a:t> the </a:t>
            </a:r>
            <a:r>
              <a:rPr lang="it-IT" i="1" dirty="0" err="1"/>
              <a:t>following</a:t>
            </a:r>
            <a:r>
              <a:rPr lang="it-IT" i="1" dirty="0"/>
              <a:t> link  </a:t>
            </a:r>
            <a:r>
              <a:rPr lang="it-IT" i="1" dirty="0">
                <a:hlinkClick r:id="rId2"/>
              </a:rPr>
              <a:t>https://intro2r.com</a:t>
            </a:r>
            <a:endParaRPr lang="it-IT" i="1" dirty="0"/>
          </a:p>
          <a:p>
            <a:pPr marL="0" indent="0">
              <a:buNone/>
            </a:pPr>
            <a:endParaRPr lang="it-IT" sz="1800" i="1" dirty="0"/>
          </a:p>
          <a:p>
            <a:pPr marL="0" indent="0" font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From the preface [</a:t>
            </a:r>
            <a:r>
              <a:rPr lang="en-US" sz="1800" i="1" dirty="0">
                <a:solidFill>
                  <a:srgbClr val="154F98"/>
                </a:solidFill>
              </a:rPr>
              <a:t>The aim of this book is to introduce you to using R … to help you climb the initial learning curve and provide you with the basic skills and experience (and confidence!) to enable you to further your experience in using R. … Our book assumes that you have no previous experience of using either R or </a:t>
            </a:r>
            <a:r>
              <a:rPr lang="en-US" sz="1800" i="1" dirty="0" err="1">
                <a:solidFill>
                  <a:srgbClr val="154F98"/>
                </a:solidFill>
              </a:rPr>
              <a:t>RStudio</a:t>
            </a:r>
            <a:r>
              <a:rPr lang="en-US" sz="1800" i="1" dirty="0">
                <a:solidFill>
                  <a:srgbClr val="154F98"/>
                </a:solidFill>
              </a:rPr>
              <a:t> and no background in programming </a:t>
            </a:r>
            <a:r>
              <a:rPr lang="en-US" sz="1800" dirty="0"/>
              <a:t>]</a:t>
            </a:r>
            <a:endParaRPr lang="it-IT" sz="1800" dirty="0"/>
          </a:p>
          <a:p>
            <a:pPr fontAlgn="ctr">
              <a:spcBef>
                <a:spcPts val="0"/>
              </a:spcBef>
              <a:spcAft>
                <a:spcPts val="1200"/>
              </a:spcAft>
            </a:pPr>
            <a:r>
              <a:rPr lang="en-US" sz="1800" dirty="0"/>
              <a:t>We will be using some content from this book to recall the basic elements or R</a:t>
            </a:r>
            <a:endParaRPr lang="it-IT" sz="1800" dirty="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336" y="1901919"/>
            <a:ext cx="1206324" cy="170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80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 </a:t>
            </a:r>
            <a:r>
              <a:rPr lang="it-IT" dirty="0" err="1"/>
              <a:t>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465163" cy="4968552"/>
          </a:xfrm>
        </p:spPr>
        <p:txBody>
          <a:bodyPr/>
          <a:lstStyle/>
          <a:p>
            <a:pPr fontAlgn="ctr">
              <a:spcBef>
                <a:spcPts val="0"/>
              </a:spcBef>
              <a:spcAft>
                <a:spcPts val="1200"/>
              </a:spcAft>
            </a:pPr>
            <a:r>
              <a:rPr lang="en-US" i="1" dirty="0"/>
              <a:t>“…everything in R is an object. These objects can be almost anything, from a </a:t>
            </a:r>
            <a:r>
              <a:rPr lang="en-US" i="1" dirty="0">
                <a:solidFill>
                  <a:srgbClr val="154F98"/>
                </a:solidFill>
              </a:rPr>
              <a:t>single number </a:t>
            </a:r>
            <a:r>
              <a:rPr lang="en-US" i="1" dirty="0"/>
              <a:t>or </a:t>
            </a:r>
            <a:r>
              <a:rPr lang="en-US" i="1" dirty="0">
                <a:solidFill>
                  <a:srgbClr val="154F98"/>
                </a:solidFill>
              </a:rPr>
              <a:t>character string </a:t>
            </a:r>
            <a:r>
              <a:rPr lang="en-US" i="1" dirty="0"/>
              <a:t>(like a word) to highly complex structures like the output of a plot, </a:t>
            </a:r>
            <a:r>
              <a:rPr lang="en-US" i="1" dirty="0">
                <a:solidFill>
                  <a:srgbClr val="154F98"/>
                </a:solidFill>
              </a:rPr>
              <a:t>a summary of your statistical analysis </a:t>
            </a:r>
            <a:r>
              <a:rPr lang="en-US" i="1" dirty="0"/>
              <a:t>or </a:t>
            </a:r>
            <a:r>
              <a:rPr lang="en-US" i="1" dirty="0">
                <a:solidFill>
                  <a:srgbClr val="154F98"/>
                </a:solidFill>
              </a:rPr>
              <a:t>a set of R commands that perform a specific task</a:t>
            </a:r>
            <a:r>
              <a:rPr lang="en-US" i="1" dirty="0"/>
              <a:t>”.</a:t>
            </a:r>
          </a:p>
          <a:p>
            <a:pPr marL="342900" lvl="1" indent="-342900" fontAlgn="ctr">
              <a:spcBef>
                <a:spcPts val="0"/>
              </a:spcBef>
              <a:spcAft>
                <a:spcPts val="1200"/>
              </a:spcAft>
              <a:buSzTx/>
            </a:pPr>
            <a:r>
              <a:rPr lang="it-IT" sz="2000" dirty="0" err="1"/>
              <a:t>We</a:t>
            </a:r>
            <a:r>
              <a:rPr lang="it-IT" sz="2000" dirty="0"/>
              <a:t> can </a:t>
            </a:r>
            <a:r>
              <a:rPr lang="it-IT" sz="2000" dirty="0" err="1"/>
              <a:t>have</a:t>
            </a:r>
            <a:r>
              <a:rPr lang="it-IT" sz="2000" dirty="0"/>
              <a:t> </a:t>
            </a:r>
            <a:r>
              <a:rPr lang="it-IT" sz="2000" dirty="0" err="1"/>
              <a:t>different</a:t>
            </a:r>
            <a:r>
              <a:rPr lang="it-IT" sz="2000" dirty="0"/>
              <a:t> </a:t>
            </a:r>
            <a:r>
              <a:rPr lang="it-IT" sz="2000" dirty="0" err="1"/>
              <a:t>type</a:t>
            </a:r>
            <a:r>
              <a:rPr lang="it-IT" sz="2000" dirty="0"/>
              <a:t> of data: </a:t>
            </a:r>
          </a:p>
          <a:p>
            <a:pPr marL="742950" lvl="2" indent="-342900" fontAlgn="ctr">
              <a:spcBef>
                <a:spcPts val="0"/>
              </a:spcBef>
              <a:spcAft>
                <a:spcPts val="1200"/>
              </a:spcAft>
              <a:buSzTx/>
            </a:pPr>
            <a:r>
              <a:rPr lang="it-IT" sz="1800" dirty="0" err="1">
                <a:solidFill>
                  <a:srgbClr val="154F98"/>
                </a:solidFill>
              </a:rPr>
              <a:t>Numeric</a:t>
            </a:r>
            <a:r>
              <a:rPr lang="it-IT" sz="1800" dirty="0">
                <a:solidFill>
                  <a:srgbClr val="154F98"/>
                </a:solidFill>
              </a:rPr>
              <a:t>, </a:t>
            </a:r>
          </a:p>
          <a:p>
            <a:pPr marL="742950" lvl="2" indent="-342900" fontAlgn="ctr">
              <a:spcBef>
                <a:spcPts val="0"/>
              </a:spcBef>
              <a:spcAft>
                <a:spcPts val="1200"/>
              </a:spcAft>
              <a:buSzTx/>
            </a:pPr>
            <a:r>
              <a:rPr lang="it-IT" sz="1800" dirty="0" err="1">
                <a:solidFill>
                  <a:srgbClr val="154F98"/>
                </a:solidFill>
              </a:rPr>
              <a:t>Integers</a:t>
            </a:r>
            <a:r>
              <a:rPr lang="it-IT" sz="1800" dirty="0">
                <a:solidFill>
                  <a:srgbClr val="154F98"/>
                </a:solidFill>
              </a:rPr>
              <a:t> </a:t>
            </a:r>
            <a:r>
              <a:rPr lang="it-IT" sz="1800" dirty="0"/>
              <a:t>(i.e. </a:t>
            </a:r>
            <a:r>
              <a:rPr lang="it-IT" sz="1800" dirty="0" err="1"/>
              <a:t>numbers</a:t>
            </a:r>
            <a:r>
              <a:rPr lang="it-IT" sz="1800" dirty="0"/>
              <a:t> </a:t>
            </a:r>
            <a:r>
              <a:rPr lang="it-IT" sz="1800" dirty="0" err="1"/>
              <a:t>without</a:t>
            </a:r>
            <a:r>
              <a:rPr lang="it-IT" sz="1800" dirty="0"/>
              <a:t> </a:t>
            </a:r>
            <a:r>
              <a:rPr lang="it-IT" sz="1800" dirty="0" err="1"/>
              <a:t>decimals</a:t>
            </a:r>
            <a:r>
              <a:rPr lang="it-IT" sz="1800" dirty="0"/>
              <a:t>) </a:t>
            </a:r>
            <a:endParaRPr lang="it-IT" sz="1800" dirty="0">
              <a:solidFill>
                <a:srgbClr val="154F98"/>
              </a:solidFill>
            </a:endParaRPr>
          </a:p>
          <a:p>
            <a:pPr marL="742950" lvl="2" indent="-342900" fontAlgn="ctr">
              <a:spcBef>
                <a:spcPts val="0"/>
              </a:spcBef>
              <a:spcAft>
                <a:spcPts val="1200"/>
              </a:spcAft>
              <a:buSzTx/>
            </a:pPr>
            <a:r>
              <a:rPr lang="it-IT" sz="1800" dirty="0" err="1">
                <a:solidFill>
                  <a:srgbClr val="154F98"/>
                </a:solidFill>
              </a:rPr>
              <a:t>Characters</a:t>
            </a:r>
            <a:r>
              <a:rPr lang="it-IT" sz="1800" dirty="0">
                <a:solidFill>
                  <a:srgbClr val="154F98"/>
                </a:solidFill>
              </a:rPr>
              <a:t> </a:t>
            </a:r>
            <a:r>
              <a:rPr lang="it-IT" sz="1800" dirty="0"/>
              <a:t>(i.e. </a:t>
            </a:r>
            <a:r>
              <a:rPr lang="it-IT" sz="1800" dirty="0" err="1"/>
              <a:t>strings</a:t>
            </a:r>
            <a:r>
              <a:rPr lang="it-IT" sz="1800" dirty="0"/>
              <a:t>)</a:t>
            </a:r>
          </a:p>
          <a:p>
            <a:pPr marL="742950" lvl="2" indent="-342900" fontAlgn="ctr">
              <a:spcBef>
                <a:spcPts val="0"/>
              </a:spcBef>
              <a:spcAft>
                <a:spcPts val="1200"/>
              </a:spcAft>
              <a:buSzTx/>
            </a:pPr>
            <a:r>
              <a:rPr lang="it-IT" sz="1800" dirty="0" err="1">
                <a:solidFill>
                  <a:srgbClr val="154F98"/>
                </a:solidFill>
              </a:rPr>
              <a:t>Factors</a:t>
            </a:r>
            <a:r>
              <a:rPr lang="it-IT" sz="1800" dirty="0"/>
              <a:t> (i.e. </a:t>
            </a:r>
            <a:r>
              <a:rPr lang="it-IT" sz="1800" dirty="0" err="1"/>
              <a:t>characters</a:t>
            </a:r>
            <a:r>
              <a:rPr lang="it-IT" sz="1800" dirty="0"/>
              <a:t> with </a:t>
            </a:r>
            <a:r>
              <a:rPr lang="it-IT" sz="1800" dirty="0" err="1"/>
              <a:t>additional</a:t>
            </a:r>
            <a:r>
              <a:rPr lang="it-IT" sz="1800" dirty="0"/>
              <a:t> </a:t>
            </a:r>
            <a:r>
              <a:rPr lang="it-IT" sz="1800" dirty="0" err="1"/>
              <a:t>attributes</a:t>
            </a:r>
            <a:r>
              <a:rPr lang="it-IT" sz="1800" dirty="0"/>
              <a:t> </a:t>
            </a:r>
            <a:r>
              <a:rPr lang="it-IT" sz="1800" dirty="0" err="1"/>
              <a:t>such</a:t>
            </a:r>
            <a:r>
              <a:rPr lang="it-IT" sz="1800" dirty="0"/>
              <a:t> </a:t>
            </a:r>
            <a:r>
              <a:rPr lang="it-IT" sz="1800" dirty="0" err="1"/>
              <a:t>as</a:t>
            </a:r>
            <a:r>
              <a:rPr lang="it-IT" sz="1800" dirty="0"/>
              <a:t> </a:t>
            </a:r>
            <a:r>
              <a:rPr lang="it-IT" sz="1800" dirty="0" err="1"/>
              <a:t>levels</a:t>
            </a:r>
            <a:r>
              <a:rPr lang="it-IT" sz="1800" dirty="0"/>
              <a:t> or </a:t>
            </a:r>
            <a:r>
              <a:rPr lang="it-IT" sz="1800" dirty="0" err="1"/>
              <a:t>orders</a:t>
            </a:r>
            <a:r>
              <a:rPr lang="it-IT" sz="1800" dirty="0"/>
              <a:t>)</a:t>
            </a:r>
          </a:p>
          <a:p>
            <a:pPr marL="742950" lvl="2" indent="-342900" fontAlgn="ctr">
              <a:spcBef>
                <a:spcPts val="0"/>
              </a:spcBef>
              <a:spcAft>
                <a:spcPts val="1200"/>
              </a:spcAft>
              <a:buSzTx/>
            </a:pPr>
            <a:r>
              <a:rPr lang="it-IT" sz="1800" dirty="0" err="1">
                <a:solidFill>
                  <a:srgbClr val="154F98"/>
                </a:solidFill>
              </a:rPr>
              <a:t>Logical</a:t>
            </a:r>
            <a:r>
              <a:rPr lang="it-IT" sz="1800" dirty="0"/>
              <a:t> (True or False)</a:t>
            </a:r>
            <a:endParaRPr lang="en-US" sz="1800" dirty="0"/>
          </a:p>
          <a:p>
            <a:pPr fontAlgn="ctr">
              <a:spcBef>
                <a:spcPts val="0"/>
              </a:spcBef>
              <a:spcAft>
                <a:spcPts val="1200"/>
              </a:spcAft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3236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1377684" y="332656"/>
            <a:ext cx="10465163" cy="612068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154F9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154F98"/>
              </a:buClr>
              <a:buSzPct val="12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154F98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154F9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154F9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it-IT" sz="3200" b="1" dirty="0">
                <a:solidFill>
                  <a:srgbClr val="154F98"/>
                </a:solidFill>
                <a:latin typeface="Arial Narrow" panose="020B0606020202030204" pitchFamily="34" charset="0"/>
                <a:ea typeface="+mj-ea"/>
              </a:rPr>
              <a:t>Data </a:t>
            </a:r>
            <a:r>
              <a:rPr lang="it-IT" sz="3200" b="1" dirty="0" err="1">
                <a:solidFill>
                  <a:srgbClr val="154F98"/>
                </a:solidFill>
                <a:latin typeface="Arial Narrow" panose="020B0606020202030204" pitchFamily="34" charset="0"/>
                <a:ea typeface="+mj-ea"/>
              </a:rPr>
              <a:t>Frames</a:t>
            </a:r>
            <a:endParaRPr lang="it-IT" sz="3200" b="1" dirty="0">
              <a:solidFill>
                <a:srgbClr val="154F98"/>
              </a:solidFill>
              <a:latin typeface="Arial Narrow" panose="020B0606020202030204" pitchFamily="34" charset="0"/>
              <a:ea typeface="+mj-ea"/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1050" b="1" dirty="0">
              <a:solidFill>
                <a:srgbClr val="154F98"/>
              </a:solidFill>
              <a:latin typeface="Arial Narrow" panose="020B0606020202030204" pitchFamily="34" charset="0"/>
              <a:ea typeface="+mj-ea"/>
            </a:endParaRPr>
          </a:p>
          <a:p>
            <a:pPr fontAlgn="ctr">
              <a:spcBef>
                <a:spcPts val="0"/>
              </a:spcBef>
              <a:spcAft>
                <a:spcPts val="1200"/>
              </a:spcAft>
            </a:pPr>
            <a:r>
              <a:rPr lang="en-US" i="1" kern="0" dirty="0"/>
              <a:t>“By far the most commonly used data structure to store data in is the data frame. A data frame is a powerful </a:t>
            </a:r>
            <a:r>
              <a:rPr lang="en-US" i="1" kern="0" dirty="0">
                <a:solidFill>
                  <a:srgbClr val="154F98"/>
                </a:solidFill>
              </a:rPr>
              <a:t>two-dimensional object made up of rows and columns </a:t>
            </a:r>
            <a:r>
              <a:rPr lang="en-US" i="1" kern="0" dirty="0"/>
              <a:t>which looks superficially very similar to a matrix. However, whilst matrices are restricted to containing data all of the same type, </a:t>
            </a:r>
            <a:r>
              <a:rPr lang="en-US" i="1" kern="0" dirty="0">
                <a:solidFill>
                  <a:srgbClr val="154F98"/>
                </a:solidFill>
              </a:rPr>
              <a:t>data frames can contain a mixture of different types of data</a:t>
            </a:r>
            <a:r>
              <a:rPr lang="en-US" i="1" kern="0" dirty="0"/>
              <a:t>. Typically, in a data frame </a:t>
            </a:r>
            <a:r>
              <a:rPr lang="en-US" i="1" kern="0" dirty="0">
                <a:solidFill>
                  <a:srgbClr val="154F98"/>
                </a:solidFill>
              </a:rPr>
              <a:t>each row corresponds to an individual observation and each column corresponds to a different measured or recorded variable</a:t>
            </a:r>
            <a:r>
              <a:rPr lang="en-US" i="1" kern="0" dirty="0"/>
              <a:t>.”</a:t>
            </a:r>
          </a:p>
          <a:p>
            <a:pPr fontAlgn="ctr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kern="0" dirty="0" err="1"/>
              <a:t>We</a:t>
            </a:r>
            <a:r>
              <a:rPr lang="it-IT" kern="0" dirty="0"/>
              <a:t> </a:t>
            </a:r>
            <a:r>
              <a:rPr lang="it-IT" kern="0" dirty="0" err="1"/>
              <a:t>immediately</a:t>
            </a:r>
            <a:r>
              <a:rPr lang="it-IT" kern="0" dirty="0"/>
              <a:t> </a:t>
            </a:r>
            <a:r>
              <a:rPr lang="it-IT" kern="0" dirty="0" err="1"/>
              <a:t>recognize</a:t>
            </a:r>
            <a:r>
              <a:rPr lang="it-IT" kern="0" dirty="0"/>
              <a:t> </a:t>
            </a:r>
            <a:r>
              <a:rPr lang="it-IT" kern="0" dirty="0" err="1"/>
              <a:t>that</a:t>
            </a:r>
            <a:r>
              <a:rPr lang="it-IT" kern="0" dirty="0"/>
              <a:t> R data </a:t>
            </a:r>
            <a:r>
              <a:rPr lang="it-IT" kern="0" dirty="0" err="1"/>
              <a:t>frames</a:t>
            </a:r>
            <a:r>
              <a:rPr lang="it-IT" kern="0" dirty="0"/>
              <a:t> </a:t>
            </a:r>
            <a:r>
              <a:rPr lang="it-IT" kern="0" dirty="0" err="1"/>
              <a:t>is</a:t>
            </a:r>
            <a:r>
              <a:rPr lang="it-IT" kern="0" dirty="0"/>
              <a:t> </a:t>
            </a:r>
            <a:r>
              <a:rPr lang="it-IT" kern="0" dirty="0" err="1"/>
              <a:t>exactly</a:t>
            </a:r>
            <a:r>
              <a:rPr lang="it-IT" kern="0" dirty="0"/>
              <a:t> </a:t>
            </a:r>
            <a:r>
              <a:rPr lang="it-IT" kern="0" dirty="0" err="1"/>
              <a:t>what</a:t>
            </a:r>
            <a:r>
              <a:rPr lang="it-IT" kern="0" dirty="0"/>
              <a:t> </a:t>
            </a:r>
            <a:r>
              <a:rPr lang="it-IT" kern="0" dirty="0" err="1"/>
              <a:t>we</a:t>
            </a:r>
            <a:r>
              <a:rPr lang="it-IT" kern="0" dirty="0"/>
              <a:t> </a:t>
            </a:r>
            <a:r>
              <a:rPr lang="it-IT" kern="0" dirty="0" err="1"/>
              <a:t>need</a:t>
            </a:r>
            <a:r>
              <a:rPr lang="it-IT" kern="0" dirty="0"/>
              <a:t> to </a:t>
            </a:r>
            <a:r>
              <a:rPr lang="it-IT" kern="0" dirty="0" err="1"/>
              <a:t>store</a:t>
            </a:r>
            <a:r>
              <a:rPr lang="it-IT" kern="0" dirty="0"/>
              <a:t> the </a:t>
            </a:r>
            <a:r>
              <a:rPr lang="it-IT" kern="0" dirty="0" err="1"/>
              <a:t>typical</a:t>
            </a:r>
            <a:r>
              <a:rPr lang="it-IT" kern="0" dirty="0"/>
              <a:t> </a:t>
            </a:r>
            <a:r>
              <a:rPr lang="it-IT" kern="0" dirty="0" err="1"/>
              <a:t>microdata</a:t>
            </a:r>
            <a:r>
              <a:rPr lang="it-IT" kern="0" dirty="0"/>
              <a:t> from </a:t>
            </a:r>
            <a:r>
              <a:rPr lang="it-IT" kern="0" dirty="0" err="1"/>
              <a:t>household</a:t>
            </a:r>
            <a:r>
              <a:rPr lang="it-IT" kern="0" dirty="0"/>
              <a:t> </a:t>
            </a:r>
            <a:r>
              <a:rPr lang="it-IT" kern="0" dirty="0" err="1"/>
              <a:t>surveys</a:t>
            </a:r>
            <a:r>
              <a:rPr lang="it-IT" kern="0" dirty="0"/>
              <a:t>  (</a:t>
            </a:r>
            <a:r>
              <a:rPr lang="it-IT" kern="0" dirty="0" err="1"/>
              <a:t>like</a:t>
            </a:r>
            <a:r>
              <a:rPr lang="it-IT" kern="0" dirty="0"/>
              <a:t> </a:t>
            </a:r>
            <a:r>
              <a:rPr lang="it-IT" kern="0" dirty="0" err="1"/>
              <a:t>those</a:t>
            </a:r>
            <a:r>
              <a:rPr lang="it-IT" kern="0" dirty="0"/>
              <a:t> in SPSS, SAS, STATA, etc.)</a:t>
            </a:r>
          </a:p>
          <a:p>
            <a:pPr marL="0" indent="0">
              <a:spcBef>
                <a:spcPct val="0"/>
              </a:spcBef>
              <a:buNone/>
            </a:pPr>
            <a:endParaRPr lang="it-IT" sz="3200" b="1" dirty="0">
              <a:solidFill>
                <a:srgbClr val="154F98"/>
              </a:solidFill>
              <a:latin typeface="Arial Narrow" panose="020B0606020202030204" pitchFamily="34" charset="0"/>
              <a:ea typeface="+mj-ea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it-IT" sz="3200" b="1" dirty="0" err="1">
                <a:solidFill>
                  <a:srgbClr val="154F98"/>
                </a:solidFill>
                <a:latin typeface="Arial Narrow" panose="020B0606020202030204" pitchFamily="34" charset="0"/>
                <a:ea typeface="+mj-ea"/>
              </a:rPr>
              <a:t>Vectors</a:t>
            </a:r>
            <a:r>
              <a:rPr lang="it-IT" sz="3200" b="1" dirty="0">
                <a:solidFill>
                  <a:srgbClr val="154F98"/>
                </a:solidFill>
                <a:latin typeface="Arial Narrow" panose="020B0606020202030204" pitchFamily="34" charset="0"/>
                <a:ea typeface="+mj-ea"/>
              </a:rPr>
              <a:t> </a:t>
            </a:r>
          </a:p>
          <a:p>
            <a:pPr fontAlgn="ctr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kern="0" dirty="0"/>
              <a:t>Sequence of data elements of the same type </a:t>
            </a:r>
            <a:endParaRPr lang="it-IT" kern="0" dirty="0"/>
          </a:p>
          <a:p>
            <a:pPr marL="0" indent="0">
              <a:buNone/>
            </a:pPr>
            <a:r>
              <a:rPr lang="it-IT" sz="3200" b="1" dirty="0" err="1">
                <a:solidFill>
                  <a:srgbClr val="154F98"/>
                </a:solidFill>
                <a:latin typeface="Arial Narrow" panose="020B0606020202030204" pitchFamily="34" charset="0"/>
                <a:ea typeface="+mj-ea"/>
              </a:rPr>
              <a:t>Scalars</a:t>
            </a:r>
            <a:r>
              <a:rPr lang="it-IT" sz="3200" kern="0" dirty="0"/>
              <a:t>  </a:t>
            </a:r>
          </a:p>
          <a:p>
            <a:r>
              <a:rPr lang="en-US" i="1" kern="0" dirty="0"/>
              <a:t>“Are vectors that have a single value (length 1)”</a:t>
            </a:r>
          </a:p>
          <a:p>
            <a:pPr fontAlgn="ctr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endParaRPr lang="en-US" kern="0" dirty="0"/>
          </a:p>
        </p:txBody>
      </p:sp>
      <p:sp>
        <p:nvSpPr>
          <p:cNvPr id="8" name="Titolo 1"/>
          <p:cNvSpPr txBox="1">
            <a:spLocks/>
          </p:cNvSpPr>
          <p:nvPr/>
        </p:nvSpPr>
        <p:spPr>
          <a:xfrm>
            <a:off x="1391477" y="4581128"/>
            <a:ext cx="10492747" cy="1728192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154F98"/>
                </a:solidFill>
                <a:latin typeface="Arial Narrow" panose="020B0606020202030204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F2650E"/>
                </a:solidFill>
                <a:latin typeface="Verdana" charset="0"/>
                <a:ea typeface="Arial Unicode MS" charset="0"/>
                <a:cs typeface="Arial Unicode MS" charset="0"/>
              </a:defRPr>
            </a:lvl9pPr>
          </a:lstStyle>
          <a:p>
            <a:endParaRPr lang="en-US" sz="2000" b="0" i="1" kern="0" dirty="0">
              <a:solidFill>
                <a:schemeClr val="tx1"/>
              </a:solidFill>
              <a:latin typeface="Arial" panose="020B060402020202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465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 </a:t>
            </a:r>
            <a:r>
              <a:rPr lang="it-IT" dirty="0" err="1"/>
              <a:t>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465163" cy="4968552"/>
          </a:xfrm>
        </p:spPr>
        <p:txBody>
          <a:bodyPr/>
          <a:lstStyle/>
          <a:p>
            <a:pPr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solidFill>
                  <a:srgbClr val="154F98"/>
                </a:solidFill>
              </a:rPr>
              <a:t>R is case sensitive</a:t>
            </a:r>
            <a:r>
              <a:rPr lang="en-US" dirty="0"/>
              <a:t>, so the object “Year” is different from the object “year”, and the same is for the functions</a:t>
            </a:r>
          </a:p>
          <a:p>
            <a:pPr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to </a:t>
            </a:r>
            <a:r>
              <a:rPr lang="it-IT" dirty="0" err="1"/>
              <a:t>read</a:t>
            </a:r>
            <a:r>
              <a:rPr lang="it-IT" dirty="0"/>
              <a:t> from </a:t>
            </a:r>
            <a:r>
              <a:rPr lang="it-IT" dirty="0" err="1"/>
              <a:t>external</a:t>
            </a:r>
            <a:r>
              <a:rPr lang="it-IT" dirty="0"/>
              <a:t> </a:t>
            </a:r>
            <a:r>
              <a:rPr lang="it-IT" dirty="0" err="1"/>
              <a:t>files</a:t>
            </a:r>
            <a:r>
              <a:rPr lang="it-IT" dirty="0"/>
              <a:t> and create a </a:t>
            </a:r>
            <a:r>
              <a:rPr lang="it-IT" dirty="0" err="1"/>
              <a:t>dataframe</a:t>
            </a:r>
            <a:r>
              <a:rPr lang="it-IT" dirty="0"/>
              <a:t>. </a:t>
            </a:r>
          </a:p>
          <a:p>
            <a:pPr lvl="1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dirty="0"/>
              <a:t>A </a:t>
            </a:r>
            <a:r>
              <a:rPr lang="it-IT" dirty="0" err="1"/>
              <a:t>solution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works</a:t>
            </a:r>
            <a:r>
              <a:rPr lang="it-IT" dirty="0"/>
              <a:t> </a:t>
            </a:r>
            <a:r>
              <a:rPr lang="it-IT" dirty="0" err="1"/>
              <a:t>well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to </a:t>
            </a:r>
            <a:r>
              <a:rPr lang="it-IT" dirty="0" err="1"/>
              <a:t>read</a:t>
            </a:r>
            <a:r>
              <a:rPr lang="it-IT" dirty="0"/>
              <a:t> from CSV </a:t>
            </a:r>
            <a:r>
              <a:rPr lang="it-IT" dirty="0" err="1"/>
              <a:t>files</a:t>
            </a:r>
            <a:r>
              <a:rPr lang="it-IT" dirty="0"/>
              <a:t> (Comma </a:t>
            </a:r>
            <a:r>
              <a:rPr lang="it-IT" dirty="0" err="1"/>
              <a:t>Separed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) </a:t>
            </a:r>
          </a:p>
          <a:p>
            <a:pPr lvl="2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dirty="0" err="1"/>
              <a:t>Make</a:t>
            </a:r>
            <a:r>
              <a:rPr lang="it-IT" dirty="0"/>
              <a:t> </a:t>
            </a:r>
            <a:r>
              <a:rPr lang="it-IT" dirty="0" err="1"/>
              <a:t>sure</a:t>
            </a:r>
            <a:r>
              <a:rPr lang="it-IT" dirty="0"/>
              <a:t> the </a:t>
            </a:r>
            <a:r>
              <a:rPr lang="it-IT" dirty="0" err="1"/>
              <a:t>column</a:t>
            </a:r>
            <a:r>
              <a:rPr lang="it-IT" dirty="0"/>
              <a:t> </a:t>
            </a:r>
            <a:r>
              <a:rPr lang="it-IT" dirty="0" err="1"/>
              <a:t>names</a:t>
            </a:r>
            <a:r>
              <a:rPr lang="it-IT" dirty="0"/>
              <a:t>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spaces</a:t>
            </a:r>
            <a:r>
              <a:rPr lang="it-IT" dirty="0"/>
              <a:t> and </a:t>
            </a:r>
            <a:r>
              <a:rPr lang="it-IT" dirty="0" err="1"/>
              <a:t>symbols</a:t>
            </a:r>
            <a:endParaRPr lang="it-IT" dirty="0"/>
          </a:p>
          <a:p>
            <a:pPr lvl="2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dirty="0"/>
              <a:t>The file </a:t>
            </a:r>
            <a:r>
              <a:rPr lang="it-IT" dirty="0" err="1"/>
              <a:t>path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to be </a:t>
            </a:r>
            <a:r>
              <a:rPr lang="it-IT" dirty="0" err="1"/>
              <a:t>separeted</a:t>
            </a:r>
            <a:r>
              <a:rPr lang="it-IT" dirty="0"/>
              <a:t> with a single </a:t>
            </a:r>
            <a:r>
              <a:rPr lang="it-IT" dirty="0" err="1"/>
              <a:t>forward</a:t>
            </a:r>
            <a:r>
              <a:rPr lang="it-IT" dirty="0"/>
              <a:t> </a:t>
            </a:r>
            <a:r>
              <a:rPr lang="it-IT" dirty="0" err="1"/>
              <a:t>slash</a:t>
            </a:r>
            <a:r>
              <a:rPr lang="it-IT" dirty="0"/>
              <a:t>  /</a:t>
            </a:r>
          </a:p>
          <a:p>
            <a:pPr lvl="1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dirty="0" err="1"/>
              <a:t>Similarly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can produce CSV </a:t>
            </a:r>
            <a:r>
              <a:rPr lang="it-IT" dirty="0" err="1"/>
              <a:t>files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output </a:t>
            </a:r>
            <a:r>
              <a:rPr lang="it-IT" dirty="0" err="1"/>
              <a:t>that</a:t>
            </a:r>
            <a:r>
              <a:rPr lang="it-IT" dirty="0"/>
              <a:t> can be </a:t>
            </a:r>
            <a:r>
              <a:rPr lang="it-IT" dirty="0" err="1"/>
              <a:t>imported</a:t>
            </a:r>
            <a:r>
              <a:rPr lang="it-IT" dirty="0"/>
              <a:t> by </a:t>
            </a:r>
            <a:r>
              <a:rPr lang="it-IT" dirty="0" err="1"/>
              <a:t>other</a:t>
            </a:r>
            <a:r>
              <a:rPr lang="it-IT" dirty="0"/>
              <a:t> software</a:t>
            </a:r>
          </a:p>
          <a:p>
            <a:pPr marL="457200" lvl="1" indent="0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it-IT" i="1" dirty="0"/>
          </a:p>
          <a:p>
            <a:pPr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</a:t>
            </a:r>
            <a:r>
              <a:rPr lang="it-IT" dirty="0" err="1"/>
              <a:t>save</a:t>
            </a:r>
            <a:r>
              <a:rPr lang="it-IT" dirty="0"/>
              <a:t> R </a:t>
            </a:r>
            <a:r>
              <a:rPr lang="it-IT" dirty="0" err="1"/>
              <a:t>objects</a:t>
            </a:r>
            <a:r>
              <a:rPr lang="it-IT" dirty="0"/>
              <a:t> in a file to use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again</a:t>
            </a:r>
            <a:r>
              <a:rPr lang="it-IT" dirty="0"/>
              <a:t> in a new session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to </a:t>
            </a:r>
            <a:r>
              <a:rPr lang="it-IT" dirty="0" err="1"/>
              <a:t>save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«image» in a file with </a:t>
            </a:r>
            <a:r>
              <a:rPr lang="it-IT" dirty="0" err="1"/>
              <a:t>extension</a:t>
            </a:r>
            <a:r>
              <a:rPr lang="it-IT" dirty="0"/>
              <a:t> «</a:t>
            </a:r>
            <a:r>
              <a:rPr lang="en-US" dirty="0"/>
              <a:t>.</a:t>
            </a:r>
            <a:r>
              <a:rPr lang="en-US" dirty="0" err="1"/>
              <a:t>Rdata</a:t>
            </a:r>
            <a:r>
              <a:rPr lang="en-US" dirty="0"/>
              <a:t>”</a:t>
            </a:r>
          </a:p>
          <a:p>
            <a:pPr lvl="1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We use </a:t>
            </a:r>
            <a:r>
              <a:rPr lang="en-US" dirty="0" err="1"/>
              <a:t>save.image</a:t>
            </a:r>
            <a:r>
              <a:rPr lang="en-US" dirty="0"/>
              <a:t>(file = “</a:t>
            </a:r>
            <a:r>
              <a:rPr lang="en-US" dirty="0" err="1"/>
              <a:t>my_objects.Rdata</a:t>
            </a:r>
            <a:r>
              <a:rPr lang="en-US" dirty="0"/>
              <a:t>") to save the objects</a:t>
            </a:r>
          </a:p>
          <a:p>
            <a:pPr lvl="1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We use load(file = “</a:t>
            </a:r>
            <a:r>
              <a:rPr lang="en-US" dirty="0" err="1"/>
              <a:t>my_objects.Rdata</a:t>
            </a:r>
            <a:r>
              <a:rPr lang="en-US" dirty="0"/>
              <a:t>") to reload the objects later and reuse them</a:t>
            </a:r>
          </a:p>
          <a:p>
            <a:pPr lvl="1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dirty="0"/>
              <a:t>The </a:t>
            </a:r>
            <a:r>
              <a:rPr lang="it-IT" dirty="0" err="1"/>
              <a:t>command</a:t>
            </a:r>
            <a:r>
              <a:rPr lang="it-IT" dirty="0"/>
              <a:t> </a:t>
            </a:r>
            <a:r>
              <a:rPr lang="it-IT" dirty="0" err="1"/>
              <a:t>ls</a:t>
            </a:r>
            <a:r>
              <a:rPr lang="it-IT" dirty="0"/>
              <a:t>() </a:t>
            </a:r>
            <a:r>
              <a:rPr lang="it-IT" dirty="0" err="1"/>
              <a:t>lists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objects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/</a:t>
            </a:r>
            <a:r>
              <a:rPr lang="it-IT" dirty="0" err="1"/>
              <a:t>created</a:t>
            </a:r>
            <a:r>
              <a:rPr lang="it-IT" dirty="0"/>
              <a:t> in the session</a:t>
            </a:r>
            <a:endParaRPr lang="en-US" dirty="0"/>
          </a:p>
          <a:p>
            <a:pPr lvl="1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42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Packages</a:t>
            </a:r>
            <a:r>
              <a:rPr lang="it-IT" dirty="0"/>
              <a:t> and </a:t>
            </a:r>
            <a:r>
              <a:rPr lang="it-IT" dirty="0" err="1"/>
              <a:t>libraries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465163" cy="4968552"/>
          </a:xfrm>
        </p:spPr>
        <p:txBody>
          <a:bodyPr/>
          <a:lstStyle/>
          <a:p>
            <a:pPr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R packages are extensions to the base R software</a:t>
            </a:r>
          </a:p>
          <a:p>
            <a:pPr lvl="1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dirty="0" err="1"/>
              <a:t>Usually</a:t>
            </a:r>
            <a:r>
              <a:rPr lang="it-IT" dirty="0"/>
              <a:t> </a:t>
            </a:r>
            <a:r>
              <a:rPr lang="it-IT" dirty="0" err="1"/>
              <a:t>built</a:t>
            </a:r>
            <a:r>
              <a:rPr lang="it-IT" dirty="0"/>
              <a:t> by R </a:t>
            </a:r>
            <a:r>
              <a:rPr lang="it-IT" dirty="0" err="1"/>
              <a:t>contributors</a:t>
            </a:r>
            <a:r>
              <a:rPr lang="it-IT" dirty="0"/>
              <a:t> to </a:t>
            </a:r>
            <a:r>
              <a:rPr lang="it-IT" dirty="0" err="1"/>
              <a:t>implement</a:t>
            </a:r>
            <a:r>
              <a:rPr lang="it-IT" dirty="0"/>
              <a:t> </a:t>
            </a:r>
            <a:r>
              <a:rPr lang="it-IT" dirty="0" err="1"/>
              <a:t>statistical</a:t>
            </a:r>
            <a:r>
              <a:rPr lang="it-IT" dirty="0"/>
              <a:t> </a:t>
            </a:r>
            <a:r>
              <a:rPr lang="it-IT" dirty="0" err="1"/>
              <a:t>functions</a:t>
            </a:r>
            <a:endParaRPr lang="it-IT" dirty="0"/>
          </a:p>
          <a:p>
            <a:pPr lvl="1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dirty="0"/>
              <a:t>Made </a:t>
            </a:r>
            <a:r>
              <a:rPr lang="it-IT" dirty="0" err="1"/>
              <a:t>available</a:t>
            </a:r>
            <a:r>
              <a:rPr lang="it-IT" dirty="0"/>
              <a:t> for free to the R community (the R </a:t>
            </a:r>
            <a:r>
              <a:rPr lang="it-IT" dirty="0" err="1"/>
              <a:t>users</a:t>
            </a:r>
            <a:r>
              <a:rPr lang="it-IT" dirty="0"/>
              <a:t>) </a:t>
            </a:r>
            <a:r>
              <a:rPr lang="it-IT" dirty="0" err="1"/>
              <a:t>through</a:t>
            </a:r>
            <a:r>
              <a:rPr lang="it-IT" dirty="0"/>
              <a:t> the CRAN </a:t>
            </a:r>
            <a:r>
              <a:rPr lang="en-US" dirty="0"/>
              <a:t>(the Comprehensive R Archive Network) servers</a:t>
            </a:r>
          </a:p>
          <a:p>
            <a:pPr lvl="1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it-IT" dirty="0"/>
          </a:p>
          <a:p>
            <a:pPr marL="342900" lvl="1" indent="-342900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/>
              <a:t>Typically, we can do the same things using many different functions and packages. It is up to us to decide the one we are more comfortable with</a:t>
            </a:r>
          </a:p>
          <a:p>
            <a:pPr marL="742950" lvl="2" indent="-342900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it-IT" sz="1800" dirty="0" err="1"/>
              <a:t>We</a:t>
            </a:r>
            <a:r>
              <a:rPr lang="it-IT" sz="1800" dirty="0"/>
              <a:t> can </a:t>
            </a:r>
            <a:r>
              <a:rPr lang="it-IT" sz="1800" dirty="0" err="1"/>
              <a:t>generally</a:t>
            </a:r>
            <a:r>
              <a:rPr lang="it-IT" sz="1800" dirty="0"/>
              <a:t> </a:t>
            </a:r>
            <a:r>
              <a:rPr lang="it-IT" sz="1800" dirty="0" err="1"/>
              <a:t>find</a:t>
            </a:r>
            <a:r>
              <a:rPr lang="it-IT" sz="1800" dirty="0"/>
              <a:t> </a:t>
            </a:r>
            <a:r>
              <a:rPr lang="it-IT" sz="1800" dirty="0" err="1"/>
              <a:t>what</a:t>
            </a:r>
            <a:r>
              <a:rPr lang="it-IT" sz="1800" dirty="0"/>
              <a:t> </a:t>
            </a:r>
            <a:r>
              <a:rPr lang="it-IT" sz="1800" dirty="0" err="1"/>
              <a:t>we</a:t>
            </a:r>
            <a:r>
              <a:rPr lang="it-IT" sz="1800" dirty="0"/>
              <a:t> </a:t>
            </a:r>
            <a:r>
              <a:rPr lang="it-IT" sz="1800" dirty="0" err="1"/>
              <a:t>need</a:t>
            </a:r>
            <a:r>
              <a:rPr lang="it-IT" sz="1800" dirty="0"/>
              <a:t> </a:t>
            </a:r>
            <a:r>
              <a:rPr lang="it-IT" sz="1800" dirty="0" err="1"/>
              <a:t>simply</a:t>
            </a:r>
            <a:r>
              <a:rPr lang="it-IT" sz="1800" dirty="0"/>
              <a:t> </a:t>
            </a:r>
            <a:r>
              <a:rPr lang="it-IT" sz="1800" dirty="0" err="1"/>
              <a:t>asking</a:t>
            </a:r>
            <a:r>
              <a:rPr lang="it-IT" sz="1800" dirty="0"/>
              <a:t> </a:t>
            </a:r>
            <a:r>
              <a:rPr lang="it-IT" sz="1800" dirty="0" err="1"/>
              <a:t>colleagues</a:t>
            </a:r>
            <a:r>
              <a:rPr lang="it-IT" sz="1800" dirty="0"/>
              <a:t> or </a:t>
            </a:r>
            <a:r>
              <a:rPr lang="it-IT" sz="1800" dirty="0" err="1"/>
              <a:t>searching</a:t>
            </a:r>
            <a:r>
              <a:rPr lang="it-IT" sz="1800" dirty="0"/>
              <a:t> the internet</a:t>
            </a:r>
          </a:p>
          <a:p>
            <a:pPr marL="400050" lvl="2" indent="0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800" dirty="0"/>
          </a:p>
          <a:p>
            <a:pPr marL="342900" lvl="1" indent="-342900" font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28429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More </a:t>
            </a:r>
            <a:r>
              <a:rPr lang="it-IT" dirty="0" err="1"/>
              <a:t>advanced</a:t>
            </a:r>
            <a:r>
              <a:rPr lang="it-IT" dirty="0"/>
              <a:t> </a:t>
            </a:r>
            <a:r>
              <a:rPr lang="it-IT" dirty="0" err="1"/>
              <a:t>stuff</a:t>
            </a:r>
            <a:r>
              <a:rPr lang="it-IT" dirty="0"/>
              <a:t> with 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1477" y="1340768"/>
            <a:ext cx="10681187" cy="5112568"/>
          </a:xfrm>
        </p:spPr>
        <p:txBody>
          <a:bodyPr/>
          <a:lstStyle/>
          <a:p>
            <a:pPr fontAlgn="ctr"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Another very useful online free book to learn R</a:t>
            </a:r>
          </a:p>
          <a:p>
            <a:pPr marL="0" indent="0" font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    </a:t>
            </a:r>
            <a:r>
              <a:rPr lang="en-GB" sz="2400" b="1" dirty="0"/>
              <a:t>“R for Data Science”. </a:t>
            </a:r>
            <a:endParaRPr lang="en-US" sz="2400" b="1" dirty="0"/>
          </a:p>
          <a:p>
            <a:pPr marL="0" indent="0" font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     </a:t>
            </a:r>
            <a:r>
              <a:rPr lang="en-US" sz="1600" i="1" dirty="0"/>
              <a:t>Hadley </a:t>
            </a:r>
            <a:r>
              <a:rPr lang="en-US" sz="1600" i="1" dirty="0" err="1"/>
              <a:t>WicKham</a:t>
            </a:r>
            <a:r>
              <a:rPr lang="en-US" sz="1600" i="1" dirty="0"/>
              <a:t> &amp; Garrett </a:t>
            </a:r>
            <a:r>
              <a:rPr lang="en-US" sz="1600" i="1" dirty="0" err="1"/>
              <a:t>Grolemund</a:t>
            </a:r>
            <a:endParaRPr lang="en-US" sz="16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/>
              <a:t>      </a:t>
            </a:r>
            <a:r>
              <a:rPr lang="en-GB" sz="1600" i="1" dirty="0"/>
              <a:t>O’Reilly in January 2017</a:t>
            </a:r>
            <a:endParaRPr lang="en-US" sz="1600" i="1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it-IT" sz="1600" i="1" dirty="0"/>
          </a:p>
          <a:p>
            <a:pPr marL="0" indent="0">
              <a:buNone/>
            </a:pPr>
            <a:endParaRPr lang="it-IT" i="1" dirty="0"/>
          </a:p>
          <a:p>
            <a:pPr marL="0" indent="0">
              <a:buNone/>
            </a:pPr>
            <a:r>
              <a:rPr lang="it-IT" i="1" dirty="0"/>
              <a:t>Made </a:t>
            </a:r>
            <a:r>
              <a:rPr lang="it-IT" i="1" dirty="0" err="1"/>
              <a:t>available</a:t>
            </a:r>
            <a:r>
              <a:rPr lang="it-IT" i="1" dirty="0"/>
              <a:t> for free by the </a:t>
            </a:r>
            <a:r>
              <a:rPr lang="it-IT" i="1" dirty="0" err="1"/>
              <a:t>authors</a:t>
            </a:r>
            <a:r>
              <a:rPr lang="it-IT" i="1" dirty="0"/>
              <a:t> on the web </a:t>
            </a:r>
            <a:r>
              <a:rPr lang="it-IT" i="1" dirty="0" err="1"/>
              <a:t>at</a:t>
            </a:r>
            <a:r>
              <a:rPr lang="it-IT" i="1" dirty="0"/>
              <a:t> the </a:t>
            </a:r>
            <a:r>
              <a:rPr lang="it-IT" i="1" dirty="0" err="1"/>
              <a:t>following</a:t>
            </a:r>
            <a:r>
              <a:rPr lang="it-IT" i="1" dirty="0"/>
              <a:t> link </a:t>
            </a:r>
            <a:r>
              <a:rPr lang="it-IT" i="1" dirty="0">
                <a:hlinkClick r:id="rId2"/>
              </a:rPr>
              <a:t>https://r4ds.had.co.nz/</a:t>
            </a:r>
            <a:r>
              <a:rPr lang="it-IT" i="1" dirty="0"/>
              <a:t> </a:t>
            </a:r>
          </a:p>
          <a:p>
            <a:pPr marL="0" indent="0">
              <a:buNone/>
            </a:pPr>
            <a:endParaRPr lang="it-IT" sz="1800" i="1" dirty="0"/>
          </a:p>
          <a:p>
            <a:pPr marL="0" indent="0" font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dirty="0"/>
              <a:t>From the introduction [</a:t>
            </a:r>
            <a:r>
              <a:rPr lang="en-GB" sz="1800" i="1" dirty="0">
                <a:solidFill>
                  <a:srgbClr val="154F98"/>
                </a:solidFill>
              </a:rPr>
              <a:t>The goal of “R for Data Science” is to help you learn the most important tools in R that will allow you to do data science. After reading this book, you’ll have the tools to tackle a wide variety of data science challenges, using the best parts of R.</a:t>
            </a:r>
            <a:r>
              <a:rPr lang="en-US" sz="1800" dirty="0"/>
              <a:t>]</a:t>
            </a:r>
            <a:endParaRPr lang="it-IT" sz="1800" dirty="0"/>
          </a:p>
          <a:p>
            <a:pPr fontAlgn="ctr">
              <a:spcBef>
                <a:spcPts val="0"/>
              </a:spcBef>
              <a:spcAft>
                <a:spcPts val="1200"/>
              </a:spcAft>
            </a:pPr>
            <a:r>
              <a:rPr lang="en-US" sz="1800" dirty="0"/>
              <a:t>We will be using some content from this book</a:t>
            </a:r>
            <a:endParaRPr lang="it-IT" sz="1800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296" y="1223045"/>
            <a:ext cx="1229122" cy="184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907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"/>
  <p:tag name="ARTICULATE_DESIGN_ID_INSIDE 01" val="h1HIXlRo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inside 01">
  <a:themeElements>
    <a:clrScheme name="ITICILO styl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6AB072"/>
      </a:accent2>
      <a:accent3>
        <a:srgbClr val="E67B1B"/>
      </a:accent3>
      <a:accent4>
        <a:srgbClr val="A43D4E"/>
      </a:accent4>
      <a:accent5>
        <a:srgbClr val="7B289E"/>
      </a:accent5>
      <a:accent6>
        <a:srgbClr val="154F98"/>
      </a:accent6>
      <a:hlink>
        <a:srgbClr val="009999"/>
      </a:hlink>
      <a:folHlink>
        <a:srgbClr val="99CC00"/>
      </a:folHlink>
    </a:clrScheme>
    <a:fontScheme name="inside 01">
      <a:majorFont>
        <a:latin typeface="Verdana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anchor="ctr"/>
      <a:lstStyle>
        <a:defPPr eaLnBrk="1" hangingPunct="1">
          <a:defRPr sz="1400" i="0" noProof="0" dirty="0">
            <a:solidFill>
              <a:srgbClr val="B11B86"/>
            </a:solidFill>
            <a:cs typeface="Arial" charset="0"/>
          </a:defRPr>
        </a:defPPr>
      </a:lstStyle>
    </a:txDef>
  </a:objectDefaults>
  <a:extraClrSchemeLst>
    <a:extraClrScheme>
      <a:clrScheme name="inside 0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 0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 0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 0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 0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side 0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side 01 13">
        <a:dk1>
          <a:srgbClr val="000000"/>
        </a:dk1>
        <a:lt1>
          <a:srgbClr val="FFFFFF"/>
        </a:lt1>
        <a:dk2>
          <a:srgbClr val="FFFF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1221</Words>
  <Application>Microsoft Office PowerPoint</Application>
  <PresentationFormat>Widescreen</PresentationFormat>
  <Paragraphs>125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Narrow</vt:lpstr>
      <vt:lpstr>Verdana</vt:lpstr>
      <vt:lpstr>Wingdings</vt:lpstr>
      <vt:lpstr>inside 01</vt:lpstr>
      <vt:lpstr>Introduction to the software R</vt:lpstr>
      <vt:lpstr>Outline</vt:lpstr>
      <vt:lpstr>The statistical software R</vt:lpstr>
      <vt:lpstr>R software </vt:lpstr>
      <vt:lpstr>The Comprehensive R Archive Network (CRAN)</vt:lpstr>
      <vt:lpstr>R Help on the Internet - free resourses</vt:lpstr>
      <vt:lpstr>R Gui</vt:lpstr>
      <vt:lpstr>R Studio</vt:lpstr>
      <vt:lpstr>Starting with R</vt:lpstr>
      <vt:lpstr>Starting with R</vt:lpstr>
      <vt:lpstr>R objects</vt:lpstr>
      <vt:lpstr>PowerPoint Presentation</vt:lpstr>
      <vt:lpstr>R programming</vt:lpstr>
      <vt:lpstr>Packages and libraries</vt:lpstr>
      <vt:lpstr>More advanced stuff with R</vt:lpstr>
    </vt:vector>
  </TitlesOfParts>
  <Company>ITC of the ILO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LFIORE</dc:creator>
  <cp:lastModifiedBy>Discenza, Antonio Rinaldo</cp:lastModifiedBy>
  <cp:revision>405</cp:revision>
  <cp:lastPrinted>2013-05-11T13:24:19Z</cp:lastPrinted>
  <dcterms:created xsi:type="dcterms:W3CDTF">2011-11-13T21:20:19Z</dcterms:created>
  <dcterms:modified xsi:type="dcterms:W3CDTF">2025-03-03T14:56:56Z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D98A665E-B088-400C-BE49-9FF1F77C6CE8</vt:lpwstr>
  </property>
  <property fmtid="{D5CDD505-2E9C-101B-9397-08002B2CF9AE}" pid="3" name="ArticulatePath">
    <vt:lpwstr>SSEA Korea_template PPT EN +KR</vt:lpwstr>
  </property>
</Properties>
</file>