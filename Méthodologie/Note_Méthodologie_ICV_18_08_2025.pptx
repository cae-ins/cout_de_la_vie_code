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6">
  <p:sldMasterIdLst>
    <p:sldMasterId id="2147483648" r:id="rId1"/>
  </p:sldMasterIdLst>
  <p:notesMasterIdLst>
    <p:notesMasterId r:id="rId23"/>
  </p:notesMasterIdLst>
  <p:sldIdLst>
    <p:sldId id="256" r:id="rId2"/>
    <p:sldId id="259" r:id="rId3"/>
    <p:sldId id="260" r:id="rId4"/>
    <p:sldId id="262" r:id="rId5"/>
    <p:sldId id="272" r:id="rId6"/>
    <p:sldId id="263" r:id="rId7"/>
    <p:sldId id="318" r:id="rId8"/>
    <p:sldId id="310" r:id="rId9"/>
    <p:sldId id="311" r:id="rId10"/>
    <p:sldId id="312" r:id="rId11"/>
    <p:sldId id="273" r:id="rId12"/>
    <p:sldId id="268" r:id="rId13"/>
    <p:sldId id="305" r:id="rId14"/>
    <p:sldId id="306" r:id="rId15"/>
    <p:sldId id="314" r:id="rId16"/>
    <p:sldId id="315" r:id="rId17"/>
    <p:sldId id="308" r:id="rId18"/>
    <p:sldId id="275" r:id="rId19"/>
    <p:sldId id="319" r:id="rId20"/>
    <p:sldId id="316" r:id="rId21"/>
    <p:sldId id="317" r:id="rId2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F5597"/>
    <a:srgbClr val="E2E4E0"/>
    <a:srgbClr val="DADAD8"/>
    <a:srgbClr val="788D86"/>
    <a:srgbClr val="F58623"/>
    <a:srgbClr val="3E5D53"/>
    <a:srgbClr val="FEFEFE"/>
    <a:srgbClr val="FDFDFD"/>
    <a:srgbClr val="DFE6F0"/>
    <a:srgbClr val="BAB3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79" autoAdjust="0"/>
    <p:restoredTop sz="94280" autoAdjust="0"/>
  </p:normalViewPr>
  <p:slideViewPr>
    <p:cSldViewPr snapToGrid="0">
      <p:cViewPr varScale="1">
        <p:scale>
          <a:sx n="59" d="100"/>
          <a:sy n="59" d="100"/>
        </p:scale>
        <p:origin x="80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alo Agoua Liliane Elodie" userId="08ae5e5d-e954-447f-b0a2-acfbe0871125" providerId="ADAL" clId="{710681F5-CFE4-4F0F-A055-ABA2B2DCC156}"/>
    <pc:docChg chg="modSld">
      <pc:chgData name="Zalo Agoua Liliane Elodie" userId="08ae5e5d-e954-447f-b0a2-acfbe0871125" providerId="ADAL" clId="{710681F5-CFE4-4F0F-A055-ABA2B2DCC156}" dt="2025-08-26T19:22:33.953" v="2" actId="1076"/>
      <pc:docMkLst>
        <pc:docMk/>
      </pc:docMkLst>
      <pc:sldChg chg="modSp mod">
        <pc:chgData name="Zalo Agoua Liliane Elodie" userId="08ae5e5d-e954-447f-b0a2-acfbe0871125" providerId="ADAL" clId="{710681F5-CFE4-4F0F-A055-ABA2B2DCC156}" dt="2025-08-26T19:22:33.953" v="2" actId="1076"/>
        <pc:sldMkLst>
          <pc:docMk/>
          <pc:sldMk cId="3426043117" sldId="318"/>
        </pc:sldMkLst>
        <pc:picChg chg="mod">
          <ac:chgData name="Zalo Agoua Liliane Elodie" userId="08ae5e5d-e954-447f-b0a2-acfbe0871125" providerId="ADAL" clId="{710681F5-CFE4-4F0F-A055-ABA2B2DCC156}" dt="2025-08-26T19:22:33.953" v="2" actId="1076"/>
          <ac:picMkLst>
            <pc:docMk/>
            <pc:sldMk cId="3426043117" sldId="318"/>
            <ac:picMk id="8" creationId="{5D1D3DAF-3C6B-0559-A528-8658CA7CF9AC}"/>
          </ac:picMkLst>
        </pc:picChg>
      </pc:sldChg>
    </pc:docChg>
  </pc:docChgLst>
  <pc:docChgLst>
    <pc:chgData name="Dibi Ruth" userId="e6a45e8b-8286-4eba-902a-f1f9127f7b6c" providerId="ADAL" clId="{D0D6B3CE-B075-42FE-95C0-AADFD6AD0CC2}"/>
    <pc:docChg chg="undo redo custSel addSld delSld modSld sldOrd">
      <pc:chgData name="Dibi Ruth" userId="e6a45e8b-8286-4eba-902a-f1f9127f7b6c" providerId="ADAL" clId="{D0D6B3CE-B075-42FE-95C0-AADFD6AD0CC2}" dt="2025-08-21T13:46:21.305" v="219" actId="6549"/>
      <pc:docMkLst>
        <pc:docMk/>
      </pc:docMkLst>
      <pc:sldChg chg="addSp modSp mod">
        <pc:chgData name="Dibi Ruth" userId="e6a45e8b-8286-4eba-902a-f1f9127f7b6c" providerId="ADAL" clId="{D0D6B3CE-B075-42FE-95C0-AADFD6AD0CC2}" dt="2025-08-18T17:10:30.505" v="7" actId="14100"/>
        <pc:sldMkLst>
          <pc:docMk/>
          <pc:sldMk cId="3060299207" sldId="256"/>
        </pc:sldMkLst>
        <pc:picChg chg="add mod">
          <ac:chgData name="Dibi Ruth" userId="e6a45e8b-8286-4eba-902a-f1f9127f7b6c" providerId="ADAL" clId="{D0D6B3CE-B075-42FE-95C0-AADFD6AD0CC2}" dt="2025-08-18T17:10:30.505" v="7" actId="14100"/>
          <ac:picMkLst>
            <pc:docMk/>
            <pc:sldMk cId="3060299207" sldId="256"/>
            <ac:picMk id="3" creationId="{25ED14D9-644B-7054-7CB8-53370B3EAD3F}"/>
          </ac:picMkLst>
        </pc:picChg>
      </pc:sldChg>
      <pc:sldChg chg="del">
        <pc:chgData name="Dibi Ruth" userId="e6a45e8b-8286-4eba-902a-f1f9127f7b6c" providerId="ADAL" clId="{D0D6B3CE-B075-42FE-95C0-AADFD6AD0CC2}" dt="2025-08-18T17:10:55.429" v="11" actId="2696"/>
        <pc:sldMkLst>
          <pc:docMk/>
          <pc:sldMk cId="1224599953" sldId="313"/>
        </pc:sldMkLst>
      </pc:sldChg>
      <pc:sldChg chg="add ord">
        <pc:chgData name="Dibi Ruth" userId="e6a45e8b-8286-4eba-902a-f1f9127f7b6c" providerId="ADAL" clId="{D0D6B3CE-B075-42FE-95C0-AADFD6AD0CC2}" dt="2025-08-18T17:10:50.613" v="10"/>
        <pc:sldMkLst>
          <pc:docMk/>
          <pc:sldMk cId="4271227762" sldId="317"/>
        </pc:sldMkLst>
      </pc:sldChg>
      <pc:sldChg chg="addSp delSp modSp add mod ord">
        <pc:chgData name="Dibi Ruth" userId="e6a45e8b-8286-4eba-902a-f1f9127f7b6c" providerId="ADAL" clId="{D0D6B3CE-B075-42FE-95C0-AADFD6AD0CC2}" dt="2025-08-18T17:16:29.098" v="62" actId="20577"/>
        <pc:sldMkLst>
          <pc:docMk/>
          <pc:sldMk cId="3426043117" sldId="318"/>
        </pc:sldMkLst>
        <pc:spChg chg="mod">
          <ac:chgData name="Dibi Ruth" userId="e6a45e8b-8286-4eba-902a-f1f9127f7b6c" providerId="ADAL" clId="{D0D6B3CE-B075-42FE-95C0-AADFD6AD0CC2}" dt="2025-08-18T17:16:29.098" v="62" actId="20577"/>
          <ac:spMkLst>
            <pc:docMk/>
            <pc:sldMk cId="3426043117" sldId="318"/>
            <ac:spMk id="2" creationId="{A9B936C1-C8DA-16E4-7BD6-73F54E562ABA}"/>
          </ac:spMkLst>
        </pc:spChg>
        <pc:spChg chg="add mod">
          <ac:chgData name="Dibi Ruth" userId="e6a45e8b-8286-4eba-902a-f1f9127f7b6c" providerId="ADAL" clId="{D0D6B3CE-B075-42FE-95C0-AADFD6AD0CC2}" dt="2025-08-18T17:15:24.959" v="52" actId="14100"/>
          <ac:spMkLst>
            <pc:docMk/>
            <pc:sldMk cId="3426043117" sldId="318"/>
            <ac:spMk id="5" creationId="{A84FD238-3E1E-C497-7890-3FF27F52479F}"/>
          </ac:spMkLst>
        </pc:spChg>
        <pc:spChg chg="mod">
          <ac:chgData name="Dibi Ruth" userId="e6a45e8b-8286-4eba-902a-f1f9127f7b6c" providerId="ADAL" clId="{D0D6B3CE-B075-42FE-95C0-AADFD6AD0CC2}" dt="2025-08-18T17:14:10.591" v="44" actId="1076"/>
          <ac:spMkLst>
            <pc:docMk/>
            <pc:sldMk cId="3426043117" sldId="318"/>
            <ac:spMk id="6" creationId="{437298EA-075D-49DA-7004-C346141C3F8A}"/>
          </ac:spMkLst>
        </pc:spChg>
        <pc:picChg chg="add mod">
          <ac:chgData name="Dibi Ruth" userId="e6a45e8b-8286-4eba-902a-f1f9127f7b6c" providerId="ADAL" clId="{D0D6B3CE-B075-42FE-95C0-AADFD6AD0CC2}" dt="2025-08-18T17:14:57.590" v="48" actId="1076"/>
          <ac:picMkLst>
            <pc:docMk/>
            <pc:sldMk cId="3426043117" sldId="318"/>
            <ac:picMk id="8" creationId="{5D1D3DAF-3C6B-0559-A528-8658CA7CF9AC}"/>
          </ac:picMkLst>
        </pc:picChg>
      </pc:sldChg>
      <pc:sldChg chg="addSp modSp add mod ord">
        <pc:chgData name="Dibi Ruth" userId="e6a45e8b-8286-4eba-902a-f1f9127f7b6c" providerId="ADAL" clId="{D0D6B3CE-B075-42FE-95C0-AADFD6AD0CC2}" dt="2025-08-21T13:46:21.305" v="219" actId="6549"/>
        <pc:sldMkLst>
          <pc:docMk/>
          <pc:sldMk cId="3273947217" sldId="319"/>
        </pc:sldMkLst>
        <pc:spChg chg="mod">
          <ac:chgData name="Dibi Ruth" userId="e6a45e8b-8286-4eba-902a-f1f9127f7b6c" providerId="ADAL" clId="{D0D6B3CE-B075-42FE-95C0-AADFD6AD0CC2}" dt="2025-08-21T13:42:58.778" v="160" actId="1076"/>
          <ac:spMkLst>
            <pc:docMk/>
            <pc:sldMk cId="3273947217" sldId="319"/>
            <ac:spMk id="2" creationId="{D4E1FFF2-726A-6C5B-04ED-325DD3AFB312}"/>
          </ac:spMkLst>
        </pc:spChg>
        <pc:spChg chg="mod">
          <ac:chgData name="Dibi Ruth" userId="e6a45e8b-8286-4eba-902a-f1f9127f7b6c" providerId="ADAL" clId="{D0D6B3CE-B075-42FE-95C0-AADFD6AD0CC2}" dt="2025-08-21T13:40:01.006" v="142" actId="1076"/>
          <ac:spMkLst>
            <pc:docMk/>
            <pc:sldMk cId="3273947217" sldId="319"/>
            <ac:spMk id="6" creationId="{5FBABAC0-F8C5-5026-65D6-7C7C44D402D1}"/>
          </ac:spMkLst>
        </pc:spChg>
        <pc:graphicFrameChg chg="add mod modGraphic">
          <ac:chgData name="Dibi Ruth" userId="e6a45e8b-8286-4eba-902a-f1f9127f7b6c" providerId="ADAL" clId="{D0D6B3CE-B075-42FE-95C0-AADFD6AD0CC2}" dt="2025-08-21T13:46:21.305" v="219" actId="6549"/>
          <ac:graphicFrameMkLst>
            <pc:docMk/>
            <pc:sldMk cId="3273947217" sldId="319"/>
            <ac:graphicFrameMk id="3" creationId="{F1791582-74C5-A0FF-DE2B-2B5DF7D70DD8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4CCD35-F77E-42F2-9399-B3BAC669867D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F61A2C-553E-43FA-B05C-69E869B7AE2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813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F61A2C-553E-43FA-B05C-69E869B7AE2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1681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BCE5D4-2677-314E-3CF2-3F04F7FB2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EB902FCD-6E1B-8008-72DB-7E369BCDDC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E1A50D89-6218-8156-9C71-E6A4653B94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3A9C14E-B067-3B77-953E-D28924F6B3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F61A2C-553E-43FA-B05C-69E869B7AE2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8373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E57C75-2549-F15A-96C0-7C2164028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56E9301E-6281-B453-F2CC-D54C0F1DFC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E0C88370-1BFE-CE12-F790-D8E2A486C3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381C86A-EF5F-068D-E79A-02C4DFE714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F61A2C-553E-43FA-B05C-69E869B7AE2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3901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28E3BF-09ED-ABFD-3B34-EE7DFC7AE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BAEBBBE6-F8A1-E944-0D66-B1C75CD719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6122BF34-0EF6-BFFB-8225-B67D3B2382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C820E92-8532-418D-DFE7-AA204F9A9B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F61A2C-553E-43FA-B05C-69E869B7AE2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5618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F61A2C-553E-43FA-B05C-69E869B7AE24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9342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57D544-8B10-F2E3-1763-CFA781910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390B7436-EAA0-BDA4-D8D6-B45A79E80B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B9D9C870-611D-4613-AB4A-98CE26A018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85427D9-702F-6445-03A0-A3F261A2F9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F61A2C-553E-43FA-B05C-69E869B7AE24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2079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93C9D0E-347D-06D7-1C83-53A9F92404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8C5408F-B4BC-68B1-4F24-0A88F1CD52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8A5D94C-17AF-A6B0-E934-5D71824A3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0CD45-7785-4915-B28F-E8059196FF38}" type="datetimeFigureOut">
              <a:rPr lang="fr-FR" smtClean="0"/>
              <a:t>26/08/2025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A6E91F4-EE95-B387-F33D-8FD9939C0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863B602-D9AC-7065-0C36-323FE233C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C8DCE-0D90-4569-B5D1-E99CDF43FD5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6104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1B04549-1B5C-D696-1842-01546FC98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019EA1A-321E-9CB8-CE63-C4A0847580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C5E17F5-9A58-730E-3DA6-03E86D66C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0CD45-7785-4915-B28F-E8059196FF38}" type="datetimeFigureOut">
              <a:rPr lang="fr-FR" smtClean="0"/>
              <a:t>26/08/2025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5755EA9-B651-1810-4645-6C4A98DDF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4C3A302-8741-2859-5921-6D044D483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C8DCE-0D90-4569-B5D1-E99CDF43FD5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54461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BB8FD8A-449C-AE92-BE47-E0B8946FEE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74D0F0F-2FEB-58AB-9AC5-2C577B5555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E3D82F1-410C-912C-7213-04E5305CF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0CD45-7785-4915-B28F-E8059196FF38}" type="datetimeFigureOut">
              <a:rPr lang="fr-FR" smtClean="0"/>
              <a:t>26/08/2025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F0F93E3-9EC3-58F2-98CE-84268D83C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7BE67B1-06C1-CA16-32B4-0AA613F74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C8DCE-0D90-4569-B5D1-E99CDF43FD5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989678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F6AAC98-79E5-5056-A3AA-AA2DDA3F8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3C19F5D-B516-8911-F01F-FAFF813AC6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E043C62-0372-CE53-5AA3-043706CBE4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DFA58BA-8A61-4AB6-B66D-45D283027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0CD45-7785-4915-B28F-E8059196FF38}" type="datetimeFigureOut">
              <a:rPr lang="fr-FR" smtClean="0"/>
              <a:t>26/08/2025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6E20CE9-F13C-60B2-DAC9-91B7D44E2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273AF32-7E4A-2E0B-1E4F-D73860166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C8DCE-0D90-4569-B5D1-E99CDF43FD5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194623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2259AE0-88F6-2C3A-9862-656FA38C5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AEDA40B-96DC-C62B-0A2E-D31253513C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F208424-55EA-F85A-5CED-4A1FEAA62B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03255FB-1213-DFA0-90EC-89408CA4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EBD2AB70-2237-E570-8796-903E467375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C392CA5-D4FA-D169-3027-C2B888B3E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0CD45-7785-4915-B28F-E8059196FF38}" type="datetimeFigureOut">
              <a:rPr lang="fr-FR" smtClean="0"/>
              <a:t>26/08/2025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44F3A72A-3487-A07E-6ED6-9A236C497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768EBAD4-67B7-D68F-4E25-C99D143D0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C8DCE-0D90-4569-B5D1-E99CDF43FD5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2126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CEF657-30D5-6F05-73E6-4EEC903A2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82B0750-DEB6-B7E0-C198-5C52EFE8A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0CD45-7785-4915-B28F-E8059196FF38}" type="datetimeFigureOut">
              <a:rPr lang="fr-FR" smtClean="0"/>
              <a:t>26/08/2025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9E633BF-9310-A0E9-0668-090622890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406D03-B179-59EA-FD8D-91DE5CA7A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C8DCE-0D90-4569-B5D1-E99CDF43FD5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6827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FC343C71-AA7D-5390-F167-074D36CF3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0CD45-7785-4915-B28F-E8059196FF38}" type="datetimeFigureOut">
              <a:rPr lang="fr-FR" smtClean="0"/>
              <a:t>26/08/2025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C5FDE385-DA68-D701-6ECA-4787C373B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BC641EF-AE99-93DB-2159-2B8F20AE5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C8DCE-0D90-4569-B5D1-E99CDF43FD5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082358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AFF6FF1-B270-C6DA-1AE4-1276C117F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FA57EC7-45DD-88A7-F56D-6601E1638D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C4A5916-803A-F55D-E9F8-EB4F44C357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BA7C452-D524-3F7C-8C1E-1AC8FE40D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0CD45-7785-4915-B28F-E8059196FF38}" type="datetimeFigureOut">
              <a:rPr lang="fr-FR" smtClean="0"/>
              <a:t>26/08/2025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BF79F47-88A9-DC4C-758A-B332522BD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E909EC9-7BB2-1FC3-0AB3-C24D423A6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C8DCE-0D90-4569-B5D1-E99CDF43FD5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4179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9366955-8268-F11A-7552-D113AD69FE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98ADF03B-B2C2-9C18-530B-5F631E5622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3D49431-5C57-F8B6-E038-0D7EE11685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D5D45B6-C2D5-F9E9-FF39-2096EC0EE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0CD45-7785-4915-B28F-E8059196FF38}" type="datetimeFigureOut">
              <a:rPr lang="fr-FR" smtClean="0"/>
              <a:t>26/08/2025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3C08DCD-79E7-D28B-2B86-977AA990F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5EDAF1A-9CCC-AFA6-30A0-E3EEF944F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C8DCE-0D90-4569-B5D1-E99CDF43FD5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07946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92273E2-08E6-0C85-108B-660750BC7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3F77FB8-CF42-D1D6-83F6-6032438931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8E7D584-377F-075F-9B45-0D6DF0E06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0CD45-7785-4915-B28F-E8059196FF38}" type="datetimeFigureOut">
              <a:rPr lang="fr-FR" smtClean="0"/>
              <a:t>26/08/2025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32B0E5D-4CC1-BF99-7520-50D84E873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7263B8D-1A7D-C945-EDC9-A45A1D12D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C8DCE-0D90-4569-B5D1-E99CDF43FD5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039373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8CBE7243-0DEA-620F-980B-B301CE7D3F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890E780-E16A-0F9F-B751-0D46E8555A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B52810F-9900-A860-C8C8-0B4AFAC24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0CD45-7785-4915-B28F-E8059196FF38}" type="datetimeFigureOut">
              <a:rPr lang="fr-FR" smtClean="0"/>
              <a:t>26/08/2025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9118C02-1855-BAAC-AAC5-3221970A2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D5413D0-C8EB-F55E-D229-377532B98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C8DCE-0D90-4569-B5D1-E99CDF43FD5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47291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63AA90CA-4B1C-8275-37C8-134330339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342AFE0-DD01-B028-D1C3-3BE2FA6942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8F32C2D-40BE-2079-9E95-C16AC19E3C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60CD45-7785-4915-B28F-E8059196FF38}" type="datetimeFigureOut">
              <a:rPr lang="fr-FR" smtClean="0"/>
              <a:t>26/08/2025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4BC2514-28C4-15C0-4876-EC2CE196DE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983EE7E-8C6C-260B-0CD1-5961498167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7C8DCE-0D90-4569-B5D1-E99CDF43FD5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77752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em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AD72B0D8-E98C-52B2-B095-92E5DB0368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79" y="197971"/>
            <a:ext cx="1895732" cy="582424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186B4AF8-726E-CD97-BA05-67D3382939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7" y="3429000"/>
            <a:ext cx="7880557" cy="1790667"/>
          </a:xfrm>
        </p:spPr>
        <p:txBody>
          <a:bodyPr>
            <a:noAutofit/>
          </a:bodyPr>
          <a:lstStyle/>
          <a:p>
            <a:pPr algn="l"/>
            <a:r>
              <a:rPr lang="fr-FR" sz="4000" b="1" dirty="0">
                <a:latin typeface="Montserrat" panose="00000500000000000000" pitchFamily="2" charset="0"/>
              </a:rPr>
              <a:t>Enquête Nationale sur la Cherté de la vie : Construction de l’Indice de Perception de Cherté de la Vie (IPCV)</a:t>
            </a:r>
          </a:p>
        </p:txBody>
      </p:sp>
      <p:sp>
        <p:nvSpPr>
          <p:cNvPr id="12" name="Rectangle à coins arrondis 4">
            <a:extLst>
              <a:ext uri="{FF2B5EF4-FFF2-40B4-BE49-F238E27FC236}">
                <a16:creationId xmlns:a16="http://schemas.microsoft.com/office/drawing/2014/main" id="{28A93DD3-1D96-C561-AA7D-B8597BD1BF94}"/>
              </a:ext>
            </a:extLst>
          </p:cNvPr>
          <p:cNvSpPr/>
          <p:nvPr/>
        </p:nvSpPr>
        <p:spPr>
          <a:xfrm>
            <a:off x="302566" y="5453892"/>
            <a:ext cx="5817437" cy="1790667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b="1" dirty="0">
                <a:solidFill>
                  <a:schemeClr val="tx1"/>
                </a:solidFill>
                <a:latin typeface="Montserrat" panose="00000500000000000000" pitchFamily="2" charset="0"/>
              </a:rPr>
              <a:t>Cellule d’Analyses Economiques</a:t>
            </a:r>
          </a:p>
          <a:p>
            <a:endParaRPr lang="fr-FR" b="1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r>
              <a:rPr lang="fr-FR" dirty="0">
                <a:solidFill>
                  <a:schemeClr val="tx1"/>
                </a:solidFill>
                <a:latin typeface="Montserrat" panose="00000500000000000000" pitchFamily="2" charset="0"/>
              </a:rPr>
              <a:t>Aout 2025</a:t>
            </a:r>
          </a:p>
        </p:txBody>
      </p:sp>
      <p:pic>
        <p:nvPicPr>
          <p:cNvPr id="6" name="Image 5" descr="Une image contenant Graphique, cercle, art&#10;&#10;Description générée automatiquement">
            <a:extLst>
              <a:ext uri="{FF2B5EF4-FFF2-40B4-BE49-F238E27FC236}">
                <a16:creationId xmlns:a16="http://schemas.microsoft.com/office/drawing/2014/main" id="{883FA624-8B00-3010-B1DF-56E07124F1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3511" y="58446"/>
            <a:ext cx="1031158" cy="861474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AF36457B-0C25-4F2F-64CE-5A37ABF682C2}"/>
              </a:ext>
            </a:extLst>
          </p:cNvPr>
          <p:cNvSpPr txBox="1"/>
          <p:nvPr/>
        </p:nvSpPr>
        <p:spPr>
          <a:xfrm>
            <a:off x="10003970" y="928357"/>
            <a:ext cx="22642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200" b="1" dirty="0">
                <a:latin typeface="Montserrat" panose="00000500000000000000" pitchFamily="2" charset="0"/>
              </a:rPr>
              <a:t>Organisation Internationale</a:t>
            </a:r>
          </a:p>
          <a:p>
            <a:pPr algn="ctr"/>
            <a:r>
              <a:rPr lang="fr-FR" sz="1200" b="1" dirty="0">
                <a:latin typeface="Montserrat" panose="00000500000000000000" pitchFamily="2" charset="0"/>
              </a:rPr>
              <a:t> du Travail</a:t>
            </a:r>
            <a:endParaRPr lang="fr-FR" sz="1200" b="1" dirty="0"/>
          </a:p>
        </p:txBody>
      </p:sp>
      <p:pic>
        <p:nvPicPr>
          <p:cNvPr id="3" name="Image 2" descr="Une image contenant texte, dessin humoristique, habits, Visage humain&#10;&#10;Le contenu généré par l’IA peut être incorrect.">
            <a:extLst>
              <a:ext uri="{FF2B5EF4-FFF2-40B4-BE49-F238E27FC236}">
                <a16:creationId xmlns:a16="http://schemas.microsoft.com/office/drawing/2014/main" id="{25ED14D9-644B-7054-7CB8-53370B3EAD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7419" y="1785908"/>
            <a:ext cx="3714227" cy="4284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2992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137C30-9298-BD7D-4350-D2BFB68AC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AA9C3F3C-878D-09DF-3F62-CD0927A1C8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79" y="197971"/>
            <a:ext cx="1895732" cy="582424"/>
          </a:xfrm>
          <a:prstGeom prst="rect">
            <a:avLst/>
          </a:prstGeom>
        </p:spPr>
      </p:pic>
      <p:sp>
        <p:nvSpPr>
          <p:cNvPr id="15" name="Espace réservé du texte 62">
            <a:extLst>
              <a:ext uri="{FF2B5EF4-FFF2-40B4-BE49-F238E27FC236}">
                <a16:creationId xmlns:a16="http://schemas.microsoft.com/office/drawing/2014/main" id="{2E17F46B-8948-8048-E1EB-C7DDE2354869}"/>
              </a:ext>
            </a:extLst>
          </p:cNvPr>
          <p:cNvSpPr txBox="1">
            <a:spLocks/>
          </p:cNvSpPr>
          <p:nvPr/>
        </p:nvSpPr>
        <p:spPr>
          <a:xfrm>
            <a:off x="497195" y="2704438"/>
            <a:ext cx="4448794" cy="654489"/>
          </a:xfrm>
          <a:prstGeom prst="rect">
            <a:avLst/>
          </a:prstGeom>
          <a:solidFill>
            <a:schemeClr val="bg1">
              <a:alpha val="54000"/>
            </a:schemeClr>
          </a:solidFill>
        </p:spPr>
        <p:txBody>
          <a:bodyPr wrap="square" lIns="187255" tIns="0" rIns="0" bIns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SzPct val="100000"/>
              <a:buFont typeface="+mj-lt"/>
              <a:buNone/>
              <a:defRPr sz="1600" b="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47675" indent="-31432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SzPct val="80000"/>
              <a:buFont typeface="Arial" panose="020B0604020202020204" pitchFamily="34" charset="0"/>
              <a:buChar char=" "/>
              <a:defRPr sz="16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542925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98742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262063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HelveticaNeueLT Std Lt Cn" panose="020B0406020202030204" pitchFamily="34" charset="0"/>
              <a:buChar char="−"/>
              <a:defRPr sz="105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68081" defTabSz="858051">
              <a:spcBef>
                <a:spcPts val="0"/>
              </a:spcBef>
            </a:pPr>
            <a:r>
              <a:rPr lang="en-US" sz="1800" b="1" dirty="0">
                <a:solidFill>
                  <a:prstClr val="black"/>
                </a:solidFill>
                <a:latin typeface="Montserrat" panose="00000500000000000000" pitchFamily="2" charset="0"/>
              </a:rPr>
              <a:t>INTRODUCTION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19EB5F0F-8209-CAF4-3A90-B03994BF2301}"/>
              </a:ext>
            </a:extLst>
          </p:cNvPr>
          <p:cNvSpPr txBox="1">
            <a:spLocks/>
          </p:cNvSpPr>
          <p:nvPr/>
        </p:nvSpPr>
        <p:spPr>
          <a:xfrm>
            <a:off x="543445" y="2790704"/>
            <a:ext cx="498855" cy="465961"/>
          </a:xfrm>
          <a:prstGeom prst="rect">
            <a:avLst/>
          </a:prstGeom>
          <a:solidFill>
            <a:schemeClr val="bg1">
              <a:alpha val="54000"/>
            </a:schemeClr>
          </a:solidFill>
        </p:spPr>
        <p:txBody>
          <a:bodyPr wrap="none">
            <a:sp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SzPct val="50000"/>
              <a:buFont typeface="HelveticaNeueLT Std Lt Cn" panose="020B0406020202030204" pitchFamily="34" charset="0"/>
              <a:buNone/>
              <a:defRPr sz="2800" b="1" kern="1200">
                <a:blipFill>
                  <a:blip r:embed="rId3"/>
                  <a:stretch>
                    <a:fillRect/>
                  </a:stretch>
                </a:blipFill>
                <a:latin typeface="+mn-lt"/>
                <a:ea typeface="+mn-ea"/>
                <a:cs typeface="+mn-cs"/>
              </a:defRPr>
            </a:lvl1pPr>
            <a:lvl2pPr marL="447675" indent="-31432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SzPct val="80000"/>
              <a:buFontTx/>
              <a:buBlip>
                <a:blip r:embed="rId4"/>
              </a:buBlip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4375" indent="-1714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8742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1262063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HelveticaNeueLT Std Lt Cn" panose="020B0406020202030204" pitchFamily="34" charset="0"/>
              <a:buChar char="−"/>
              <a:defRPr sz="105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858051">
              <a:spcBef>
                <a:spcPts val="1689"/>
              </a:spcBef>
            </a:pPr>
            <a:r>
              <a:rPr lang="en-GB" sz="2428" dirty="0">
                <a:solidFill>
                  <a:schemeClr val="tx1"/>
                </a:solidFill>
                <a:latin typeface="Corbel" panose="020B0503020204020204" pitchFamily="34" charset="0"/>
              </a:rPr>
              <a:t>01</a:t>
            </a:r>
          </a:p>
        </p:txBody>
      </p:sp>
      <p:sp>
        <p:nvSpPr>
          <p:cNvPr id="17" name="Espace réservé du texte 65">
            <a:extLst>
              <a:ext uri="{FF2B5EF4-FFF2-40B4-BE49-F238E27FC236}">
                <a16:creationId xmlns:a16="http://schemas.microsoft.com/office/drawing/2014/main" id="{98A84A20-8747-A8E8-4797-E099654E3B32}"/>
              </a:ext>
            </a:extLst>
          </p:cNvPr>
          <p:cNvSpPr txBox="1">
            <a:spLocks/>
          </p:cNvSpPr>
          <p:nvPr/>
        </p:nvSpPr>
        <p:spPr>
          <a:xfrm>
            <a:off x="497195" y="4076053"/>
            <a:ext cx="4448794" cy="654489"/>
          </a:xfrm>
          <a:prstGeom prst="rect">
            <a:avLst/>
          </a:prstGeom>
          <a:solidFill>
            <a:schemeClr val="bg1">
              <a:alpha val="54000"/>
            </a:schemeClr>
          </a:solidFill>
        </p:spPr>
        <p:txBody>
          <a:bodyPr wrap="square" lIns="187255" tIns="0" rIns="0" bIns="0" anchor="ctr">
            <a:noAutofit/>
          </a:bodyPr>
          <a:lstStyle>
            <a:defPPr>
              <a:defRPr lang="fr-FR"/>
            </a:defPPr>
            <a:lvl1pPr marL="468081" indent="0" defTabSz="858051">
              <a:lnSpc>
                <a:spcPct val="100000"/>
              </a:lnSpc>
              <a:spcBef>
                <a:spcPts val="0"/>
              </a:spcBef>
              <a:buSzPct val="100000"/>
              <a:buFont typeface="+mj-lt"/>
              <a:buNone/>
              <a:defRPr b="1">
                <a:solidFill>
                  <a:prstClr val="black"/>
                </a:solidFill>
                <a:latin typeface="Candara" panose="020E0502030303020204" pitchFamily="34" charset="0"/>
              </a:defRPr>
            </a:lvl1pPr>
            <a:lvl2pPr marL="447675" indent="-314325">
              <a:lnSpc>
                <a:spcPct val="100000"/>
              </a:lnSpc>
              <a:spcBef>
                <a:spcPts val="600"/>
              </a:spcBef>
              <a:buSzPct val="80000"/>
              <a:buFont typeface="Arial" panose="020B0604020202020204" pitchFamily="34" charset="0"/>
              <a:buChar char=" "/>
              <a:defRPr sz="1600">
                <a:solidFill>
                  <a:schemeClr val="bg2"/>
                </a:solidFill>
              </a:defRPr>
            </a:lvl2pPr>
            <a:lvl3pPr marL="542925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3pPr>
            <a:lvl4pPr marL="987425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>
                <a:solidFill>
                  <a:schemeClr val="bg1"/>
                </a:solidFill>
              </a:defRPr>
            </a:lvl4pPr>
            <a:lvl5pPr marL="1262063" indent="-228600">
              <a:lnSpc>
                <a:spcPct val="90000"/>
              </a:lnSpc>
              <a:spcBef>
                <a:spcPts val="500"/>
              </a:spcBef>
              <a:buFont typeface="HelveticaNeueLT Std Lt Cn" panose="020B0406020202030204" pitchFamily="34" charset="0"/>
              <a:buChar char="−"/>
              <a:defRPr sz="1050">
                <a:solidFill>
                  <a:schemeClr val="bg1"/>
                </a:solidFill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fr-FR" dirty="0">
                <a:latin typeface="Montserrat" panose="00000500000000000000" pitchFamily="2" charset="0"/>
              </a:rPr>
              <a:t>METHODOLOGIE</a:t>
            </a:r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15FF604D-A5C2-926C-DFEF-51C3B41B0208}"/>
              </a:ext>
            </a:extLst>
          </p:cNvPr>
          <p:cNvSpPr txBox="1">
            <a:spLocks/>
          </p:cNvSpPr>
          <p:nvPr/>
        </p:nvSpPr>
        <p:spPr>
          <a:xfrm>
            <a:off x="543446" y="4137769"/>
            <a:ext cx="498855" cy="465961"/>
          </a:xfrm>
          <a:prstGeom prst="rect">
            <a:avLst/>
          </a:prstGeom>
          <a:solidFill>
            <a:schemeClr val="bg1">
              <a:alpha val="54000"/>
            </a:schemeClr>
          </a:solidFill>
        </p:spPr>
        <p:txBody>
          <a:bodyPr wrap="none">
            <a:spAutoFit/>
          </a:bodyPr>
          <a:lstStyle>
            <a:defPPr>
              <a:defRPr lang="fr-FR"/>
            </a:defPPr>
            <a:lvl1pPr indent="0" algn="ctr" defTabSz="858051">
              <a:lnSpc>
                <a:spcPct val="100000"/>
              </a:lnSpc>
              <a:spcBef>
                <a:spcPts val="1689"/>
              </a:spcBef>
              <a:buSzPct val="50000"/>
              <a:buFont typeface="HelveticaNeueLT Std Lt Cn" panose="020B0406020202030204" pitchFamily="34" charset="0"/>
              <a:buNone/>
              <a:defRPr sz="2428" b="1">
                <a:solidFill>
                  <a:srgbClr val="3E5D53"/>
                </a:solidFill>
                <a:latin typeface="Corbel" panose="020B0503020204020204" pitchFamily="34" charset="0"/>
              </a:defRPr>
            </a:lvl1pPr>
            <a:lvl2pPr marL="447675" indent="-314325">
              <a:lnSpc>
                <a:spcPct val="100000"/>
              </a:lnSpc>
              <a:spcBef>
                <a:spcPts val="600"/>
              </a:spcBef>
              <a:buSzPct val="80000"/>
              <a:buFontTx/>
              <a:buBlip>
                <a:blip r:embed="rId4"/>
              </a:buBlip>
              <a:defRPr sz="1600"/>
            </a:lvl2pPr>
            <a:lvl3pPr marL="714375" indent="-1714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‒"/>
              <a:defRPr sz="1600"/>
            </a:lvl3pPr>
            <a:lvl4pPr marL="987425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>
                <a:solidFill>
                  <a:schemeClr val="bg2"/>
                </a:solidFill>
              </a:defRPr>
            </a:lvl4pPr>
            <a:lvl5pPr marL="1262063" indent="-228600">
              <a:lnSpc>
                <a:spcPct val="90000"/>
              </a:lnSpc>
              <a:spcBef>
                <a:spcPts val="500"/>
              </a:spcBef>
              <a:buFont typeface="HelveticaNeueLT Std Lt Cn" panose="020B0406020202030204" pitchFamily="34" charset="0"/>
              <a:buChar char="−"/>
              <a:defRPr sz="1050">
                <a:solidFill>
                  <a:schemeClr val="bg2"/>
                </a:solidFill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GB" dirty="0">
                <a:solidFill>
                  <a:schemeClr val="tx1"/>
                </a:solidFill>
              </a:rPr>
              <a:t>02</a:t>
            </a:r>
          </a:p>
        </p:txBody>
      </p:sp>
      <p:sp>
        <p:nvSpPr>
          <p:cNvPr id="23" name="Espace réservé du texte 68">
            <a:extLst>
              <a:ext uri="{FF2B5EF4-FFF2-40B4-BE49-F238E27FC236}">
                <a16:creationId xmlns:a16="http://schemas.microsoft.com/office/drawing/2014/main" id="{19A185AC-1B4E-F945-4AE2-4E49BB47B9C6}"/>
              </a:ext>
            </a:extLst>
          </p:cNvPr>
          <p:cNvSpPr txBox="1">
            <a:spLocks/>
          </p:cNvSpPr>
          <p:nvPr/>
        </p:nvSpPr>
        <p:spPr>
          <a:xfrm>
            <a:off x="6400043" y="2734067"/>
            <a:ext cx="4448794" cy="654489"/>
          </a:xfrm>
          <a:prstGeom prst="rect">
            <a:avLst/>
          </a:prstGeom>
          <a:solidFill>
            <a:schemeClr val="bg1">
              <a:alpha val="54000"/>
            </a:schemeClr>
          </a:solidFill>
        </p:spPr>
        <p:txBody>
          <a:bodyPr wrap="square" lIns="187255" tIns="0" rIns="0" bIns="0" anchor="ctr">
            <a:noAutofit/>
          </a:bodyPr>
          <a:lstStyle>
            <a:defPPr>
              <a:defRPr lang="fr-FR"/>
            </a:defPPr>
            <a:lvl1pPr marL="468081" indent="0" defTabSz="858051">
              <a:lnSpc>
                <a:spcPct val="100000"/>
              </a:lnSpc>
              <a:spcBef>
                <a:spcPts val="0"/>
              </a:spcBef>
              <a:buSzPct val="100000"/>
              <a:buFont typeface="+mj-lt"/>
              <a:buNone/>
              <a:defRPr b="1">
                <a:solidFill>
                  <a:prstClr val="black"/>
                </a:solidFill>
                <a:latin typeface="Candara" panose="020E0502030303020204" pitchFamily="34" charset="0"/>
              </a:defRPr>
            </a:lvl1pPr>
            <a:lvl2pPr marL="447675" indent="-314325">
              <a:lnSpc>
                <a:spcPct val="100000"/>
              </a:lnSpc>
              <a:spcBef>
                <a:spcPts val="600"/>
              </a:spcBef>
              <a:buSzPct val="80000"/>
              <a:buFont typeface="Arial" panose="020B0604020202020204" pitchFamily="34" charset="0"/>
              <a:buChar char=" "/>
              <a:defRPr sz="1600">
                <a:solidFill>
                  <a:schemeClr val="bg2"/>
                </a:solidFill>
              </a:defRPr>
            </a:lvl2pPr>
            <a:lvl3pPr marL="542925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3pPr>
            <a:lvl4pPr marL="987425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>
                <a:solidFill>
                  <a:schemeClr val="bg1"/>
                </a:solidFill>
              </a:defRPr>
            </a:lvl4pPr>
            <a:lvl5pPr marL="1262063" indent="-228600">
              <a:lnSpc>
                <a:spcPct val="90000"/>
              </a:lnSpc>
              <a:spcBef>
                <a:spcPts val="500"/>
              </a:spcBef>
              <a:buFont typeface="HelveticaNeueLT Std Lt Cn" panose="020B0406020202030204" pitchFamily="34" charset="0"/>
              <a:buChar char="−"/>
              <a:defRPr sz="1050">
                <a:solidFill>
                  <a:schemeClr val="bg1"/>
                </a:solidFill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fr-FR" dirty="0">
                <a:solidFill>
                  <a:schemeClr val="tx1"/>
                </a:solidFill>
                <a:latin typeface="Montserrat" panose="00000500000000000000" pitchFamily="2" charset="0"/>
              </a:rPr>
              <a:t>PONDERATION ET PRECISION DE L’ENQUÊTE</a:t>
            </a:r>
            <a:r>
              <a:rPr lang="fr-FR" sz="1800" b="1" dirty="0">
                <a:solidFill>
                  <a:schemeClr val="tx1"/>
                </a:solidFill>
                <a:latin typeface="Montserrat" panose="00000500000000000000" pitchFamily="2" charset="0"/>
              </a:rPr>
              <a:t> 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BB91070A-703E-E883-B8B8-8DB6416B6625}"/>
              </a:ext>
            </a:extLst>
          </p:cNvPr>
          <p:cNvSpPr txBox="1">
            <a:spLocks/>
          </p:cNvSpPr>
          <p:nvPr/>
        </p:nvSpPr>
        <p:spPr>
          <a:xfrm>
            <a:off x="6425777" y="2744036"/>
            <a:ext cx="510076" cy="465961"/>
          </a:xfrm>
          <a:prstGeom prst="rect">
            <a:avLst/>
          </a:prstGeom>
          <a:solidFill>
            <a:schemeClr val="bg1">
              <a:alpha val="54000"/>
            </a:schemeClr>
          </a:solidFill>
        </p:spPr>
        <p:txBody>
          <a:bodyPr wrap="none">
            <a:spAutoFit/>
          </a:bodyPr>
          <a:lstStyle>
            <a:defPPr>
              <a:defRPr lang="fr-FR"/>
            </a:defPPr>
            <a:lvl1pPr indent="0" algn="ctr" defTabSz="858051">
              <a:lnSpc>
                <a:spcPct val="100000"/>
              </a:lnSpc>
              <a:spcBef>
                <a:spcPts val="1689"/>
              </a:spcBef>
              <a:buSzPct val="50000"/>
              <a:buFont typeface="HelveticaNeueLT Std Lt Cn" panose="020B0406020202030204" pitchFamily="34" charset="0"/>
              <a:buNone/>
              <a:defRPr sz="2428" b="1">
                <a:solidFill>
                  <a:srgbClr val="3E5D53"/>
                </a:solidFill>
                <a:latin typeface="Corbel" panose="020B0503020204020204" pitchFamily="34" charset="0"/>
              </a:defRPr>
            </a:lvl1pPr>
            <a:lvl2pPr marL="447675" indent="-314325">
              <a:lnSpc>
                <a:spcPct val="100000"/>
              </a:lnSpc>
              <a:spcBef>
                <a:spcPts val="600"/>
              </a:spcBef>
              <a:buSzPct val="80000"/>
              <a:buFontTx/>
              <a:buBlip>
                <a:blip r:embed="rId4"/>
              </a:buBlip>
              <a:defRPr sz="1600"/>
            </a:lvl2pPr>
            <a:lvl3pPr marL="714375" indent="-1714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‒"/>
              <a:defRPr sz="1600"/>
            </a:lvl3pPr>
            <a:lvl4pPr marL="987425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>
                <a:solidFill>
                  <a:schemeClr val="bg2"/>
                </a:solidFill>
              </a:defRPr>
            </a:lvl4pPr>
            <a:lvl5pPr marL="1262063" indent="-228600">
              <a:lnSpc>
                <a:spcPct val="90000"/>
              </a:lnSpc>
              <a:spcBef>
                <a:spcPts val="500"/>
              </a:spcBef>
              <a:buFont typeface="HelveticaNeueLT Std Lt Cn" panose="020B0406020202030204" pitchFamily="34" charset="0"/>
              <a:buChar char="−"/>
              <a:defRPr sz="1050">
                <a:solidFill>
                  <a:schemeClr val="bg2"/>
                </a:solidFill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GB" dirty="0">
                <a:solidFill>
                  <a:schemeClr val="tx1"/>
                </a:solidFill>
              </a:rPr>
              <a:t>04</a:t>
            </a:r>
          </a:p>
        </p:txBody>
      </p:sp>
      <p:sp>
        <p:nvSpPr>
          <p:cNvPr id="25" name="Espace réservé du texte 68">
            <a:extLst>
              <a:ext uri="{FF2B5EF4-FFF2-40B4-BE49-F238E27FC236}">
                <a16:creationId xmlns:a16="http://schemas.microsoft.com/office/drawing/2014/main" id="{EA324CF5-EA04-CADF-BD3F-CE6B0FD02AD2}"/>
              </a:ext>
            </a:extLst>
          </p:cNvPr>
          <p:cNvSpPr txBox="1">
            <a:spLocks/>
          </p:cNvSpPr>
          <p:nvPr/>
        </p:nvSpPr>
        <p:spPr>
          <a:xfrm>
            <a:off x="6498366" y="5447668"/>
            <a:ext cx="4448794" cy="654489"/>
          </a:xfrm>
          <a:prstGeom prst="rect">
            <a:avLst/>
          </a:prstGeom>
          <a:solidFill>
            <a:schemeClr val="bg1">
              <a:alpha val="54000"/>
            </a:schemeClr>
          </a:solidFill>
        </p:spPr>
        <p:txBody>
          <a:bodyPr wrap="square" lIns="187255" tIns="0" rIns="0" bIns="0" anchor="ctr">
            <a:noAutofit/>
          </a:bodyPr>
          <a:lstStyle>
            <a:defPPr>
              <a:defRPr lang="fr-FR"/>
            </a:defPPr>
            <a:lvl1pPr marL="468081" indent="0" defTabSz="858051">
              <a:lnSpc>
                <a:spcPct val="100000"/>
              </a:lnSpc>
              <a:spcBef>
                <a:spcPts val="0"/>
              </a:spcBef>
              <a:buSzPct val="100000"/>
              <a:buFont typeface="+mj-lt"/>
              <a:buNone/>
              <a:defRPr b="1">
                <a:solidFill>
                  <a:prstClr val="black"/>
                </a:solidFill>
                <a:latin typeface="Candara" panose="020E0502030303020204" pitchFamily="34" charset="0"/>
              </a:defRPr>
            </a:lvl1pPr>
            <a:lvl2pPr marL="447675" indent="-314325">
              <a:lnSpc>
                <a:spcPct val="100000"/>
              </a:lnSpc>
              <a:spcBef>
                <a:spcPts val="600"/>
              </a:spcBef>
              <a:buSzPct val="80000"/>
              <a:buFont typeface="Arial" panose="020B0604020202020204" pitchFamily="34" charset="0"/>
              <a:buChar char=" "/>
              <a:defRPr sz="1600">
                <a:solidFill>
                  <a:schemeClr val="bg2"/>
                </a:solidFill>
              </a:defRPr>
            </a:lvl2pPr>
            <a:lvl3pPr marL="542925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3pPr>
            <a:lvl4pPr marL="987425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>
                <a:solidFill>
                  <a:schemeClr val="bg1"/>
                </a:solidFill>
              </a:defRPr>
            </a:lvl4pPr>
            <a:lvl5pPr marL="1262063" indent="-228600">
              <a:lnSpc>
                <a:spcPct val="90000"/>
              </a:lnSpc>
              <a:spcBef>
                <a:spcPts val="500"/>
              </a:spcBef>
              <a:buFont typeface="HelveticaNeueLT Std Lt Cn" panose="020B0406020202030204" pitchFamily="34" charset="0"/>
              <a:buChar char="−"/>
              <a:defRPr sz="1050">
                <a:solidFill>
                  <a:schemeClr val="bg1"/>
                </a:solidFill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dirty="0">
                <a:latin typeface="Montserrat" panose="00000500000000000000" pitchFamily="2" charset="0"/>
              </a:rPr>
              <a:t>CONCLUSION</a:t>
            </a:r>
            <a:endParaRPr lang="fr-FR" dirty="0">
              <a:latin typeface="Montserrat" panose="00000500000000000000" pitchFamily="2" charset="0"/>
            </a:endParaRP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78E22B83-5243-CBD6-BA8C-F83D3A70270C}"/>
              </a:ext>
            </a:extLst>
          </p:cNvPr>
          <p:cNvSpPr txBox="1">
            <a:spLocks/>
          </p:cNvSpPr>
          <p:nvPr/>
        </p:nvSpPr>
        <p:spPr>
          <a:xfrm>
            <a:off x="6507984" y="5527353"/>
            <a:ext cx="497252" cy="465961"/>
          </a:xfrm>
          <a:prstGeom prst="rect">
            <a:avLst/>
          </a:prstGeom>
          <a:solidFill>
            <a:schemeClr val="bg1">
              <a:alpha val="54000"/>
            </a:schemeClr>
          </a:solidFill>
        </p:spPr>
        <p:txBody>
          <a:bodyPr wrap="none">
            <a:spAutoFit/>
          </a:bodyPr>
          <a:lstStyle>
            <a:defPPr>
              <a:defRPr lang="fr-FR"/>
            </a:defPPr>
            <a:lvl1pPr indent="0" algn="ctr" defTabSz="858051">
              <a:lnSpc>
                <a:spcPct val="100000"/>
              </a:lnSpc>
              <a:spcBef>
                <a:spcPts val="1689"/>
              </a:spcBef>
              <a:buSzPct val="50000"/>
              <a:buFont typeface="HelveticaNeueLT Std Lt Cn" panose="020B0406020202030204" pitchFamily="34" charset="0"/>
              <a:buNone/>
              <a:defRPr sz="2428" b="1">
                <a:solidFill>
                  <a:srgbClr val="3E5D53"/>
                </a:solidFill>
                <a:latin typeface="Corbel" panose="020B0503020204020204" pitchFamily="34" charset="0"/>
              </a:defRPr>
            </a:lvl1pPr>
            <a:lvl2pPr marL="447675" indent="-314325">
              <a:lnSpc>
                <a:spcPct val="100000"/>
              </a:lnSpc>
              <a:spcBef>
                <a:spcPts val="600"/>
              </a:spcBef>
              <a:buSzPct val="80000"/>
              <a:buFontTx/>
              <a:buBlip>
                <a:blip r:embed="rId4"/>
              </a:buBlip>
              <a:defRPr sz="1600"/>
            </a:lvl2pPr>
            <a:lvl3pPr marL="714375" indent="-1714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‒"/>
              <a:defRPr sz="1600"/>
            </a:lvl3pPr>
            <a:lvl4pPr marL="987425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>
                <a:solidFill>
                  <a:schemeClr val="bg2"/>
                </a:solidFill>
              </a:defRPr>
            </a:lvl4pPr>
            <a:lvl5pPr marL="1262063" indent="-228600">
              <a:lnSpc>
                <a:spcPct val="90000"/>
              </a:lnSpc>
              <a:spcBef>
                <a:spcPts val="500"/>
              </a:spcBef>
              <a:buFont typeface="HelveticaNeueLT Std Lt Cn" panose="020B0406020202030204" pitchFamily="34" charset="0"/>
              <a:buChar char="−"/>
              <a:defRPr sz="1050">
                <a:solidFill>
                  <a:schemeClr val="bg2"/>
                </a:solidFill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GB">
                <a:solidFill>
                  <a:schemeClr val="tx1"/>
                </a:solidFill>
              </a:rPr>
              <a:t>0</a:t>
            </a:r>
            <a:r>
              <a:rPr lang="en-GB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6228A973-E3FC-AAB0-0992-F4E24ED7F897}"/>
              </a:ext>
            </a:extLst>
          </p:cNvPr>
          <p:cNvSpPr txBox="1"/>
          <p:nvPr/>
        </p:nvSpPr>
        <p:spPr>
          <a:xfrm>
            <a:off x="497195" y="1256096"/>
            <a:ext cx="705353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400" b="1" dirty="0">
                <a:latin typeface="Montserrat" panose="00000500000000000000" pitchFamily="2" charset="0"/>
              </a:rPr>
              <a:t>Plan de la présentation</a:t>
            </a:r>
          </a:p>
        </p:txBody>
      </p:sp>
      <p:sp>
        <p:nvSpPr>
          <p:cNvPr id="3" name="Espace réservé du texte 65">
            <a:extLst>
              <a:ext uri="{FF2B5EF4-FFF2-40B4-BE49-F238E27FC236}">
                <a16:creationId xmlns:a16="http://schemas.microsoft.com/office/drawing/2014/main" id="{C9DF45AC-3E99-BC98-C2B7-5B5E4D034D1F}"/>
              </a:ext>
            </a:extLst>
          </p:cNvPr>
          <p:cNvSpPr txBox="1">
            <a:spLocks/>
          </p:cNvSpPr>
          <p:nvPr/>
        </p:nvSpPr>
        <p:spPr>
          <a:xfrm>
            <a:off x="543446" y="5447668"/>
            <a:ext cx="4448794" cy="654489"/>
          </a:xfrm>
          <a:prstGeom prst="rect">
            <a:avLst/>
          </a:prstGeom>
          <a:solidFill>
            <a:schemeClr val="bg1">
              <a:alpha val="54000"/>
            </a:schemeClr>
          </a:solidFill>
        </p:spPr>
        <p:txBody>
          <a:bodyPr wrap="square" lIns="187255" tIns="0" rIns="0" bIns="0" anchor="ctr">
            <a:noAutofit/>
          </a:bodyPr>
          <a:lstStyle>
            <a:defPPr>
              <a:defRPr lang="fr-FR"/>
            </a:defPPr>
            <a:lvl1pPr marL="468081" indent="0" defTabSz="858051">
              <a:lnSpc>
                <a:spcPct val="100000"/>
              </a:lnSpc>
              <a:spcBef>
                <a:spcPts val="0"/>
              </a:spcBef>
              <a:buSzPct val="100000"/>
              <a:buFont typeface="+mj-lt"/>
              <a:buNone/>
              <a:defRPr b="1">
                <a:solidFill>
                  <a:prstClr val="black"/>
                </a:solidFill>
                <a:latin typeface="Candara" panose="020E0502030303020204" pitchFamily="34" charset="0"/>
              </a:defRPr>
            </a:lvl1pPr>
            <a:lvl2pPr marL="447675" indent="-314325">
              <a:lnSpc>
                <a:spcPct val="100000"/>
              </a:lnSpc>
              <a:spcBef>
                <a:spcPts val="600"/>
              </a:spcBef>
              <a:buSzPct val="80000"/>
              <a:buFont typeface="Arial" panose="020B0604020202020204" pitchFamily="34" charset="0"/>
              <a:buChar char=" "/>
              <a:defRPr sz="1600">
                <a:solidFill>
                  <a:schemeClr val="bg2"/>
                </a:solidFill>
              </a:defRPr>
            </a:lvl2pPr>
            <a:lvl3pPr marL="542925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3pPr>
            <a:lvl4pPr marL="987425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>
                <a:solidFill>
                  <a:schemeClr val="bg1"/>
                </a:solidFill>
              </a:defRPr>
            </a:lvl4pPr>
            <a:lvl5pPr marL="1262063" indent="-228600">
              <a:lnSpc>
                <a:spcPct val="90000"/>
              </a:lnSpc>
              <a:spcBef>
                <a:spcPts val="500"/>
              </a:spcBef>
              <a:buFont typeface="HelveticaNeueLT Std Lt Cn" panose="020B0406020202030204" pitchFamily="34" charset="0"/>
              <a:buChar char="−"/>
              <a:defRPr sz="1050">
                <a:solidFill>
                  <a:schemeClr val="bg1"/>
                </a:solidFill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fr-FR" dirty="0">
                <a:latin typeface="Montserrat" panose="00000500000000000000" pitchFamily="2" charset="0"/>
              </a:rPr>
              <a:t>DEROULEMENT DE L’ENQUÊTE</a:t>
            </a:r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5AB3326A-C325-5039-55DB-76028C32473B}"/>
              </a:ext>
            </a:extLst>
          </p:cNvPr>
          <p:cNvSpPr txBox="1">
            <a:spLocks/>
          </p:cNvSpPr>
          <p:nvPr/>
        </p:nvSpPr>
        <p:spPr>
          <a:xfrm>
            <a:off x="593544" y="5548117"/>
            <a:ext cx="491161" cy="465961"/>
          </a:xfrm>
          <a:prstGeom prst="rect">
            <a:avLst/>
          </a:prstGeom>
          <a:solidFill>
            <a:schemeClr val="bg1">
              <a:alpha val="54000"/>
            </a:schemeClr>
          </a:solidFill>
        </p:spPr>
        <p:txBody>
          <a:bodyPr wrap="none">
            <a:spAutoFit/>
          </a:bodyPr>
          <a:lstStyle>
            <a:defPPr>
              <a:defRPr lang="fr-FR"/>
            </a:defPPr>
            <a:lvl1pPr indent="0" algn="ctr" defTabSz="858051">
              <a:lnSpc>
                <a:spcPct val="100000"/>
              </a:lnSpc>
              <a:spcBef>
                <a:spcPts val="1689"/>
              </a:spcBef>
              <a:buSzPct val="50000"/>
              <a:buFont typeface="HelveticaNeueLT Std Lt Cn" panose="020B0406020202030204" pitchFamily="34" charset="0"/>
              <a:buNone/>
              <a:defRPr sz="2428" b="1">
                <a:solidFill>
                  <a:srgbClr val="3E5D53"/>
                </a:solidFill>
                <a:latin typeface="Corbel" panose="020B0503020204020204" pitchFamily="34" charset="0"/>
              </a:defRPr>
            </a:lvl1pPr>
            <a:lvl2pPr marL="447675" indent="-314325">
              <a:lnSpc>
                <a:spcPct val="100000"/>
              </a:lnSpc>
              <a:spcBef>
                <a:spcPts val="600"/>
              </a:spcBef>
              <a:buSzPct val="80000"/>
              <a:buFontTx/>
              <a:buBlip>
                <a:blip r:embed="rId4"/>
              </a:buBlip>
              <a:defRPr sz="1600"/>
            </a:lvl2pPr>
            <a:lvl3pPr marL="714375" indent="-1714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‒"/>
              <a:defRPr sz="1600"/>
            </a:lvl3pPr>
            <a:lvl4pPr marL="987425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>
                <a:solidFill>
                  <a:schemeClr val="bg2"/>
                </a:solidFill>
              </a:defRPr>
            </a:lvl4pPr>
            <a:lvl5pPr marL="1262063" indent="-228600">
              <a:lnSpc>
                <a:spcPct val="90000"/>
              </a:lnSpc>
              <a:spcBef>
                <a:spcPts val="500"/>
              </a:spcBef>
              <a:buFont typeface="HelveticaNeueLT Std Lt Cn" panose="020B0406020202030204" pitchFamily="34" charset="0"/>
              <a:buChar char="−"/>
              <a:defRPr sz="1050">
                <a:solidFill>
                  <a:schemeClr val="bg2"/>
                </a:solidFill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GB" dirty="0">
                <a:solidFill>
                  <a:schemeClr val="tx1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7380934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486B9A-DBB6-3F6C-EB3C-F26B78FB2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5F2BB10C-05F4-E55C-ABB6-371F7FB9BA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79" y="197971"/>
            <a:ext cx="1895732" cy="582424"/>
          </a:xfrm>
          <a:prstGeom prst="rect">
            <a:avLst/>
          </a:prstGeom>
        </p:spPr>
      </p:pic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F6ED5A81-9787-28D9-AB04-42F004DAA62A}"/>
              </a:ext>
            </a:extLst>
          </p:cNvPr>
          <p:cNvCxnSpPr>
            <a:cxnSpLocks/>
          </p:cNvCxnSpPr>
          <p:nvPr/>
        </p:nvCxnSpPr>
        <p:spPr>
          <a:xfrm>
            <a:off x="800210" y="3818338"/>
            <a:ext cx="4970670" cy="0"/>
          </a:xfrm>
          <a:prstGeom prst="line">
            <a:avLst/>
          </a:prstGeom>
          <a:ln>
            <a:solidFill>
              <a:srgbClr val="3E5D5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4451CBDA-E7AF-373B-B878-D8BADF3827DD}"/>
              </a:ext>
            </a:extLst>
          </p:cNvPr>
          <p:cNvCxnSpPr/>
          <p:nvPr/>
        </p:nvCxnSpPr>
        <p:spPr>
          <a:xfrm>
            <a:off x="6469711" y="3818338"/>
            <a:ext cx="3091070" cy="0"/>
          </a:xfrm>
          <a:prstGeom prst="line">
            <a:avLst/>
          </a:prstGeom>
          <a:ln>
            <a:solidFill>
              <a:srgbClr val="F5862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5" name="Ellipse 34">
            <a:extLst>
              <a:ext uri="{FF2B5EF4-FFF2-40B4-BE49-F238E27FC236}">
                <a16:creationId xmlns:a16="http://schemas.microsoft.com/office/drawing/2014/main" id="{26FBEE16-E267-A0D1-7D48-E723D61CD15A}"/>
              </a:ext>
            </a:extLst>
          </p:cNvPr>
          <p:cNvSpPr/>
          <p:nvPr/>
        </p:nvSpPr>
        <p:spPr>
          <a:xfrm>
            <a:off x="5843553" y="3596124"/>
            <a:ext cx="543326" cy="434144"/>
          </a:xfrm>
          <a:prstGeom prst="ellipse">
            <a:avLst/>
          </a:prstGeom>
          <a:solidFill>
            <a:schemeClr val="bg1"/>
          </a:solidFill>
          <a:ln>
            <a:solidFill>
              <a:srgbClr val="F586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2"/>
                </a:solidFill>
                <a:latin typeface="Candara" panose="020E0502030303020204" pitchFamily="34" charset="0"/>
              </a:rPr>
              <a:t>1</a:t>
            </a:r>
          </a:p>
        </p:txBody>
      </p:sp>
      <p:sp>
        <p:nvSpPr>
          <p:cNvPr id="36" name="Rectangle à coins arrondis 4">
            <a:extLst>
              <a:ext uri="{FF2B5EF4-FFF2-40B4-BE49-F238E27FC236}">
                <a16:creationId xmlns:a16="http://schemas.microsoft.com/office/drawing/2014/main" id="{15157E80-E886-7B0A-A03F-5C163BFF0E65}"/>
              </a:ext>
            </a:extLst>
          </p:cNvPr>
          <p:cNvSpPr/>
          <p:nvPr/>
        </p:nvSpPr>
        <p:spPr>
          <a:xfrm>
            <a:off x="640079" y="2332410"/>
            <a:ext cx="9447818" cy="1263710"/>
          </a:xfrm>
          <a:prstGeom prst="round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3600" b="1" dirty="0">
                <a:solidFill>
                  <a:schemeClr val="tx1"/>
                </a:solidFill>
                <a:latin typeface="Montserrat" panose="00000500000000000000" pitchFamily="2" charset="0"/>
              </a:rPr>
              <a:t>INTRODUCTION/OBJECTIFS</a:t>
            </a:r>
          </a:p>
        </p:txBody>
      </p:sp>
    </p:spTree>
    <p:extLst>
      <p:ext uri="{BB962C8B-B14F-4D97-AF65-F5344CB8AC3E}">
        <p14:creationId xmlns:p14="http://schemas.microsoft.com/office/powerpoint/2010/main" val="7429662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2C048C-9109-1C1D-02C7-AC8111584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4600B611-0E5B-366B-E755-54293CDB0E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79" y="197971"/>
            <a:ext cx="1895732" cy="582424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6D0BE034-4D40-D728-02B2-8B2AC89D523B}"/>
              </a:ext>
            </a:extLst>
          </p:cNvPr>
          <p:cNvSpPr txBox="1"/>
          <p:nvPr/>
        </p:nvSpPr>
        <p:spPr>
          <a:xfrm>
            <a:off x="640079" y="1403166"/>
            <a:ext cx="10310950" cy="6389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7000"/>
              </a:lnSpc>
              <a:spcAft>
                <a:spcPts val="800"/>
              </a:spcAft>
              <a:buNone/>
            </a:pPr>
            <a:r>
              <a:rPr lang="fr-FR" sz="1800" kern="0" dirty="0">
                <a:effectLst/>
                <a:latin typeface="Montserrat" panose="00000500000000000000" pitchFamily="2" charset="0"/>
                <a:ea typeface="DengXian Light" panose="02010600030101010101" pitchFamily="2" charset="-122"/>
                <a:cs typeface="Times New Roman" panose="02020603050405020304" pitchFamily="18" charset="0"/>
              </a:rPr>
              <a:t>L'objectif général est de proposer une méthodologie de construction d’un dispositif d’observation et d’analyse de la vie chère ;</a:t>
            </a:r>
            <a:endParaRPr lang="fr-FR" sz="1800" dirty="0">
              <a:effectLst/>
              <a:latin typeface="Montserrat" panose="00000500000000000000" pitchFamily="2" charset="0"/>
              <a:ea typeface="DengXian Light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7000"/>
              </a:lnSpc>
              <a:spcAft>
                <a:spcPts val="800"/>
              </a:spcAft>
              <a:buNone/>
            </a:pPr>
            <a:endParaRPr lang="fr-FR" dirty="0">
              <a:latin typeface="Montserrat" panose="00000500000000000000" pitchFamily="2" charset="0"/>
              <a:ea typeface="DengXian Light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7000"/>
              </a:lnSpc>
              <a:spcAft>
                <a:spcPts val="800"/>
              </a:spcAft>
              <a:buNone/>
            </a:pPr>
            <a:endParaRPr lang="fr-FR" sz="1800" dirty="0">
              <a:effectLst/>
              <a:latin typeface="Montserrat" panose="00000500000000000000" pitchFamily="2" charset="0"/>
              <a:ea typeface="DengXian Light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7000"/>
              </a:lnSpc>
              <a:spcAft>
                <a:spcPts val="800"/>
              </a:spcAft>
              <a:buNone/>
            </a:pPr>
            <a:r>
              <a:rPr lang="fr-FR" sz="1800" dirty="0">
                <a:effectLst/>
                <a:latin typeface="Montserrat" panose="00000500000000000000" pitchFamily="2" charset="0"/>
                <a:ea typeface="DengXian Light" panose="02010600030101010101" pitchFamily="2" charset="-122"/>
                <a:cs typeface="Times New Roman" panose="02020603050405020304" pitchFamily="18" charset="0"/>
              </a:rPr>
              <a:t>De façon spécifique, il s’agira de :</a:t>
            </a:r>
            <a:endParaRPr lang="fr-F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fr-FR" sz="1800" dirty="0">
                <a:effectLst/>
                <a:latin typeface="Montserrat" panose="00000500000000000000" pitchFamily="2" charset="0"/>
                <a:ea typeface="DengXian Light" panose="02010600030101010101" pitchFamily="2" charset="-122"/>
                <a:cs typeface="Times New Roman" panose="02020603050405020304" pitchFamily="18" charset="0"/>
              </a:rPr>
              <a:t>Apprécier le phénomène de vie chère /coût de la vie et suivre son évolution de façon régulière ;</a:t>
            </a:r>
            <a:endParaRPr lang="fr-F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fr-FR" sz="1800" dirty="0">
                <a:effectLst/>
                <a:latin typeface="Montserrat" panose="00000500000000000000" pitchFamily="2" charset="0"/>
                <a:ea typeface="DengXian Light" panose="02010600030101010101" pitchFamily="2" charset="-122"/>
                <a:cs typeface="Times New Roman" panose="02020603050405020304" pitchFamily="18" charset="0"/>
              </a:rPr>
              <a:t>Construire un indicateur/indice permettant d'évaluer l'impact des différentes mesures et actions mises en œuvre par le Gouvernement dans le cadre de la lutte contre la vie chère en Côte d’Ivoire ;</a:t>
            </a:r>
            <a:endParaRPr lang="fr-F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fr-FR" sz="1800" dirty="0">
                <a:effectLst/>
                <a:latin typeface="Montserrat" panose="00000500000000000000" pitchFamily="2" charset="0"/>
                <a:ea typeface="DengXian Light" panose="02010600030101010101" pitchFamily="2" charset="-122"/>
                <a:cs typeface="Times New Roman" panose="02020603050405020304" pitchFamily="18" charset="0"/>
              </a:rPr>
              <a:t>Disposer d'un outil qui permet de saisir le ressenti et le vécu de la population ivoirienne en matière de cherté de la vie.</a:t>
            </a:r>
            <a:endParaRPr lang="fr-F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800"/>
              </a:spcAft>
            </a:pPr>
            <a:endParaRPr lang="fr-FR" kern="100" dirty="0">
              <a:latin typeface="Montserrat" panose="00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algn="just">
              <a:spcAft>
                <a:spcPts val="800"/>
              </a:spcAft>
            </a:pPr>
            <a:endParaRPr lang="fr-FR" kern="100" dirty="0">
              <a:latin typeface="Montserrat" panose="00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algn="just">
              <a:spcAft>
                <a:spcPts val="800"/>
              </a:spcAft>
            </a:pPr>
            <a:endParaRPr lang="fr-FR" kern="100" dirty="0">
              <a:latin typeface="Montserrat" panose="00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algn="just">
              <a:spcAft>
                <a:spcPts val="800"/>
              </a:spcAft>
            </a:pPr>
            <a:endParaRPr lang="fr-FR" kern="100" dirty="0">
              <a:effectLst/>
              <a:latin typeface="Montserrat" panose="00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algn="just">
              <a:spcAft>
                <a:spcPts val="800"/>
              </a:spcAft>
            </a:pPr>
            <a:endParaRPr lang="fr-FR" kern="100" dirty="0">
              <a:latin typeface="Montserrat" panose="00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26811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7B7D58-7E30-CB7F-DAF4-0E1C43434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61164500-E64B-57B4-224C-D3DC807F43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79" y="197971"/>
            <a:ext cx="1895732" cy="582424"/>
          </a:xfrm>
          <a:prstGeom prst="rect">
            <a:avLst/>
          </a:prstGeom>
        </p:spPr>
      </p:pic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69682129-5DFD-CD9D-6566-1996A69FB5ED}"/>
              </a:ext>
            </a:extLst>
          </p:cNvPr>
          <p:cNvCxnSpPr>
            <a:cxnSpLocks/>
          </p:cNvCxnSpPr>
          <p:nvPr/>
        </p:nvCxnSpPr>
        <p:spPr>
          <a:xfrm>
            <a:off x="800210" y="3818338"/>
            <a:ext cx="4970670" cy="0"/>
          </a:xfrm>
          <a:prstGeom prst="line">
            <a:avLst/>
          </a:prstGeom>
          <a:ln>
            <a:solidFill>
              <a:srgbClr val="3E5D5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FAB3D62F-2E6C-B774-C866-8C0827D1D673}"/>
              </a:ext>
            </a:extLst>
          </p:cNvPr>
          <p:cNvCxnSpPr/>
          <p:nvPr/>
        </p:nvCxnSpPr>
        <p:spPr>
          <a:xfrm>
            <a:off x="6469711" y="3818338"/>
            <a:ext cx="3091070" cy="0"/>
          </a:xfrm>
          <a:prstGeom prst="line">
            <a:avLst/>
          </a:prstGeom>
          <a:ln>
            <a:solidFill>
              <a:srgbClr val="F5862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5" name="Ellipse 34">
            <a:extLst>
              <a:ext uri="{FF2B5EF4-FFF2-40B4-BE49-F238E27FC236}">
                <a16:creationId xmlns:a16="http://schemas.microsoft.com/office/drawing/2014/main" id="{DA1DEDA8-6496-3C50-9C55-7A0AC14B550C}"/>
              </a:ext>
            </a:extLst>
          </p:cNvPr>
          <p:cNvSpPr/>
          <p:nvPr/>
        </p:nvSpPr>
        <p:spPr>
          <a:xfrm>
            <a:off x="5843553" y="3596124"/>
            <a:ext cx="543326" cy="434144"/>
          </a:xfrm>
          <a:prstGeom prst="ellipse">
            <a:avLst/>
          </a:prstGeom>
          <a:solidFill>
            <a:schemeClr val="bg1"/>
          </a:solidFill>
          <a:ln>
            <a:solidFill>
              <a:srgbClr val="F586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2"/>
                </a:solidFill>
                <a:latin typeface="Candara" panose="020E0502030303020204" pitchFamily="34" charset="0"/>
              </a:rPr>
              <a:t>2</a:t>
            </a:r>
          </a:p>
        </p:txBody>
      </p:sp>
      <p:sp>
        <p:nvSpPr>
          <p:cNvPr id="36" name="Rectangle à coins arrondis 4">
            <a:extLst>
              <a:ext uri="{FF2B5EF4-FFF2-40B4-BE49-F238E27FC236}">
                <a16:creationId xmlns:a16="http://schemas.microsoft.com/office/drawing/2014/main" id="{BCFED18B-23BD-AF2F-2988-8132D91AC968}"/>
              </a:ext>
            </a:extLst>
          </p:cNvPr>
          <p:cNvSpPr/>
          <p:nvPr/>
        </p:nvSpPr>
        <p:spPr>
          <a:xfrm>
            <a:off x="640078" y="1898266"/>
            <a:ext cx="7630162" cy="1697858"/>
          </a:xfrm>
          <a:prstGeom prst="round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3600" b="1" dirty="0">
                <a:solidFill>
                  <a:schemeClr val="tx1"/>
                </a:solidFill>
                <a:latin typeface="Montserrat" panose="00000500000000000000" pitchFamily="2" charset="0"/>
              </a:rPr>
              <a:t>METHODOLOGIE</a:t>
            </a:r>
          </a:p>
        </p:txBody>
      </p:sp>
    </p:spTree>
    <p:extLst>
      <p:ext uri="{BB962C8B-B14F-4D97-AF65-F5344CB8AC3E}">
        <p14:creationId xmlns:p14="http://schemas.microsoft.com/office/powerpoint/2010/main" val="20387013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2579F1-162D-A3DF-657A-1E97F1366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A7ED87D0-753E-0F05-5C6C-BFE8E01C4A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79" y="197971"/>
            <a:ext cx="1895732" cy="582424"/>
          </a:xfrm>
          <a:prstGeom prst="rect">
            <a:avLst/>
          </a:prstGeom>
        </p:spPr>
      </p:pic>
      <p:sp>
        <p:nvSpPr>
          <p:cNvPr id="2" name="Rectangle à coins arrondis 4">
            <a:extLst>
              <a:ext uri="{FF2B5EF4-FFF2-40B4-BE49-F238E27FC236}">
                <a16:creationId xmlns:a16="http://schemas.microsoft.com/office/drawing/2014/main" id="{3670D95F-E2CD-3478-F251-A5031467D19C}"/>
              </a:ext>
            </a:extLst>
          </p:cNvPr>
          <p:cNvSpPr/>
          <p:nvPr/>
        </p:nvSpPr>
        <p:spPr>
          <a:xfrm>
            <a:off x="165100" y="780395"/>
            <a:ext cx="11092179" cy="835507"/>
          </a:xfrm>
          <a:prstGeom prst="round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2400" b="1" dirty="0">
                <a:solidFill>
                  <a:schemeClr val="tx1"/>
                </a:solidFill>
                <a:latin typeface="Montserrat" panose="00000500000000000000" pitchFamily="2" charset="0"/>
              </a:rPr>
              <a:t>Echantillonnage 					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E9A141A7-233A-52C8-DF45-3DAD0190962B}"/>
              </a:ext>
            </a:extLst>
          </p:cNvPr>
          <p:cNvSpPr txBox="1"/>
          <p:nvPr/>
        </p:nvSpPr>
        <p:spPr>
          <a:xfrm>
            <a:off x="165100" y="1549617"/>
            <a:ext cx="12026900" cy="55912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kern="100" dirty="0">
                <a:latin typeface="Montserrat" panose="00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La base de sondage contient 12428 ménages issus de l’EHCVM de 2021 pour lesquels on a des contacts téléphoniques d’au moins un membre du ménage;</a:t>
            </a:r>
          </a:p>
          <a:p>
            <a:pPr algn="just"/>
            <a:endParaRPr lang="fr-FR" kern="100" dirty="0">
              <a:latin typeface="Montserrat" panose="00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algn="just"/>
            <a:r>
              <a:rPr lang="fr-FR" sz="1800" kern="0" dirty="0">
                <a:effectLst/>
                <a:latin typeface="Montserrat" panose="00000500000000000000" pitchFamily="2" charset="0"/>
                <a:ea typeface="DengXian Light" panose="02010600030101010101" pitchFamily="2" charset="-122"/>
                <a:cs typeface="Times New Roman" panose="02020603050405020304" pitchFamily="18" charset="0"/>
              </a:rPr>
              <a:t>Notre échantillon global est constitué de 10669 ménages qui sont répartis en 24 sous-échantillons à raison de plus ou moins 446 ménages chacun ;</a:t>
            </a:r>
          </a:p>
          <a:p>
            <a:pPr algn="just"/>
            <a:endParaRPr lang="fr-FR" kern="100" dirty="0">
              <a:latin typeface="Montserrat" panose="00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fr-FR" sz="1800" dirty="0">
                <a:effectLst/>
                <a:latin typeface="Montserrat" panose="00000500000000000000" pitchFamily="2" charset="0"/>
                <a:ea typeface="DengXian Light" panose="02010600030101010101" pitchFamily="2" charset="-122"/>
                <a:cs typeface="Times New Roman" panose="02020603050405020304" pitchFamily="18" charset="0"/>
              </a:rPr>
              <a:t>L’échantillon tiré couvre en tout 24 mois d’interrogation, soit 2 ans, au cours desquels il y aura des interrogations et des ré-interrogations.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endParaRPr lang="fr-FR" kern="100" dirty="0">
              <a:latin typeface="Montserrat" panose="00000500000000000000" pitchFamily="2" charset="0"/>
              <a:ea typeface="DengXian Light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fr-FR" sz="2400" b="1" dirty="0">
                <a:latin typeface="Montserrat" panose="00000500000000000000" pitchFamily="2" charset="0"/>
              </a:rPr>
              <a:t>Plan de collecte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fr-FR" sz="1800" kern="0" dirty="0">
                <a:effectLst/>
                <a:latin typeface="Montserrat" panose="00000500000000000000" pitchFamily="2" charset="0"/>
                <a:ea typeface="DengXian Light" panose="02010600030101010101" pitchFamily="2" charset="-122"/>
                <a:cs typeface="Times New Roman" panose="02020603050405020304" pitchFamily="18" charset="0"/>
              </a:rPr>
              <a:t>Un panel rotatif du modèle « 3-9-3 » est adopté : </a:t>
            </a:r>
            <a:r>
              <a:rPr lang="fr-FR" sz="1800" b="1" kern="0" dirty="0">
                <a:effectLst/>
                <a:latin typeface="Montserrat" panose="00000500000000000000" pitchFamily="2" charset="0"/>
                <a:ea typeface="DengXian Light" panose="02010600030101010101" pitchFamily="2" charset="-122"/>
                <a:cs typeface="Times New Roman" panose="02020603050405020304" pitchFamily="18" charset="0"/>
              </a:rPr>
              <a:t>3 mois d’</a:t>
            </a:r>
            <a:r>
              <a:rPr lang="fr-FR" sz="1800" b="1" kern="0" dirty="0" err="1">
                <a:effectLst/>
                <a:latin typeface="Montserrat" panose="00000500000000000000" pitchFamily="2" charset="0"/>
                <a:ea typeface="DengXian Light" panose="02010600030101010101" pitchFamily="2" charset="-122"/>
                <a:cs typeface="Times New Roman" panose="02020603050405020304" pitchFamily="18" charset="0"/>
              </a:rPr>
              <a:t>intérrogations</a:t>
            </a:r>
            <a:r>
              <a:rPr lang="fr-FR" sz="1800" b="1" kern="0" dirty="0">
                <a:effectLst/>
                <a:latin typeface="Montserrat" panose="00000500000000000000" pitchFamily="2" charset="0"/>
                <a:ea typeface="DengXian Light" panose="02010600030101010101" pitchFamily="2" charset="-122"/>
                <a:cs typeface="Times New Roman" panose="02020603050405020304" pitchFamily="18" charset="0"/>
              </a:rPr>
              <a:t>  , 9 mois de non </a:t>
            </a:r>
            <a:r>
              <a:rPr lang="fr-FR" sz="1800" b="1" kern="0" dirty="0" err="1">
                <a:effectLst/>
                <a:latin typeface="Montserrat" panose="00000500000000000000" pitchFamily="2" charset="0"/>
                <a:ea typeface="DengXian Light" panose="02010600030101010101" pitchFamily="2" charset="-122"/>
                <a:cs typeface="Times New Roman" panose="02020603050405020304" pitchFamily="18" charset="0"/>
              </a:rPr>
              <a:t>intérrogation</a:t>
            </a:r>
            <a:r>
              <a:rPr lang="fr-FR" sz="1800" b="1" kern="0" dirty="0">
                <a:effectLst/>
                <a:latin typeface="Montserrat" panose="00000500000000000000" pitchFamily="2" charset="0"/>
                <a:ea typeface="DengXian Light" panose="02010600030101010101" pitchFamily="2" charset="-122"/>
                <a:cs typeface="Times New Roman" panose="02020603050405020304" pitchFamily="18" charset="0"/>
              </a:rPr>
              <a:t> et trois autres mois d’</a:t>
            </a:r>
            <a:r>
              <a:rPr lang="fr-FR" sz="1800" b="1" kern="0" dirty="0" err="1">
                <a:effectLst/>
                <a:latin typeface="Montserrat" panose="00000500000000000000" pitchFamily="2" charset="0"/>
                <a:ea typeface="DengXian Light" panose="02010600030101010101" pitchFamily="2" charset="-122"/>
                <a:cs typeface="Times New Roman" panose="02020603050405020304" pitchFamily="18" charset="0"/>
              </a:rPr>
              <a:t>intérrogations</a:t>
            </a:r>
            <a:r>
              <a:rPr lang="fr-FR" b="1" kern="0" dirty="0">
                <a:latin typeface="Montserrat" panose="00000500000000000000" pitchFamily="2" charset="0"/>
                <a:ea typeface="DengXian Light" panose="02010600030101010101" pitchFamily="2" charset="-122"/>
                <a:cs typeface="Times New Roman" panose="02020603050405020304" pitchFamily="18" charset="0"/>
              </a:rPr>
              <a:t>.</a:t>
            </a:r>
            <a:endParaRPr lang="fr-FR" sz="18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endParaRPr lang="fr-FR" kern="100" dirty="0">
              <a:latin typeface="Montserrat" panose="00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algn="just"/>
            <a:endParaRPr lang="fr-FR" kern="100" dirty="0">
              <a:latin typeface="Montserrat" panose="00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70859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BB9CE9-6408-A42C-C216-F7A7A8141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D865B2AF-031B-F086-3E16-879F6A09EF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79" y="197971"/>
            <a:ext cx="1895732" cy="582424"/>
          </a:xfrm>
          <a:prstGeom prst="rect">
            <a:avLst/>
          </a:prstGeom>
        </p:spPr>
      </p:pic>
      <p:sp>
        <p:nvSpPr>
          <p:cNvPr id="2" name="Rectangle à coins arrondis 4">
            <a:extLst>
              <a:ext uri="{FF2B5EF4-FFF2-40B4-BE49-F238E27FC236}">
                <a16:creationId xmlns:a16="http://schemas.microsoft.com/office/drawing/2014/main" id="{A9B936C1-C8DA-16E4-7BD6-73F54E562ABA}"/>
              </a:ext>
            </a:extLst>
          </p:cNvPr>
          <p:cNvSpPr/>
          <p:nvPr/>
        </p:nvSpPr>
        <p:spPr>
          <a:xfrm>
            <a:off x="640078" y="780395"/>
            <a:ext cx="11551921" cy="835507"/>
          </a:xfrm>
          <a:prstGeom prst="round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2400" b="1" dirty="0">
                <a:latin typeface="Montserrat" panose="00000500000000000000" pitchFamily="2" charset="0"/>
              </a:rPr>
              <a:t>Plan </a:t>
            </a:r>
            <a:r>
              <a:rPr lang="fr-FR" sz="2400" b="1">
                <a:latin typeface="Montserrat" panose="00000500000000000000" pitchFamily="2" charset="0"/>
              </a:rPr>
              <a:t>de collecte</a:t>
            </a:r>
            <a:r>
              <a:rPr lang="fr-FR" sz="2400" b="1">
                <a:solidFill>
                  <a:schemeClr val="tx1"/>
                </a:solidFill>
                <a:latin typeface="Montserrat" panose="00000500000000000000" pitchFamily="2" charset="0"/>
              </a:rPr>
              <a:t>: </a:t>
            </a:r>
            <a:r>
              <a:rPr lang="fr-FR" sz="2400" b="1" dirty="0">
                <a:solidFill>
                  <a:schemeClr val="tx1"/>
                </a:solidFill>
                <a:latin typeface="Montserrat" panose="00000500000000000000" pitchFamily="2" charset="0"/>
              </a:rPr>
              <a:t>schéma de collecte 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437298EA-075D-49DA-7004-C346141C3F8A}"/>
              </a:ext>
            </a:extLst>
          </p:cNvPr>
          <p:cNvSpPr txBox="1"/>
          <p:nvPr/>
        </p:nvSpPr>
        <p:spPr>
          <a:xfrm>
            <a:off x="1263444" y="2310086"/>
            <a:ext cx="107442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endParaRPr lang="fr-FR" dirty="0">
              <a:solidFill>
                <a:srgbClr val="000000"/>
              </a:solidFill>
              <a:latin typeface="Montserrat" panose="00000500000000000000" pitchFamily="2" charset="0"/>
            </a:endParaRPr>
          </a:p>
          <a:p>
            <a:pPr algn="just"/>
            <a:endParaRPr lang="fr-FR" dirty="0">
              <a:solidFill>
                <a:srgbClr val="000000"/>
              </a:solidFill>
              <a:latin typeface="Montserrat" panose="00000500000000000000" pitchFamily="2" charset="0"/>
            </a:endParaRPr>
          </a:p>
          <a:p>
            <a:pPr algn="just"/>
            <a:endParaRPr lang="fr-FR" dirty="0">
              <a:solidFill>
                <a:srgbClr val="000000"/>
              </a:solidFill>
              <a:latin typeface="Montserrat" panose="00000500000000000000" pitchFamily="2" charset="0"/>
            </a:endParaRPr>
          </a:p>
          <a:p>
            <a:pPr algn="just"/>
            <a:endParaRPr lang="fr-FR" dirty="0">
              <a:solidFill>
                <a:srgbClr val="000000"/>
              </a:solidFill>
              <a:latin typeface="Montserrat" panose="00000500000000000000" pitchFamily="2" charset="0"/>
            </a:endParaRPr>
          </a:p>
          <a:p>
            <a:pPr algn="just"/>
            <a:endParaRPr lang="fr-FR" dirty="0">
              <a:solidFill>
                <a:srgbClr val="000000"/>
              </a:solidFill>
              <a:latin typeface="Montserrat" panose="00000500000000000000" pitchFamily="2" charset="0"/>
            </a:endParaRPr>
          </a:p>
          <a:p>
            <a:pPr algn="just"/>
            <a:endParaRPr lang="fr-FR" dirty="0">
              <a:solidFill>
                <a:srgbClr val="000000"/>
              </a:solidFill>
              <a:latin typeface="Montserrat" panose="00000500000000000000" pitchFamily="2" charset="0"/>
            </a:endParaRPr>
          </a:p>
          <a:p>
            <a:pPr algn="just"/>
            <a:endParaRPr lang="fr-FR" dirty="0">
              <a:solidFill>
                <a:srgbClr val="000000"/>
              </a:solidFill>
              <a:latin typeface="Montserrat" panose="00000500000000000000" pitchFamily="2" charset="0"/>
            </a:endParaRPr>
          </a:p>
          <a:p>
            <a:pPr algn="just"/>
            <a:endParaRPr lang="fr-FR" dirty="0">
              <a:solidFill>
                <a:srgbClr val="000000"/>
              </a:solidFill>
              <a:latin typeface="Montserrat" panose="00000500000000000000" pitchFamily="2" charset="0"/>
            </a:endParaRPr>
          </a:p>
          <a:p>
            <a:pPr algn="just"/>
            <a:endParaRPr lang="fr-FR" dirty="0">
              <a:solidFill>
                <a:srgbClr val="000000"/>
              </a:solidFill>
              <a:latin typeface="Montserrat" panose="00000500000000000000" pitchFamily="2" charset="0"/>
            </a:endParaRPr>
          </a:p>
          <a:p>
            <a:pPr algn="just"/>
            <a:endParaRPr lang="fr-FR" dirty="0">
              <a:solidFill>
                <a:srgbClr val="000000"/>
              </a:solidFill>
              <a:latin typeface="Montserrat" panose="00000500000000000000" pitchFamily="2" charset="0"/>
            </a:endParaRPr>
          </a:p>
          <a:p>
            <a:pPr algn="just"/>
            <a:endParaRPr lang="fr-FR" dirty="0">
              <a:solidFill>
                <a:srgbClr val="000000"/>
              </a:solidFill>
              <a:latin typeface="Montserrat" panose="00000500000000000000" pitchFamily="2" charset="0"/>
            </a:endParaRPr>
          </a:p>
          <a:p>
            <a:pPr algn="just"/>
            <a:endParaRPr lang="fr-FR" dirty="0">
              <a:solidFill>
                <a:srgbClr val="000000"/>
              </a:solidFill>
              <a:latin typeface="Montserrat" panose="00000500000000000000" pitchFamily="2" charset="0"/>
            </a:endParaRPr>
          </a:p>
          <a:p>
            <a:pPr algn="just"/>
            <a:endParaRPr lang="fr-FR" sz="1800" b="0" i="0" u="none" strike="noStrike" baseline="0" dirty="0">
              <a:solidFill>
                <a:srgbClr val="000000"/>
              </a:solidFill>
              <a:latin typeface="Montserrat" panose="00000500000000000000" pitchFamily="2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A84FD238-3E1E-C497-7890-3FF27F5247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6902" y="5080075"/>
            <a:ext cx="10408685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altLang="fr-FR" kern="0" dirty="0">
                <a:latin typeface="Montserrat" panose="00000500000000000000" pitchFamily="2" charset="0"/>
                <a:ea typeface="DengXian Light" panose="02010600030101010101" pitchFamily="2" charset="-122"/>
                <a:cs typeface="Times New Roman" panose="02020603050405020304" pitchFamily="18" charset="0"/>
              </a:rPr>
              <a:t>Note : la vitesse de croisière est atteinte au cours du 3ième mois avec environ 1330 ménages à enquêter pour la première année. Cette vitesse passe à 6 sous-échantillons à partir du 15ième mois.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5D1D3DAF-3C6B-0559-A528-8658CA7CF9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3443" y="1615902"/>
            <a:ext cx="8869517" cy="3179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60431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42FDA-FD40-25D0-2EFD-5B6AD9BCB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80568959-B1B6-CFE6-DDDF-FA8C8B17FD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79" y="197971"/>
            <a:ext cx="1895732" cy="582424"/>
          </a:xfrm>
          <a:prstGeom prst="rect">
            <a:avLst/>
          </a:prstGeom>
        </p:spPr>
      </p:pic>
      <p:sp>
        <p:nvSpPr>
          <p:cNvPr id="2" name="Rectangle à coins arrondis 4">
            <a:extLst>
              <a:ext uri="{FF2B5EF4-FFF2-40B4-BE49-F238E27FC236}">
                <a16:creationId xmlns:a16="http://schemas.microsoft.com/office/drawing/2014/main" id="{7BF34621-1F8D-2540-5888-DE4C53359748}"/>
              </a:ext>
            </a:extLst>
          </p:cNvPr>
          <p:cNvSpPr/>
          <p:nvPr/>
        </p:nvSpPr>
        <p:spPr>
          <a:xfrm>
            <a:off x="165100" y="967208"/>
            <a:ext cx="11092179" cy="835507"/>
          </a:xfrm>
          <a:prstGeom prst="round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2400" b="1" dirty="0">
                <a:effectLst/>
                <a:latin typeface="Montserrat" panose="00000500000000000000" pitchFamily="2" charset="0"/>
                <a:ea typeface="DengXian Light" panose="02010600030101010101" pitchFamily="2" charset="-122"/>
                <a:cs typeface="Times New Roman" panose="02020603050405020304" pitchFamily="18" charset="0"/>
              </a:rPr>
              <a:t>Calcul du nombre de ménage à tirer dans chaque région</a:t>
            </a:r>
            <a:r>
              <a:rPr lang="fr-FR" sz="2400" b="1" dirty="0">
                <a:solidFill>
                  <a:schemeClr val="tx1"/>
                </a:solidFill>
                <a:latin typeface="Montserrat" panose="00000500000000000000" pitchFamily="2" charset="0"/>
              </a:rPr>
              <a:t>					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0C85F993-A073-C1C7-0CAD-55F2F842AF05}"/>
                  </a:ext>
                </a:extLst>
              </p:cNvPr>
              <p:cNvSpPr txBox="1"/>
              <p:nvPr/>
            </p:nvSpPr>
            <p:spPr>
              <a:xfrm>
                <a:off x="165100" y="1549617"/>
                <a:ext cx="12026900" cy="30980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  <a:spcAft>
                    <a:spcPts val="800"/>
                  </a:spcAft>
                </a:pPr>
                <a:endParaRPr lang="fr-FR" kern="100" dirty="0">
                  <a:latin typeface="Montserrat" panose="00000500000000000000" pitchFamily="2" charset="0"/>
                  <a:ea typeface="DengXian Light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  <a:spcAft>
                    <a:spcPts val="800"/>
                  </a:spcAft>
                </a:pPr>
                <a:r>
                  <a:rPr lang="fr-FR" sz="1800" kern="0" dirty="0">
                    <a:effectLst/>
                    <a:latin typeface="Montserrat" panose="00000500000000000000" pitchFamily="2" charset="0"/>
                    <a:ea typeface="DengXian Light" panose="02010600030101010101" pitchFamily="2" charset="-122"/>
                    <a:cs typeface="Times New Roman" panose="02020603050405020304" pitchFamily="18" charset="0"/>
                  </a:rPr>
                  <a:t>Le nombre de ménages pour la région (i) est donné par : </a:t>
                </a:r>
              </a:p>
              <a:p>
                <a:pPr algn="just">
                  <a:lnSpc>
                    <a:spcPct val="150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r>
                      <a:rPr lang="fr-FR" sz="1800" i="1" kern="0">
                        <a:effectLst/>
                        <a:latin typeface="Cambria Math" panose="02040503050406030204" pitchFamily="18" charset="0"/>
                        <a:ea typeface="DengXian Light" panose="02010600030101010101" pitchFamily="2" charset="-122"/>
                        <a:cs typeface="Times New Roman" panose="02020603050405020304" pitchFamily="18" charset="0"/>
                      </a:rPr>
                      <m:t>𝑛</m:t>
                    </m:r>
                    <m:sSub>
                      <m:sSubPr>
                        <m:ctrlPr>
                          <a:rPr lang="fr-FR" sz="1800" i="1">
                            <a:effectLst/>
                            <a:latin typeface="Cambria Math" panose="02040503050406030204" pitchFamily="18" charset="0"/>
                            <a:ea typeface="DengXian Light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fr-FR" sz="1800" i="1" kern="0">
                            <a:effectLst/>
                            <a:latin typeface="Cambria Math" panose="02040503050406030204" pitchFamily="18" charset="0"/>
                            <a:ea typeface="DengXian Light" panose="02010600030101010101" pitchFamily="2" charset="-122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fr-FR" sz="1800" i="1" kern="0">
                            <a:effectLst/>
                            <a:latin typeface="Cambria Math" panose="02040503050406030204" pitchFamily="18" charset="0"/>
                            <a:ea typeface="DengXian Light" panose="02010600030101010101" pitchFamily="2" charset="-122"/>
                            <a:cs typeface="Times New Roman" panose="02020603050405020304" pitchFamily="18" charset="0"/>
                          </a:rPr>
                          <m:t>𝑡𝑖𝑟𝑒</m:t>
                        </m:r>
                      </m:sub>
                    </m:sSub>
                    <m:r>
                      <a:rPr lang="fr-FR" sz="1800" kern="0">
                        <a:effectLst/>
                        <a:latin typeface="Cambria Math" panose="02040503050406030204" pitchFamily="18" charset="0"/>
                        <a:ea typeface="DengXian Light" panose="02010600030101010101" pitchFamily="2" charset="-122"/>
                        <a:cs typeface="Cambria Math" panose="02040503050406030204" pitchFamily="18" charset="0"/>
                      </a:rPr>
                      <m:t>=</m:t>
                    </m:r>
                    <m:r>
                      <a:rPr lang="fr-FR" sz="1800" i="1" kern="0">
                        <a:effectLst/>
                        <a:latin typeface="Cambria Math" panose="02040503050406030204" pitchFamily="18" charset="0"/>
                        <a:ea typeface="DengXian Light" panose="02010600030101010101" pitchFamily="2" charset="-122"/>
                        <a:cs typeface="Times New Roman" panose="02020603050405020304" pitchFamily="18" charset="0"/>
                      </a:rPr>
                      <m:t>𝑛</m:t>
                    </m:r>
                    <m:sSub>
                      <m:sSubPr>
                        <m:ctrlPr>
                          <a:rPr lang="fr-FR" sz="1800" i="1">
                            <a:effectLst/>
                            <a:latin typeface="Cambria Math" panose="02040503050406030204" pitchFamily="18" charset="0"/>
                            <a:ea typeface="DengXian Light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fr-FR" sz="1800" i="1" kern="0">
                            <a:effectLst/>
                            <a:latin typeface="Cambria Math" panose="02040503050406030204" pitchFamily="18" charset="0"/>
                            <a:ea typeface="DengXian Light" panose="02010600030101010101" pitchFamily="2" charset="-122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fr-FR" sz="1800" i="1" kern="0">
                            <a:effectLst/>
                            <a:latin typeface="Cambria Math" panose="02040503050406030204" pitchFamily="18" charset="0"/>
                            <a:ea typeface="DengXian Light" panose="02010600030101010101" pitchFamily="2" charset="-122"/>
                            <a:cs typeface="Times New Roman" panose="02020603050405020304" pitchFamily="18" charset="0"/>
                          </a:rPr>
                          <m:t>𝑚𝑒𝑛𝑎𝑔𝑒</m:t>
                        </m:r>
                      </m:sub>
                    </m:sSub>
                    <m:r>
                      <a:rPr lang="fr-FR" sz="1800" i="1" kern="0">
                        <a:effectLst/>
                        <a:latin typeface="Cambria Math" panose="02040503050406030204" pitchFamily="18" charset="0"/>
                        <a:ea typeface="DengXian Light" panose="02010600030101010101" pitchFamily="2" charset="-122"/>
                        <a:cs typeface="Times New Roman" panose="02020603050405020304" pitchFamily="18" charset="0"/>
                      </a:rPr>
                      <m:t>∗</m:t>
                    </m:r>
                    <m:r>
                      <a:rPr lang="fr-FR" sz="1800" kern="0">
                        <a:effectLst/>
                        <a:latin typeface="Cambria Math" panose="02040503050406030204" pitchFamily="18" charset="0"/>
                        <a:ea typeface="DengXian Light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f>
                      <m:fPr>
                        <m:ctrlPr>
                          <a:rPr lang="fr-FR" sz="1800" i="1">
                            <a:effectLst/>
                            <a:latin typeface="Cambria Math" panose="02040503050406030204" pitchFamily="18" charset="0"/>
                            <a:ea typeface="DengXian Light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fr-FR" sz="1800" i="1" kern="0">
                            <a:effectLst/>
                            <a:latin typeface="Cambria Math" panose="02040503050406030204" pitchFamily="18" charset="0"/>
                            <a:ea typeface="DengXian Light" panose="02010600030101010101" pitchFamily="2" charset="-122"/>
                            <a:cs typeface="Times New Roman" panose="02020603050405020304" pitchFamily="18" charset="0"/>
                          </a:rPr>
                          <m:t>𝑛</m:t>
                        </m:r>
                      </m:num>
                      <m:den>
                        <m:r>
                          <a:rPr lang="fr-FR" sz="1800" i="1" kern="0">
                            <a:effectLst/>
                            <a:latin typeface="Cambria Math" panose="02040503050406030204" pitchFamily="18" charset="0"/>
                            <a:ea typeface="DengXian Light" panose="02010600030101010101" pitchFamily="2" charset="-122"/>
                            <a:cs typeface="Times New Roman" panose="02020603050405020304" pitchFamily="18" charset="0"/>
                          </a:rPr>
                          <m:t>𝑁</m:t>
                        </m:r>
                      </m:den>
                    </m:f>
                    <m:r>
                      <a:rPr lang="fr-FR" sz="1800" kern="0">
                        <a:effectLst/>
                        <a:latin typeface="Cambria Math" panose="02040503050406030204" pitchFamily="18" charset="0"/>
                        <a:ea typeface="DengXian Light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fr-FR" sz="1800" kern="0" dirty="0">
                    <a:effectLst/>
                    <a:latin typeface="Montserrat" panose="00000500000000000000" pitchFamily="2" charset="0"/>
                    <a:ea typeface="DengXian Light" panose="02010600030101010101" pitchFamily="2" charset="-122"/>
                    <a:cs typeface="Times New Roman" panose="02020603050405020304" pitchFamily="18" charset="0"/>
                  </a:rPr>
                  <a:t> </a:t>
                </a:r>
              </a:p>
              <a:p>
                <a:pPr algn="just">
                  <a:lnSpc>
                    <a:spcPct val="150000"/>
                  </a:lnSpc>
                  <a:spcAft>
                    <a:spcPts val="800"/>
                  </a:spcAft>
                </a:pPr>
                <a:r>
                  <a:rPr lang="fr-FR" kern="0" dirty="0">
                    <a:latin typeface="Montserrat" panose="00000500000000000000" pitchFamily="2" charset="0"/>
                    <a:ea typeface="DengXian Light" panose="02010600030101010101" pitchFamily="2" charset="-122"/>
                    <a:cs typeface="Times New Roman" panose="02020603050405020304" pitchFamily="18" charset="0"/>
                  </a:rPr>
                  <a:t>A</a:t>
                </a:r>
                <a:r>
                  <a:rPr lang="fr-FR" sz="1800" kern="0" dirty="0">
                    <a:effectLst/>
                    <a:latin typeface="Montserrat" panose="00000500000000000000" pitchFamily="2" charset="0"/>
                    <a:ea typeface="DengXian Light" panose="02010600030101010101" pitchFamily="2" charset="-122"/>
                    <a:cs typeface="Times New Roman" panose="02020603050405020304" pitchFamily="18" charset="0"/>
                  </a:rPr>
                  <a:t>vec N représentant le nombre de lignes dans la base de sondage;</a:t>
                </a:r>
              </a:p>
              <a:p>
                <a:pPr algn="just">
                  <a:lnSpc>
                    <a:spcPct val="150000"/>
                  </a:lnSpc>
                  <a:spcAft>
                    <a:spcPts val="800"/>
                  </a:spcAft>
                </a:pPr>
                <a:r>
                  <a:rPr lang="fr-FR" sz="1800" kern="0" dirty="0">
                    <a:effectLst/>
                    <a:latin typeface="Montserrat" panose="00000500000000000000" pitchFamily="2" charset="0"/>
                    <a:ea typeface="DengXian Light" panose="02010600030101010101" pitchFamily="2" charset="-122"/>
                    <a:cs typeface="Times New Roman" panose="02020603050405020304" pitchFamily="18" charset="0"/>
                  </a:rPr>
                  <a:t>Et n la taille de l’échantillon.</a:t>
                </a:r>
                <a:endParaRPr lang="fr-FR" kern="100" dirty="0">
                  <a:latin typeface="Montserrat" panose="00000500000000000000" pitchFamily="2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  <a:p>
                <a:pPr algn="just"/>
                <a:endParaRPr lang="fr-FR" kern="100" dirty="0">
                  <a:latin typeface="Montserrat" panose="00000500000000000000" pitchFamily="2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</mc:Choice>
        <mc:Fallback xmlns="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0C85F993-A073-C1C7-0CAD-55F2F842AF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100" y="1549617"/>
                <a:ext cx="12026900" cy="3098028"/>
              </a:xfrm>
              <a:prstGeom prst="rect">
                <a:avLst/>
              </a:prstGeom>
              <a:blipFill>
                <a:blip r:embed="rId4"/>
                <a:stretch>
                  <a:fillRect l="-40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022635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E800A3-90EC-68C1-672E-5158D511F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090C97AE-D520-63F1-F2B1-BACB31A438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79" y="197971"/>
            <a:ext cx="1895732" cy="582424"/>
          </a:xfrm>
          <a:prstGeom prst="rect">
            <a:avLst/>
          </a:prstGeom>
        </p:spPr>
      </p:pic>
      <p:sp>
        <p:nvSpPr>
          <p:cNvPr id="2" name="Rectangle à coins arrondis 4">
            <a:extLst>
              <a:ext uri="{FF2B5EF4-FFF2-40B4-BE49-F238E27FC236}">
                <a16:creationId xmlns:a16="http://schemas.microsoft.com/office/drawing/2014/main" id="{7E19D2BB-17D2-8431-B01B-4E126C9948A1}"/>
              </a:ext>
            </a:extLst>
          </p:cNvPr>
          <p:cNvSpPr/>
          <p:nvPr/>
        </p:nvSpPr>
        <p:spPr>
          <a:xfrm>
            <a:off x="165100" y="967208"/>
            <a:ext cx="11092179" cy="835507"/>
          </a:xfrm>
          <a:prstGeom prst="round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2400" b="1" dirty="0">
                <a:effectLst/>
                <a:latin typeface="Montserrat" panose="00000500000000000000" pitchFamily="2" charset="0"/>
                <a:ea typeface="DengXian Light" panose="02010600030101010101" pitchFamily="2" charset="-122"/>
                <a:cs typeface="Times New Roman" panose="02020603050405020304" pitchFamily="18" charset="0"/>
              </a:rPr>
              <a:t>Méthodologie de sélection des ménages</a:t>
            </a:r>
            <a:r>
              <a:rPr lang="fr-FR" sz="2400" b="1" dirty="0">
                <a:solidFill>
                  <a:schemeClr val="tx1"/>
                </a:solidFill>
                <a:latin typeface="Montserrat" panose="00000500000000000000" pitchFamily="2" charset="0"/>
              </a:rPr>
              <a:t>					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9EB05D0-6198-C5AE-E1F9-F0B4B65CF561}"/>
              </a:ext>
            </a:extLst>
          </p:cNvPr>
          <p:cNvSpPr txBox="1"/>
          <p:nvPr/>
        </p:nvSpPr>
        <p:spPr>
          <a:xfrm>
            <a:off x="165100" y="2699992"/>
            <a:ext cx="12026900" cy="19127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800"/>
              </a:spcAft>
            </a:pPr>
            <a:endParaRPr lang="fr-FR" kern="100" dirty="0">
              <a:latin typeface="Montserrat" panose="00000500000000000000" pitchFamily="2" charset="0"/>
              <a:ea typeface="DengXian Light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fr-FR" sz="1800" kern="0" dirty="0">
                <a:effectLst/>
                <a:latin typeface="Montserrat" panose="00000500000000000000" pitchFamily="2" charset="0"/>
                <a:ea typeface="DengXian Light" panose="02010600030101010101" pitchFamily="2" charset="-122"/>
                <a:cs typeface="Times New Roman" panose="02020603050405020304" pitchFamily="18" charset="0"/>
              </a:rPr>
              <a:t>Un échantillonnage systématique a été mis en place pour sélectionner un nombre donné de ménages dans chaque région.</a:t>
            </a:r>
            <a:endParaRPr lang="fr-FR" kern="0" dirty="0">
              <a:latin typeface="Montserrat" panose="00000500000000000000" pitchFamily="2" charset="0"/>
              <a:ea typeface="DengXian Light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endParaRPr lang="fr-FR" kern="100" dirty="0">
              <a:latin typeface="Montserrat" panose="00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98218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848F51-0715-8492-293D-334EC0EC7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29420F00-7FF7-4D5E-613F-7466797790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79" y="197971"/>
            <a:ext cx="1895732" cy="582424"/>
          </a:xfrm>
          <a:prstGeom prst="rect">
            <a:avLst/>
          </a:prstGeom>
        </p:spPr>
      </p:pic>
      <p:sp>
        <p:nvSpPr>
          <p:cNvPr id="2" name="Rectangle à coins arrondis 4">
            <a:extLst>
              <a:ext uri="{FF2B5EF4-FFF2-40B4-BE49-F238E27FC236}">
                <a16:creationId xmlns:a16="http://schemas.microsoft.com/office/drawing/2014/main" id="{382F54FE-F3D8-DE12-BDAC-464E563139C8}"/>
              </a:ext>
            </a:extLst>
          </p:cNvPr>
          <p:cNvSpPr/>
          <p:nvPr/>
        </p:nvSpPr>
        <p:spPr>
          <a:xfrm>
            <a:off x="165100" y="967208"/>
            <a:ext cx="11092179" cy="835507"/>
          </a:xfrm>
          <a:prstGeom prst="round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2400" b="1" dirty="0">
                <a:effectLst/>
                <a:latin typeface="Montserrat" panose="00000500000000000000" pitchFamily="2" charset="0"/>
                <a:ea typeface="DengXian Light" panose="02010600030101010101" pitchFamily="2" charset="-122"/>
                <a:cs typeface="Times New Roman" panose="02020603050405020304" pitchFamily="18" charset="0"/>
              </a:rPr>
              <a:t>Processus de tirage</a:t>
            </a:r>
            <a:r>
              <a:rPr lang="fr-FR" sz="2400" b="1" dirty="0">
                <a:solidFill>
                  <a:schemeClr val="tx1"/>
                </a:solidFill>
                <a:latin typeface="Montserrat" panose="00000500000000000000" pitchFamily="2" charset="0"/>
              </a:rPr>
              <a:t>					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8F04279F-C0FB-8CE5-6B69-C852ED003EBB}"/>
              </a:ext>
            </a:extLst>
          </p:cNvPr>
          <p:cNvSpPr txBox="1"/>
          <p:nvPr/>
        </p:nvSpPr>
        <p:spPr>
          <a:xfrm>
            <a:off x="342082" y="1625735"/>
            <a:ext cx="11092179" cy="4713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800"/>
              </a:spcAft>
            </a:pPr>
            <a:endParaRPr lang="fr-FR" kern="100" dirty="0">
              <a:latin typeface="Montserrat" panose="00000500000000000000" pitchFamily="2" charset="0"/>
              <a:ea typeface="DengXian Light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fr-FR" sz="1800" kern="0" dirty="0">
                <a:effectLst/>
                <a:latin typeface="Montserrat" panose="00000500000000000000" pitchFamily="2" charset="0"/>
                <a:ea typeface="DengXian Light" panose="02010600030101010101" pitchFamily="2" charset="-122"/>
                <a:cs typeface="Times New Roman" panose="02020603050405020304" pitchFamily="18" charset="0"/>
              </a:rPr>
              <a:t>1.	Tri préalable : Les observations sont triées selon les variables milieu et </a:t>
            </a:r>
            <a:r>
              <a:rPr lang="fr-FR" sz="1800" kern="0" dirty="0" err="1">
                <a:effectLst/>
                <a:latin typeface="Montserrat" panose="00000500000000000000" pitchFamily="2" charset="0"/>
                <a:ea typeface="DengXian Light" panose="02010600030101010101" pitchFamily="2" charset="-122"/>
                <a:cs typeface="Times New Roman" panose="02020603050405020304" pitchFamily="18" charset="0"/>
              </a:rPr>
              <a:t>pcexp</a:t>
            </a:r>
            <a:r>
              <a:rPr lang="fr-FR" sz="1800" kern="0" dirty="0">
                <a:effectLst/>
                <a:latin typeface="Montserrat" panose="00000500000000000000" pitchFamily="2" charset="0"/>
                <a:ea typeface="DengXian Light" panose="02010600030101010101" pitchFamily="2" charset="-122"/>
                <a:cs typeface="Times New Roman" panose="02020603050405020304" pitchFamily="18" charset="0"/>
              </a:rPr>
              <a:t> (dépenses de consommation par tête des ménages) pour garantir une répartition homogène ;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fr-FR" sz="1800" kern="0" dirty="0">
                <a:effectLst/>
                <a:latin typeface="Montserrat" panose="00000500000000000000" pitchFamily="2" charset="0"/>
                <a:ea typeface="DengXian Light" panose="02010600030101010101" pitchFamily="2" charset="-122"/>
                <a:cs typeface="Times New Roman" panose="02020603050405020304" pitchFamily="18" charset="0"/>
              </a:rPr>
              <a:t>2.	Détermination du premier ménage sélectionné : Un point de départ aléatoire est défini pour éviter les biais liés à l’ordre initial des observations ;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fr-FR" sz="1800" kern="0" dirty="0">
                <a:effectLst/>
                <a:latin typeface="Montserrat" panose="00000500000000000000" pitchFamily="2" charset="0"/>
                <a:ea typeface="DengXian Light" panose="02010600030101010101" pitchFamily="2" charset="-122"/>
                <a:cs typeface="Times New Roman" panose="02020603050405020304" pitchFamily="18" charset="0"/>
              </a:rPr>
              <a:t>3.	Application du pas de sélection : À partir du premier ménage, on sélectionne les unités suivantes en ajoutant l’intervalle pas ;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fr-FR" sz="1800" kern="0" dirty="0">
                <a:effectLst/>
                <a:latin typeface="Montserrat" panose="00000500000000000000" pitchFamily="2" charset="0"/>
                <a:ea typeface="DengXian Light" panose="02010600030101010101" pitchFamily="2" charset="-122"/>
                <a:cs typeface="Times New Roman" panose="02020603050405020304" pitchFamily="18" charset="0"/>
              </a:rPr>
              <a:t>4.	Ajustement des sélections : Si le dernier ménage sélectionné dépasse la taille de la population (N), il est ajusté pour rester dans les limites de la base de données.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endParaRPr lang="fr-FR" kern="100" dirty="0">
              <a:latin typeface="Montserrat" panose="00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56835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F8285-CD36-883E-202F-2C71A6FFD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269A9406-88EF-EF61-F58B-D17B2262D1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79" y="197971"/>
            <a:ext cx="1895732" cy="582424"/>
          </a:xfrm>
          <a:prstGeom prst="rect">
            <a:avLst/>
          </a:prstGeom>
        </p:spPr>
      </p:pic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36897888-9BAF-2971-BA68-838448A93183}"/>
              </a:ext>
            </a:extLst>
          </p:cNvPr>
          <p:cNvCxnSpPr>
            <a:cxnSpLocks/>
          </p:cNvCxnSpPr>
          <p:nvPr/>
        </p:nvCxnSpPr>
        <p:spPr>
          <a:xfrm>
            <a:off x="800210" y="3818338"/>
            <a:ext cx="4970670" cy="0"/>
          </a:xfrm>
          <a:prstGeom prst="line">
            <a:avLst/>
          </a:prstGeom>
          <a:ln>
            <a:solidFill>
              <a:srgbClr val="3E5D5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9CBB091D-1743-1A85-A212-2B7BB78C0749}"/>
              </a:ext>
            </a:extLst>
          </p:cNvPr>
          <p:cNvCxnSpPr/>
          <p:nvPr/>
        </p:nvCxnSpPr>
        <p:spPr>
          <a:xfrm>
            <a:off x="6469711" y="3818338"/>
            <a:ext cx="3091070" cy="0"/>
          </a:xfrm>
          <a:prstGeom prst="line">
            <a:avLst/>
          </a:prstGeom>
          <a:ln>
            <a:solidFill>
              <a:srgbClr val="F5862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5" name="Ellipse 34">
            <a:extLst>
              <a:ext uri="{FF2B5EF4-FFF2-40B4-BE49-F238E27FC236}">
                <a16:creationId xmlns:a16="http://schemas.microsoft.com/office/drawing/2014/main" id="{FAC6E70C-E84D-6954-9581-6770F953F8F9}"/>
              </a:ext>
            </a:extLst>
          </p:cNvPr>
          <p:cNvSpPr/>
          <p:nvPr/>
        </p:nvSpPr>
        <p:spPr>
          <a:xfrm>
            <a:off x="5843553" y="3596124"/>
            <a:ext cx="543326" cy="434144"/>
          </a:xfrm>
          <a:prstGeom prst="ellipse">
            <a:avLst/>
          </a:prstGeom>
          <a:solidFill>
            <a:schemeClr val="bg1"/>
          </a:solidFill>
          <a:ln>
            <a:solidFill>
              <a:srgbClr val="F586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2"/>
                </a:solidFill>
                <a:latin typeface="Candara" panose="020E0502030303020204" pitchFamily="34" charset="0"/>
              </a:rPr>
              <a:t>3</a:t>
            </a:r>
          </a:p>
        </p:txBody>
      </p:sp>
      <p:sp>
        <p:nvSpPr>
          <p:cNvPr id="36" name="Rectangle à coins arrondis 4">
            <a:extLst>
              <a:ext uri="{FF2B5EF4-FFF2-40B4-BE49-F238E27FC236}">
                <a16:creationId xmlns:a16="http://schemas.microsoft.com/office/drawing/2014/main" id="{3A3F632D-B800-03AD-4E3F-00EFCFC4AD76}"/>
              </a:ext>
            </a:extLst>
          </p:cNvPr>
          <p:cNvSpPr/>
          <p:nvPr/>
        </p:nvSpPr>
        <p:spPr>
          <a:xfrm>
            <a:off x="640078" y="1898266"/>
            <a:ext cx="6532882" cy="1697858"/>
          </a:xfrm>
          <a:prstGeom prst="round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3600" dirty="0">
                <a:solidFill>
                  <a:schemeClr val="tx1"/>
                </a:solidFill>
                <a:latin typeface="Arial Black" panose="020B0A04020102020204" pitchFamily="34" charset="0"/>
              </a:rPr>
              <a:t>DEROULEMENT DE L’ENQUÊTE</a:t>
            </a:r>
          </a:p>
        </p:txBody>
      </p:sp>
    </p:spTree>
    <p:extLst>
      <p:ext uri="{BB962C8B-B14F-4D97-AF65-F5344CB8AC3E}">
        <p14:creationId xmlns:p14="http://schemas.microsoft.com/office/powerpoint/2010/main" val="38252356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2DC40-D097-F8D4-F35D-3D71A1501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9787D961-05FA-5482-0126-16A5479697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79" y="197971"/>
            <a:ext cx="1895732" cy="582424"/>
          </a:xfrm>
          <a:prstGeom prst="rect">
            <a:avLst/>
          </a:prstGeom>
        </p:spPr>
      </p:pic>
      <p:sp>
        <p:nvSpPr>
          <p:cNvPr id="2" name="Rectangle à coins arrondis 4">
            <a:extLst>
              <a:ext uri="{FF2B5EF4-FFF2-40B4-BE49-F238E27FC236}">
                <a16:creationId xmlns:a16="http://schemas.microsoft.com/office/drawing/2014/main" id="{F87EAA85-5AFA-AF0B-7D76-BB9CA3FBE93A}"/>
              </a:ext>
            </a:extLst>
          </p:cNvPr>
          <p:cNvSpPr/>
          <p:nvPr/>
        </p:nvSpPr>
        <p:spPr>
          <a:xfrm>
            <a:off x="640080" y="780395"/>
            <a:ext cx="5049520" cy="835507"/>
          </a:xfrm>
          <a:prstGeom prst="round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2400" b="1" dirty="0">
                <a:solidFill>
                  <a:schemeClr val="tx1"/>
                </a:solidFill>
                <a:latin typeface="Montserrat" panose="00000500000000000000" pitchFamily="2" charset="0"/>
              </a:rPr>
              <a:t>Déroulement de l’enquête 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70331172-A92E-A13E-FE33-393E682E629B}"/>
              </a:ext>
            </a:extLst>
          </p:cNvPr>
          <p:cNvSpPr txBox="1"/>
          <p:nvPr/>
        </p:nvSpPr>
        <p:spPr>
          <a:xfrm>
            <a:off x="640079" y="3240762"/>
            <a:ext cx="107442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dirty="0">
                <a:solidFill>
                  <a:srgbClr val="000000"/>
                </a:solidFill>
                <a:latin typeface="Montserrat" panose="00000500000000000000" pitchFamily="2" charset="0"/>
              </a:rPr>
              <a:t>Dans le but de bien mesurer les évolutions infra-annuelles, l’enquête est réalisée pendant six mois sur l’année, </a:t>
            </a:r>
            <a:r>
              <a:rPr lang="fr-FR" b="1" dirty="0">
                <a:solidFill>
                  <a:srgbClr val="000000"/>
                </a:solidFill>
                <a:latin typeface="Montserrat" panose="00000500000000000000" pitchFamily="2" charset="0"/>
              </a:rPr>
              <a:t>les résultats sont présentés trimestriellement et annuellement</a:t>
            </a:r>
            <a:r>
              <a:rPr lang="fr-FR" dirty="0">
                <a:solidFill>
                  <a:srgbClr val="000000"/>
                </a:solidFill>
                <a:latin typeface="Montserrat" panose="00000500000000000000" pitchFamily="2" charset="0"/>
              </a:rPr>
              <a:t>. </a:t>
            </a:r>
          </a:p>
          <a:p>
            <a:pPr algn="just"/>
            <a:endParaRPr lang="fr-FR" dirty="0">
              <a:solidFill>
                <a:srgbClr val="000000"/>
              </a:solidFill>
              <a:latin typeface="Montserrat" panose="00000500000000000000" pitchFamily="2" charset="0"/>
            </a:endParaRPr>
          </a:p>
          <a:p>
            <a:pPr algn="just"/>
            <a:endParaRPr lang="fr-FR" dirty="0">
              <a:solidFill>
                <a:srgbClr val="000000"/>
              </a:solidFill>
              <a:latin typeface="Montserrat" panose="00000500000000000000" pitchFamily="2" charset="0"/>
            </a:endParaRPr>
          </a:p>
          <a:p>
            <a:pPr algn="just"/>
            <a:endParaRPr lang="fr-FR" dirty="0">
              <a:solidFill>
                <a:srgbClr val="000000"/>
              </a:solidFill>
              <a:latin typeface="Montserrat" panose="00000500000000000000" pitchFamily="2" charset="0"/>
            </a:endParaRPr>
          </a:p>
          <a:p>
            <a:pPr algn="just"/>
            <a:endParaRPr lang="fr-FR" dirty="0">
              <a:solidFill>
                <a:srgbClr val="000000"/>
              </a:solidFill>
              <a:latin typeface="Montserrat" panose="00000500000000000000" pitchFamily="2" charset="0"/>
            </a:endParaRPr>
          </a:p>
          <a:p>
            <a:pPr algn="just"/>
            <a:endParaRPr lang="fr-FR" dirty="0">
              <a:solidFill>
                <a:srgbClr val="000000"/>
              </a:solidFill>
              <a:latin typeface="Montserrat" panose="00000500000000000000" pitchFamily="2" charset="0"/>
            </a:endParaRPr>
          </a:p>
          <a:p>
            <a:pPr algn="just"/>
            <a:endParaRPr lang="fr-FR" dirty="0">
              <a:solidFill>
                <a:srgbClr val="000000"/>
              </a:solidFill>
              <a:latin typeface="Montserrat" panose="00000500000000000000" pitchFamily="2" charset="0"/>
            </a:endParaRPr>
          </a:p>
          <a:p>
            <a:pPr algn="just"/>
            <a:endParaRPr lang="fr-FR" dirty="0">
              <a:solidFill>
                <a:srgbClr val="000000"/>
              </a:solidFill>
              <a:latin typeface="Montserrat" panose="00000500000000000000" pitchFamily="2" charset="0"/>
            </a:endParaRPr>
          </a:p>
          <a:p>
            <a:pPr algn="just"/>
            <a:endParaRPr lang="fr-FR" dirty="0">
              <a:solidFill>
                <a:srgbClr val="000000"/>
              </a:solidFill>
              <a:latin typeface="Montserrat" panose="00000500000000000000" pitchFamily="2" charset="0"/>
            </a:endParaRPr>
          </a:p>
          <a:p>
            <a:pPr algn="just"/>
            <a:endParaRPr lang="fr-FR" dirty="0">
              <a:solidFill>
                <a:srgbClr val="000000"/>
              </a:solidFill>
              <a:latin typeface="Montserrat" panose="00000500000000000000" pitchFamily="2" charset="0"/>
            </a:endParaRPr>
          </a:p>
          <a:p>
            <a:pPr algn="just"/>
            <a:endParaRPr lang="fr-FR" dirty="0">
              <a:solidFill>
                <a:srgbClr val="000000"/>
              </a:solidFill>
              <a:latin typeface="Montserrat" panose="00000500000000000000" pitchFamily="2" charset="0"/>
            </a:endParaRPr>
          </a:p>
          <a:p>
            <a:pPr algn="just"/>
            <a:endParaRPr lang="fr-FR" dirty="0">
              <a:solidFill>
                <a:srgbClr val="000000"/>
              </a:solidFill>
              <a:latin typeface="Montserrat" panose="00000500000000000000" pitchFamily="2" charset="0"/>
            </a:endParaRPr>
          </a:p>
          <a:p>
            <a:pPr algn="just"/>
            <a:endParaRPr lang="fr-FR" dirty="0">
              <a:solidFill>
                <a:srgbClr val="000000"/>
              </a:solidFill>
              <a:latin typeface="Montserrat" panose="00000500000000000000" pitchFamily="2" charset="0"/>
            </a:endParaRPr>
          </a:p>
          <a:p>
            <a:pPr algn="just"/>
            <a:endParaRPr lang="fr-FR" dirty="0">
              <a:solidFill>
                <a:srgbClr val="000000"/>
              </a:solidFill>
              <a:latin typeface="Montserrat" panose="00000500000000000000" pitchFamily="2" charset="0"/>
            </a:endParaRPr>
          </a:p>
          <a:p>
            <a:pPr algn="just"/>
            <a:endParaRPr lang="fr-FR" sz="1800" b="0" i="0" u="none" strike="noStrike" baseline="0" dirty="0">
              <a:solidFill>
                <a:srgbClr val="000000"/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8688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F8285-CD36-883E-202F-2C71A6FFD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269A9406-88EF-EF61-F58B-D17B2262D1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79" y="197971"/>
            <a:ext cx="1895732" cy="582424"/>
          </a:xfrm>
          <a:prstGeom prst="rect">
            <a:avLst/>
          </a:prstGeom>
        </p:spPr>
      </p:pic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36897888-9BAF-2971-BA68-838448A93183}"/>
              </a:ext>
            </a:extLst>
          </p:cNvPr>
          <p:cNvCxnSpPr>
            <a:cxnSpLocks/>
          </p:cNvCxnSpPr>
          <p:nvPr/>
        </p:nvCxnSpPr>
        <p:spPr>
          <a:xfrm>
            <a:off x="800210" y="3818338"/>
            <a:ext cx="4970670" cy="0"/>
          </a:xfrm>
          <a:prstGeom prst="line">
            <a:avLst/>
          </a:prstGeom>
          <a:ln>
            <a:solidFill>
              <a:srgbClr val="3E5D5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9CBB091D-1743-1A85-A212-2B7BB78C0749}"/>
              </a:ext>
            </a:extLst>
          </p:cNvPr>
          <p:cNvCxnSpPr/>
          <p:nvPr/>
        </p:nvCxnSpPr>
        <p:spPr>
          <a:xfrm>
            <a:off x="6469711" y="3818338"/>
            <a:ext cx="3091070" cy="0"/>
          </a:xfrm>
          <a:prstGeom prst="line">
            <a:avLst/>
          </a:prstGeom>
          <a:ln>
            <a:solidFill>
              <a:srgbClr val="F5862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5" name="Ellipse 34">
            <a:extLst>
              <a:ext uri="{FF2B5EF4-FFF2-40B4-BE49-F238E27FC236}">
                <a16:creationId xmlns:a16="http://schemas.microsoft.com/office/drawing/2014/main" id="{FAC6E70C-E84D-6954-9581-6770F953F8F9}"/>
              </a:ext>
            </a:extLst>
          </p:cNvPr>
          <p:cNvSpPr/>
          <p:nvPr/>
        </p:nvSpPr>
        <p:spPr>
          <a:xfrm>
            <a:off x="5843553" y="3596124"/>
            <a:ext cx="543326" cy="434144"/>
          </a:xfrm>
          <a:prstGeom prst="ellipse">
            <a:avLst/>
          </a:prstGeom>
          <a:solidFill>
            <a:schemeClr val="bg1"/>
          </a:solidFill>
          <a:ln>
            <a:solidFill>
              <a:srgbClr val="F586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2"/>
                </a:solidFill>
                <a:latin typeface="Candara" panose="020E0502030303020204" pitchFamily="34" charset="0"/>
              </a:rPr>
              <a:t>4</a:t>
            </a:r>
          </a:p>
        </p:txBody>
      </p:sp>
      <p:sp>
        <p:nvSpPr>
          <p:cNvPr id="36" name="Rectangle à coins arrondis 4">
            <a:extLst>
              <a:ext uri="{FF2B5EF4-FFF2-40B4-BE49-F238E27FC236}">
                <a16:creationId xmlns:a16="http://schemas.microsoft.com/office/drawing/2014/main" id="{3A3F632D-B800-03AD-4E3F-00EFCFC4AD76}"/>
              </a:ext>
            </a:extLst>
          </p:cNvPr>
          <p:cNvSpPr/>
          <p:nvPr/>
        </p:nvSpPr>
        <p:spPr>
          <a:xfrm>
            <a:off x="640078" y="1898266"/>
            <a:ext cx="7233922" cy="1697858"/>
          </a:xfrm>
          <a:prstGeom prst="round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3600" dirty="0">
                <a:solidFill>
                  <a:schemeClr val="tx1"/>
                </a:solidFill>
                <a:latin typeface="Arial Black" panose="020B0A04020102020204" pitchFamily="34" charset="0"/>
              </a:rPr>
              <a:t>PONDERATION ET PRECISION DE L’ENQUÊTE</a:t>
            </a:r>
          </a:p>
        </p:txBody>
      </p:sp>
    </p:spTree>
    <p:extLst>
      <p:ext uri="{BB962C8B-B14F-4D97-AF65-F5344CB8AC3E}">
        <p14:creationId xmlns:p14="http://schemas.microsoft.com/office/powerpoint/2010/main" val="37962640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2DC40-D097-F8D4-F35D-3D71A1501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9787D961-05FA-5482-0126-16A5479697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79" y="197971"/>
            <a:ext cx="1895732" cy="582424"/>
          </a:xfrm>
          <a:prstGeom prst="rect">
            <a:avLst/>
          </a:prstGeom>
        </p:spPr>
      </p:pic>
      <p:sp>
        <p:nvSpPr>
          <p:cNvPr id="2" name="Rectangle à coins arrondis 4">
            <a:extLst>
              <a:ext uri="{FF2B5EF4-FFF2-40B4-BE49-F238E27FC236}">
                <a16:creationId xmlns:a16="http://schemas.microsoft.com/office/drawing/2014/main" id="{F87EAA85-5AFA-AF0B-7D76-BB9CA3FBE93A}"/>
              </a:ext>
            </a:extLst>
          </p:cNvPr>
          <p:cNvSpPr/>
          <p:nvPr/>
        </p:nvSpPr>
        <p:spPr>
          <a:xfrm>
            <a:off x="236956" y="854137"/>
            <a:ext cx="8656320" cy="835507"/>
          </a:xfrm>
          <a:prstGeom prst="round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2400" b="1" dirty="0">
                <a:solidFill>
                  <a:schemeClr val="tx1"/>
                </a:solidFill>
                <a:latin typeface="Montserrat" panose="00000500000000000000" pitchFamily="2" charset="0"/>
              </a:rPr>
              <a:t>Pondération de l’enquête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70331172-A92E-A13E-FE33-393E682E629B}"/>
                  </a:ext>
                </a:extLst>
              </p:cNvPr>
              <p:cNvSpPr txBox="1"/>
              <p:nvPr/>
            </p:nvSpPr>
            <p:spPr>
              <a:xfrm>
                <a:off x="101600" y="1615902"/>
                <a:ext cx="11925299" cy="54277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  <a:spcAft>
                    <a:spcPts val="800"/>
                  </a:spcAft>
                  <a:buNone/>
                </a:pPr>
                <a:r>
                  <a:rPr lang="fr-FR" sz="1800" dirty="0">
                    <a:effectLst/>
                    <a:latin typeface="Montserrat" panose="00000500000000000000" pitchFamily="2" charset="0"/>
                    <a:ea typeface="DengXian Light" panose="02010600030101010101" pitchFamily="2" charset="-122"/>
                    <a:cs typeface="Times New Roman" panose="02020603050405020304" pitchFamily="18" charset="0"/>
                  </a:rPr>
                  <a:t>La pondération étant l’inverse de la probabilité d’inclusion, elle est donnée comme suit pour chaque ménage :</a:t>
                </a:r>
                <a:endParaRPr lang="fr-FR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fr-FR"/>
                        <m:t> </m:t>
                      </m:r>
                    </m:oMath>
                  </m:oMathPara>
                </a14:m>
                <a:endParaRPr lang="fr-FR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𝑚𝑒𝑛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r>
                        <a:rPr lang="fr-FR" i="1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{"/>
                          <m:endChr m:val=""/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𝑐𝑣𝑚</m:t>
                                  </m:r>
                                </m:sub>
                              </m:sSub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∗ </m:t>
                              </m:r>
                              <m:f>
                                <m:f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1 </m:t>
                                  </m:r>
                                </m:num>
                                <m:den>
                                  <m:nary>
                                    <m:naryPr>
                                      <m:chr m:val="∑"/>
                                      <m:limLoc m:val="undOvr"/>
                                      <m:subHide m:val="on"/>
                                      <m:supHide m:val="on"/>
                                      <m:ctrlP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/>
                                    <m:sup/>
                                    <m:e>
                                      <m:sSub>
                                        <m:sSubPr>
                                          <m:ctrlP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𝑒</m:t>
                                          </m:r>
                                          <m: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𝑐𝑣𝑚𝑟𝑒𝑝</m:t>
                                          </m:r>
                                        </m:sub>
                                      </m:sSub>
                                    </m:e>
                                  </m:nary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den>
                              </m:f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 ∗</m:t>
                              </m:r>
                              <m:f>
                                <m:f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d>
                                    <m:dPr>
                                      <m:ctrlP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sSub>
                                        <m:sSubPr>
                                          <m:ctrlP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𝑖𝑛𝑡𝑒𝑟𝑣𝑖𝑒𝑤</m:t>
                                          </m:r>
                                        </m:sub>
                                      </m:sSub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  <m:t>−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sSub>
                                        <m:sSubPr>
                                          <m:ctrlP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𝑠𝑜𝑟𝑡</m:t>
                                          </m:r>
                                          <m: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sub>
                                      </m:sSub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  <m:t>+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sSub>
                                        <m:sSubPr>
                                          <m:ctrlP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𝐸𝑛𝑡𝑟</m:t>
                                          </m:r>
                                          <m: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  <m: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∗(</m:t>
                                  </m:r>
                                  <m:sSub>
                                    <m:sSubPr>
                                      <m:ctrlP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𝑐𝑣𝑚</m:t>
                                      </m:r>
                                    </m:sub>
                                  </m:sSub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 − </m:t>
                                  </m:r>
                                  <m:sSub>
                                    <m:sSubPr>
                                      <m:ctrlP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𝑃𝑑𝑠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𝑠𝑜𝑟𝑡</m:t>
                                      </m:r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sub>
                                  </m:sSub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 + </m:t>
                                  </m:r>
                                  <m:sSub>
                                    <m:sSubPr>
                                      <m:ctrlP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𝑃𝑑𝑠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𝐸𝑛𝑡𝑟</m:t>
                                      </m:r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sub>
                                  </m:sSub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d>
                                    <m:dPr>
                                      <m:ctrlP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sSub>
                                        <m:sSubPr>
                                          <m:ctrlP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  <m:t>𝑖𝑛𝑡𝑒𝑟𝑣𝑖𝑒𝑤</m:t>
                                          </m:r>
                                        </m:sub>
                                      </m:sSub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  <m:t>− </m:t>
                                      </m:r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sSub>
                                        <m:sSubPr>
                                          <m:ctrlP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e>
                                        <m:sub>
                                          <m: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  <m:t>𝑠𝑜𝑟𝑡</m:t>
                                          </m:r>
                                          <m: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sub>
                                      </m:sSub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  <m:t>+ </m:t>
                                      </m:r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sSub>
                                        <m:sSubPr>
                                          <m:ctrlP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e>
                                        <m:sub>
                                          <m: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  <m:t>𝐸𝑛𝑡𝑟</m:t>
                                          </m:r>
                                          <m: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  <m: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  <m:d>
                                    <m:dPr>
                                      <m:ctrlP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sSub>
                                        <m:sSubPr>
                                          <m:ctrlP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e>
                                        <m:sub>
                                          <m: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  <m:t>𝑖𝑛𝑡𝑒𝑟𝑣𝑖𝑒𝑤𝑚</m:t>
                                          </m:r>
                                        </m:sub>
                                      </m:sSub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  <m:t>− </m:t>
                                      </m:r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sSub>
                                        <m:sSubPr>
                                          <m:ctrlP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e>
                                        <m:sub>
                                          <m: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  <m:t>𝑠𝑜𝑟𝑡</m:t>
                                          </m:r>
                                          <m:d>
                                            <m:dPr>
                                              <m:ctrlPr>
                                                <a:rPr lang="fr-FR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fr-FR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e>
                                          </m:d>
                                        </m:sub>
                                      </m:sSub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  <m:t>+ </m:t>
                                      </m:r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sSub>
                                        <m:sSubPr>
                                          <m:ctrlP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e>
                                        <m:sub>
                                          <m: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  <m:t>𝐸𝑛𝑡𝑟</m:t>
                                          </m:r>
                                          <m: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  <m: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sub>
                                      </m:sSub>
                                    </m:e>
                                  </m:d>
                                </m:den>
                              </m:f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/>
                          </m:eqArr>
                        </m:e>
                      </m:d>
                      <m:r>
                        <m:rPr>
                          <m:nor/>
                        </m:rPr>
                        <a:rPr lang="en-US" b="1"/>
                        <m:t> </m:t>
                      </m:r>
                    </m:oMath>
                  </m:oMathPara>
                </a14:m>
                <a:endParaRPr lang="fr-FR" dirty="0"/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  <a:buNone/>
                </a:pPr>
                <a:endParaRPr lang="fr-FR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  <a:buNone/>
                </a:pPr>
                <a:r>
                  <a:rPr lang="fr-FR" sz="1800" b="1" dirty="0">
                    <a:effectLst/>
                    <a:latin typeface="Montserrat" panose="00000500000000000000" pitchFamily="2" charset="0"/>
                    <a:ea typeface="DengXian Light" panose="02010600030101010101" pitchFamily="2" charset="-122"/>
                    <a:cs typeface="Times New Roman" panose="02020603050405020304" pitchFamily="18" charset="0"/>
                  </a:rPr>
                  <a:t>Avec :</a:t>
                </a:r>
                <a:endParaRPr lang="fr-FR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  <a:ea typeface="DengXian Light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panose="02040503050406030204" pitchFamily="18" charset="0"/>
                            <a:ea typeface="DengXian Light" panose="02010600030101010101" pitchFamily="2" charset="-122"/>
                            <a:cs typeface="Times New Roman" panose="02020603050405020304" pitchFamily="18" charset="0"/>
                          </a:rPr>
                          <m:t>𝑝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  <a:ea typeface="DengXian Light" panose="02010600030101010101" pitchFamily="2" charset="-122"/>
                            <a:cs typeface="Times New Roman" panose="02020603050405020304" pitchFamily="18" charset="0"/>
                          </a:rPr>
                          <m:t>𝑚𝑒𝑛</m:t>
                        </m:r>
                        <m:r>
                          <a:rPr lang="fr-FR">
                            <a:latin typeface="Cambria Math" panose="02040503050406030204" pitchFamily="18" charset="0"/>
                            <a:ea typeface="DengXian Light" panose="02010600030101010101" pitchFamily="2" charset="-122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>
                            <a:latin typeface="Cambria Math" panose="02040503050406030204" pitchFamily="18" charset="0"/>
                            <a:ea typeface="DengXian Light" panose="02010600030101010101" pitchFamily="2" charset="-122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fr-FR">
                            <a:latin typeface="Cambria Math" panose="02040503050406030204" pitchFamily="18" charset="0"/>
                            <a:ea typeface="DengXian Light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>
                            <a:latin typeface="Cambria Math" panose="02040503050406030204" pitchFamily="18" charset="0"/>
                            <a:ea typeface="DengXian Light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fr-FR">
                            <a:latin typeface="Cambria Math" panose="02040503050406030204" pitchFamily="18" charset="0"/>
                            <a:ea typeface="DengXian Light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>
                            <a:latin typeface="Cambria Math" panose="02040503050406030204" pitchFamily="18" charset="0"/>
                            <a:ea typeface="DengXian Light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fr-FR">
                            <a:latin typeface="Cambria Math" panose="02040503050406030204" pitchFamily="18" charset="0"/>
                            <a:ea typeface="DengXian Light" panose="02010600030101010101" pitchFamily="2" charset="-122"/>
                            <a:cs typeface="Times New Roman" panose="02020603050405020304" pitchFamily="18" charset="0"/>
                          </a:rPr>
                          <m:t>)</m:t>
                        </m:r>
                      </m:sub>
                    </m:sSub>
                  </m:oMath>
                </a14:m>
                <a:r>
                  <a:rPr lang="fr-FR" dirty="0">
                    <a:latin typeface="Montserrat" panose="00000500000000000000" pitchFamily="2" charset="0"/>
                    <a:ea typeface="DengXian Light" panose="02010600030101010101" pitchFamily="2" charset="-122"/>
                    <a:cs typeface="Times New Roman" panose="02020603050405020304" pitchFamily="18" charset="0"/>
                  </a:rPr>
                  <a:t>, le nouveau poids du ménage qui a quitté la région i (dans laquelle il se trouvait durant l’EHCVM-2021) pour la région j durant le mois de collecte ;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fr-FR" dirty="0">
                  <a:latin typeface="Montserrat" panose="00000500000000000000" pitchFamily="2" charset="0"/>
                  <a:ea typeface="DengXian Light" panose="02010600030101010101" pitchFamily="2" charset="-122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  <a:ea typeface="DengXian Light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panose="02040503050406030204" pitchFamily="18" charset="0"/>
                            <a:ea typeface="DengXian Light" panose="02010600030101010101" pitchFamily="2" charset="-122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  <a:ea typeface="DengXian Light" panose="02010600030101010101" pitchFamily="2" charset="-122"/>
                            <a:cs typeface="Times New Roman" panose="02020603050405020304" pitchFamily="18" charset="0"/>
                          </a:rPr>
                          <m:t>𝑒</m:t>
                        </m:r>
                        <m:r>
                          <a:rPr lang="fr-FR">
                            <a:latin typeface="Cambria Math" panose="02040503050406030204" pitchFamily="18" charset="0"/>
                            <a:ea typeface="DengXian Light" panose="02010600030101010101" pitchFamily="2" charset="-122"/>
                            <a:cs typeface="Times New Roman" panose="02020603050405020304" pitchFamily="18" charset="0"/>
                          </a:rPr>
                          <m:t>h</m:t>
                        </m:r>
                        <m:r>
                          <a:rPr lang="en-US">
                            <a:latin typeface="Cambria Math" panose="02040503050406030204" pitchFamily="18" charset="0"/>
                            <a:ea typeface="DengXian Light" panose="02010600030101010101" pitchFamily="2" charset="-122"/>
                            <a:cs typeface="Times New Roman" panose="02020603050405020304" pitchFamily="18" charset="0"/>
                          </a:rPr>
                          <m:t>𝑐𝑣𝑚</m:t>
                        </m:r>
                      </m:sub>
                    </m:sSub>
                  </m:oMath>
                </a14:m>
                <a:r>
                  <a:rPr lang="fr-FR" dirty="0">
                    <a:latin typeface="Montserrat" panose="00000500000000000000" pitchFamily="2" charset="0"/>
                    <a:ea typeface="DengXian Light" panose="02010600030101010101" pitchFamily="2" charset="-122"/>
                    <a:cs typeface="Times New Roman" panose="02020603050405020304" pitchFamily="18" charset="0"/>
                  </a:rPr>
                  <a:t>, la pondération attribuée au ménage dans la base EHCVM-2021 ;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fr-FR" dirty="0">
                  <a:latin typeface="Montserrat" panose="00000500000000000000" pitchFamily="2" charset="0"/>
                  <a:ea typeface="DengXian Light" panose="02010600030101010101" pitchFamily="2" charset="-122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  <a:ea typeface="DengXian Light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panose="02040503050406030204" pitchFamily="18" charset="0"/>
                            <a:ea typeface="DengXian Light" panose="02010600030101010101" pitchFamily="2" charset="-122"/>
                            <a:cs typeface="Times New Roman" panose="02020603050405020304" pitchFamily="18" charset="0"/>
                          </a:rPr>
                          <m:t>𝑝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  <a:ea typeface="DengXian Light" panose="02010600030101010101" pitchFamily="2" charset="-122"/>
                            <a:cs typeface="Times New Roman" panose="02020603050405020304" pitchFamily="18" charset="0"/>
                          </a:rPr>
                          <m:t>𝑒</m:t>
                        </m:r>
                        <m:r>
                          <a:rPr lang="fr-FR">
                            <a:latin typeface="Cambria Math" panose="02040503050406030204" pitchFamily="18" charset="0"/>
                            <a:ea typeface="DengXian Light" panose="02010600030101010101" pitchFamily="2" charset="-122"/>
                            <a:cs typeface="Times New Roman" panose="02020603050405020304" pitchFamily="18" charset="0"/>
                          </a:rPr>
                          <m:t>h</m:t>
                        </m:r>
                        <m:r>
                          <a:rPr lang="en-US">
                            <a:latin typeface="Cambria Math" panose="02040503050406030204" pitchFamily="18" charset="0"/>
                            <a:ea typeface="DengXian Light" panose="02010600030101010101" pitchFamily="2" charset="-122"/>
                            <a:cs typeface="Times New Roman" panose="02020603050405020304" pitchFamily="18" charset="0"/>
                          </a:rPr>
                          <m:t>𝑐𝑣𝑚𝑟𝑒𝑝</m:t>
                        </m:r>
                      </m:sub>
                    </m:sSub>
                  </m:oMath>
                </a14:m>
                <a:r>
                  <a:rPr lang="fr-FR" dirty="0">
                    <a:latin typeface="Montserrat" panose="00000500000000000000" pitchFamily="2" charset="0"/>
                    <a:ea typeface="DengXian Light" panose="02010600030101010101" pitchFamily="2" charset="-122"/>
                    <a:cs typeface="Times New Roman" panose="02020603050405020304" pitchFamily="18" charset="0"/>
                  </a:rPr>
                  <a:t>, la pondération issue de l’EHCVM-2021 pour le ménage qui a effectivement répondu au cours du mois de collecte ;</a:t>
                </a:r>
              </a:p>
              <a:p>
                <a:pPr algn="just"/>
                <a:endParaRPr lang="fr-FR" sz="1800" b="0" i="0" u="none" strike="noStrike" baseline="0" dirty="0">
                  <a:solidFill>
                    <a:srgbClr val="000000"/>
                  </a:solidFill>
                  <a:latin typeface="Montserrat" panose="00000500000000000000" pitchFamily="2" charset="0"/>
                </a:endParaRPr>
              </a:p>
            </p:txBody>
          </p:sp>
        </mc:Choice>
        <mc:Fallback xmlns="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70331172-A92E-A13E-FE33-393E682E62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00" y="1615902"/>
                <a:ext cx="11925299" cy="5427768"/>
              </a:xfrm>
              <a:prstGeom prst="rect">
                <a:avLst/>
              </a:prstGeom>
              <a:blipFill>
                <a:blip r:embed="rId3"/>
                <a:stretch>
                  <a:fillRect l="-460" r="-40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427904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F379B-969B-91D9-998B-1752152F1A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3649696E-5A7C-024A-F35C-4C86256479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79" y="197971"/>
            <a:ext cx="1895732" cy="582424"/>
          </a:xfrm>
          <a:prstGeom prst="rect">
            <a:avLst/>
          </a:prstGeom>
        </p:spPr>
      </p:pic>
      <p:sp>
        <p:nvSpPr>
          <p:cNvPr id="2" name="Rectangle à coins arrondis 4">
            <a:extLst>
              <a:ext uri="{FF2B5EF4-FFF2-40B4-BE49-F238E27FC236}">
                <a16:creationId xmlns:a16="http://schemas.microsoft.com/office/drawing/2014/main" id="{B3F6CD09-7F19-AC61-6978-24C465115BC0}"/>
              </a:ext>
            </a:extLst>
          </p:cNvPr>
          <p:cNvSpPr/>
          <p:nvPr/>
        </p:nvSpPr>
        <p:spPr>
          <a:xfrm>
            <a:off x="236956" y="854137"/>
            <a:ext cx="8656320" cy="835507"/>
          </a:xfrm>
          <a:prstGeom prst="round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2400" b="1" dirty="0">
                <a:solidFill>
                  <a:schemeClr val="tx1"/>
                </a:solidFill>
                <a:latin typeface="Montserrat" panose="00000500000000000000" pitchFamily="2" charset="0"/>
              </a:rPr>
              <a:t>Pondération de l’enquête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36A44621-1B6E-7B9D-A0F9-2A78D854D4DE}"/>
                  </a:ext>
                </a:extLst>
              </p:cNvPr>
              <p:cNvSpPr txBox="1"/>
              <p:nvPr/>
            </p:nvSpPr>
            <p:spPr>
              <a:xfrm>
                <a:off x="101600" y="1615902"/>
                <a:ext cx="11925299" cy="50162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fr-FR"/>
                        <m:t> </m:t>
                      </m:r>
                    </m:oMath>
                  </m:oMathPara>
                </a14:m>
                <a:endParaRPr lang="fr-FR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𝑚𝑒𝑛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r>
                        <a:rPr lang="fr-FR" i="1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{"/>
                          <m:endChr m:val=""/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𝑐𝑣𝑚</m:t>
                                  </m:r>
                                </m:sub>
                              </m:sSub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∗ </m:t>
                              </m:r>
                              <m:f>
                                <m:f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1 </m:t>
                                  </m:r>
                                </m:num>
                                <m:den>
                                  <m:nary>
                                    <m:naryPr>
                                      <m:chr m:val="∑"/>
                                      <m:limLoc m:val="undOvr"/>
                                      <m:subHide m:val="on"/>
                                      <m:supHide m:val="on"/>
                                      <m:ctrlP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/>
                                    <m:sup/>
                                    <m:e>
                                      <m:sSub>
                                        <m:sSubPr>
                                          <m:ctrlP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𝑒</m:t>
                                          </m:r>
                                          <m: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𝑐𝑣𝑚𝑟𝑒𝑝</m:t>
                                          </m:r>
                                        </m:sub>
                                      </m:sSub>
                                    </m:e>
                                  </m:nary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den>
                              </m:f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 ∗</m:t>
                              </m:r>
                              <m:f>
                                <m:f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d>
                                    <m:dPr>
                                      <m:ctrlP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sSub>
                                        <m:sSubPr>
                                          <m:ctrlP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𝑖𝑛𝑡𝑒𝑟𝑣𝑖𝑒𝑤</m:t>
                                          </m:r>
                                        </m:sub>
                                      </m:sSub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  <m:t>−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sSub>
                                        <m:sSubPr>
                                          <m:ctrlP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𝑠𝑜𝑟𝑡</m:t>
                                          </m:r>
                                          <m: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sub>
                                      </m:sSub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  <m:t>+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sSub>
                                        <m:sSubPr>
                                          <m:ctrlP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𝐸𝑛𝑡𝑟</m:t>
                                          </m:r>
                                          <m: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  <m: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∗(</m:t>
                                  </m:r>
                                  <m:sSub>
                                    <m:sSubPr>
                                      <m:ctrlP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𝑐𝑣𝑚</m:t>
                                      </m:r>
                                    </m:sub>
                                  </m:sSub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 − </m:t>
                                  </m:r>
                                  <m:sSub>
                                    <m:sSubPr>
                                      <m:ctrlP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𝑃𝑑𝑠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𝑠𝑜𝑟𝑡</m:t>
                                      </m:r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sub>
                                  </m:sSub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 + </m:t>
                                  </m:r>
                                  <m:sSub>
                                    <m:sSubPr>
                                      <m:ctrlP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𝑃𝑑𝑠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𝐸𝑛𝑡𝑟</m:t>
                                      </m:r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sub>
                                  </m:sSub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d>
                                    <m:dPr>
                                      <m:ctrlP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sSub>
                                        <m:sSubPr>
                                          <m:ctrlP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  <m:t>𝑖𝑛𝑡𝑒𝑟𝑣𝑖𝑒𝑤</m:t>
                                          </m:r>
                                        </m:sub>
                                      </m:sSub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  <m:t>− </m:t>
                                      </m:r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sSub>
                                        <m:sSubPr>
                                          <m:ctrlP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e>
                                        <m:sub>
                                          <m: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  <m:t>𝑠𝑜𝑟𝑡</m:t>
                                          </m:r>
                                          <m: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sub>
                                      </m:sSub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  <m:t>+ </m:t>
                                      </m:r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sSub>
                                        <m:sSubPr>
                                          <m:ctrlP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e>
                                        <m:sub>
                                          <m: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  <m:t>𝐸𝑛𝑡𝑟</m:t>
                                          </m:r>
                                          <m: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  <m: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  <m:d>
                                    <m:dPr>
                                      <m:ctrlP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sSub>
                                        <m:sSubPr>
                                          <m:ctrlP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e>
                                        <m:sub>
                                          <m: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  <m:t>𝑖𝑛𝑡𝑒𝑟𝑣𝑖𝑒𝑤𝑚</m:t>
                                          </m:r>
                                        </m:sub>
                                      </m:sSub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  <m:t>− </m:t>
                                      </m:r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sSub>
                                        <m:sSubPr>
                                          <m:ctrlP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e>
                                        <m:sub>
                                          <m: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  <m:t>𝑠𝑜𝑟𝑡</m:t>
                                          </m:r>
                                          <m:d>
                                            <m:dPr>
                                              <m:ctrlPr>
                                                <a:rPr lang="fr-FR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fr-FR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e>
                                          </m:d>
                                        </m:sub>
                                      </m:sSub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  <m:t>+ </m:t>
                                      </m:r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sSub>
                                        <m:sSubPr>
                                          <m:ctrlP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e>
                                        <m:sub>
                                          <m: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  <m:t>𝐸𝑛𝑡𝑟</m:t>
                                          </m:r>
                                          <m: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  <m: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sub>
                                      </m:sSub>
                                    </m:e>
                                  </m:d>
                                </m:den>
                              </m:f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/>
                          </m:eqArr>
                        </m:e>
                      </m:d>
                      <m:r>
                        <m:rPr>
                          <m:nor/>
                        </m:rPr>
                        <a:rPr lang="en-US" b="1"/>
                        <m:t> </m:t>
                      </m:r>
                    </m:oMath>
                  </m:oMathPara>
                </a14:m>
                <a:endParaRPr lang="fr-FR" dirty="0"/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  <a:buNone/>
                </a:pPr>
                <a:endParaRPr lang="fr-FR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  <a:buNone/>
                </a:pPr>
                <a:r>
                  <a:rPr lang="fr-FR" sz="1800" b="1" dirty="0">
                    <a:effectLst/>
                    <a:latin typeface="Montserrat" panose="00000500000000000000" pitchFamily="2" charset="0"/>
                    <a:ea typeface="DengXian Light" panose="02010600030101010101" pitchFamily="2" charset="-122"/>
                    <a:cs typeface="Times New Roman" panose="02020603050405020304" pitchFamily="18" charset="0"/>
                  </a:rPr>
                  <a:t>Avec :</a:t>
                </a:r>
                <a:endParaRPr lang="fr-FR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  <a:ea typeface="DengXian Light" panose="02010600030101010101" pitchFamily="2" charset="-122"/>
                        <a:cs typeface="Times New Roman" panose="02020603050405020304" pitchFamily="18" charset="0"/>
                      </a:rPr>
                      <m:t>𝑛</m:t>
                    </m:r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  <a:ea typeface="DengXian Light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panose="02040503050406030204" pitchFamily="18" charset="0"/>
                            <a:ea typeface="DengXian Light" panose="02010600030101010101" pitchFamily="2" charset="-122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  <a:ea typeface="DengXian Light" panose="02010600030101010101" pitchFamily="2" charset="-122"/>
                            <a:cs typeface="Times New Roman" panose="02020603050405020304" pitchFamily="18" charset="0"/>
                          </a:rPr>
                          <m:t>𝑖𝑛𝑡𝑒𝑟𝑣𝑖𝑒𝑤</m:t>
                        </m:r>
                      </m:sub>
                    </m:sSub>
                  </m:oMath>
                </a14:m>
                <a:r>
                  <a:rPr lang="fr-FR" dirty="0">
                    <a:latin typeface="Montserrat" panose="00000500000000000000" pitchFamily="2" charset="0"/>
                    <a:ea typeface="DengXian Light" panose="02010600030101010101" pitchFamily="2" charset="-122"/>
                    <a:cs typeface="Times New Roman" panose="02020603050405020304" pitchFamily="18" charset="0"/>
                  </a:rPr>
                  <a:t>, l’effectif des ménages initialement à interviewer durant le mois de collecte ;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fr-FR" dirty="0">
                  <a:latin typeface="Montserrat" panose="00000500000000000000" pitchFamily="2" charset="0"/>
                  <a:ea typeface="DengXian Light" panose="02010600030101010101" pitchFamily="2" charset="-122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>
                        <a:latin typeface="Cambria Math" panose="02040503050406030204" pitchFamily="18" charset="0"/>
                        <a:ea typeface="DengXian Light" panose="02010600030101010101" pitchFamily="2" charset="-122"/>
                        <a:cs typeface="Times New Roman" panose="02020603050405020304" pitchFamily="18" charset="0"/>
                      </a:rPr>
                      <m:t>𝑛</m:t>
                    </m:r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  <a:ea typeface="DengXian Light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fr-FR">
                            <a:latin typeface="Cambria Math" panose="02040503050406030204" pitchFamily="18" charset="0"/>
                            <a:ea typeface="DengXian Light" panose="02010600030101010101" pitchFamily="2" charset="-122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fr-FR">
                            <a:latin typeface="Cambria Math" panose="02040503050406030204" pitchFamily="18" charset="0"/>
                            <a:ea typeface="DengXian Light" panose="02010600030101010101" pitchFamily="2" charset="-122"/>
                            <a:cs typeface="Times New Roman" panose="02020603050405020304" pitchFamily="18" charset="0"/>
                          </a:rPr>
                          <m:t>𝑖𝑛𝑡𝑒𝑟𝑣𝑖𝑒𝑤𝑚</m:t>
                        </m:r>
                      </m:sub>
                    </m:sSub>
                  </m:oMath>
                </a14:m>
                <a:r>
                  <a:rPr lang="fr-FR" dirty="0">
                    <a:latin typeface="Montserrat" panose="00000500000000000000" pitchFamily="2" charset="0"/>
                    <a:ea typeface="DengXian Light" panose="02010600030101010101" pitchFamily="2" charset="-122"/>
                    <a:cs typeface="Times New Roman" panose="02020603050405020304" pitchFamily="18" charset="0"/>
                  </a:rPr>
                  <a:t>, l’effectif des ménages ayant répondu au cours du mois de collecte ;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fr-FR" dirty="0">
                  <a:latin typeface="Montserrat" panose="00000500000000000000" pitchFamily="2" charset="0"/>
                  <a:ea typeface="DengXian Light" panose="02010600030101010101" pitchFamily="2" charset="-122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  <a:ea typeface="DengXian Light" panose="02010600030101010101" pitchFamily="2" charset="-122"/>
                        <a:cs typeface="Times New Roman" panose="02020603050405020304" pitchFamily="18" charset="0"/>
                      </a:rPr>
                      <m:t>𝑛</m:t>
                    </m:r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  <a:ea typeface="DengXian Light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panose="02040503050406030204" pitchFamily="18" charset="0"/>
                            <a:ea typeface="DengXian Light" panose="02010600030101010101" pitchFamily="2" charset="-122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  <a:ea typeface="DengXian Light" panose="02010600030101010101" pitchFamily="2" charset="-122"/>
                            <a:cs typeface="Times New Roman" panose="02020603050405020304" pitchFamily="18" charset="0"/>
                          </a:rPr>
                          <m:t>𝑠𝑜𝑟𝑡</m:t>
                        </m:r>
                        <m:r>
                          <a:rPr lang="fr-FR">
                            <a:latin typeface="Cambria Math" panose="02040503050406030204" pitchFamily="18" charset="0"/>
                            <a:ea typeface="DengXian Light" panose="02010600030101010101" pitchFamily="2" charset="-122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>
                            <a:latin typeface="Cambria Math" panose="02040503050406030204" pitchFamily="18" charset="0"/>
                            <a:ea typeface="DengXian Light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fr-FR">
                            <a:latin typeface="Cambria Math" panose="02040503050406030204" pitchFamily="18" charset="0"/>
                            <a:ea typeface="DengXian Light" panose="02010600030101010101" pitchFamily="2" charset="-122"/>
                            <a:cs typeface="Times New Roman" panose="02020603050405020304" pitchFamily="18" charset="0"/>
                          </a:rPr>
                          <m:t>)</m:t>
                        </m:r>
                      </m:sub>
                    </m:sSub>
                  </m:oMath>
                </a14:m>
                <a:r>
                  <a:rPr lang="fr-FR" dirty="0">
                    <a:latin typeface="Montserrat" panose="00000500000000000000" pitchFamily="2" charset="0"/>
                    <a:ea typeface="DengXian Light" panose="02010600030101010101" pitchFamily="2" charset="-122"/>
                    <a:cs typeface="Times New Roman" panose="02020603050405020304" pitchFamily="18" charset="0"/>
                  </a:rPr>
                  <a:t>, le nombre de ménages qui ont quitté une région i donnée pour d’autres régions au cours du mois de collecte ;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fr-FR" dirty="0">
                  <a:latin typeface="Montserrat" panose="00000500000000000000" pitchFamily="2" charset="0"/>
                  <a:ea typeface="DengXian Light" panose="02010600030101010101" pitchFamily="2" charset="-122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  <a:ea typeface="DengXian Light" panose="02010600030101010101" pitchFamily="2" charset="-122"/>
                        <a:cs typeface="Times New Roman" panose="02020603050405020304" pitchFamily="18" charset="0"/>
                      </a:rPr>
                      <m:t>𝑛</m:t>
                    </m:r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  <a:ea typeface="DengXian Light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panose="02040503050406030204" pitchFamily="18" charset="0"/>
                            <a:ea typeface="DengXian Light" panose="02010600030101010101" pitchFamily="2" charset="-122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  <a:ea typeface="DengXian Light" panose="02010600030101010101" pitchFamily="2" charset="-122"/>
                            <a:cs typeface="Times New Roman" panose="02020603050405020304" pitchFamily="18" charset="0"/>
                          </a:rPr>
                          <m:t>𝐸𝑛𝑡𝑟</m:t>
                        </m:r>
                        <m:r>
                          <a:rPr lang="fr-FR">
                            <a:latin typeface="Cambria Math" panose="02040503050406030204" pitchFamily="18" charset="0"/>
                            <a:ea typeface="DengXian Light" panose="02010600030101010101" pitchFamily="2" charset="-122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>
                            <a:latin typeface="Cambria Math" panose="02040503050406030204" pitchFamily="18" charset="0"/>
                            <a:ea typeface="DengXian Light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fr-FR">
                            <a:latin typeface="Cambria Math" panose="02040503050406030204" pitchFamily="18" charset="0"/>
                            <a:ea typeface="DengXian Light" panose="02010600030101010101" pitchFamily="2" charset="-122"/>
                            <a:cs typeface="Times New Roman" panose="02020603050405020304" pitchFamily="18" charset="0"/>
                          </a:rPr>
                          <m:t>)</m:t>
                        </m:r>
                      </m:sub>
                    </m:sSub>
                  </m:oMath>
                </a14:m>
                <a:r>
                  <a:rPr lang="fr-FR" dirty="0">
                    <a:latin typeface="Montserrat" panose="00000500000000000000" pitchFamily="2" charset="0"/>
                    <a:ea typeface="DengXian Light" panose="02010600030101010101" pitchFamily="2" charset="-122"/>
                    <a:cs typeface="Times New Roman" panose="02020603050405020304" pitchFamily="18" charset="0"/>
                  </a:rPr>
                  <a:t>, le nombre de ménages ayant quitté leur région d’origine pour entrer dans la région i ;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fr-FR" dirty="0">
                  <a:latin typeface="Montserrat" panose="00000500000000000000" pitchFamily="2" charset="0"/>
                  <a:ea typeface="DengXian Light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/>
                <a:endParaRPr lang="fr-FR" sz="1800" b="0" i="0" u="none" strike="noStrike" baseline="0" dirty="0">
                  <a:solidFill>
                    <a:srgbClr val="000000"/>
                  </a:solidFill>
                  <a:latin typeface="Montserrat" panose="00000500000000000000" pitchFamily="2" charset="0"/>
                </a:endParaRPr>
              </a:p>
            </p:txBody>
          </p:sp>
        </mc:Choice>
        <mc:Fallback xmlns="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36A44621-1B6E-7B9D-A0F9-2A78D854D4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00" y="1615902"/>
                <a:ext cx="11925299" cy="5016245"/>
              </a:xfrm>
              <a:prstGeom prst="rect">
                <a:avLst/>
              </a:prstGeom>
              <a:blipFill>
                <a:blip r:embed="rId3"/>
                <a:stretch>
                  <a:fillRect l="-46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258272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D3679-8F06-C0C2-2637-4D92E16E4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27DE706B-20C9-B95E-33DB-3FCB82BD24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79" y="197971"/>
            <a:ext cx="1895732" cy="582424"/>
          </a:xfrm>
          <a:prstGeom prst="rect">
            <a:avLst/>
          </a:prstGeom>
        </p:spPr>
      </p:pic>
      <p:sp>
        <p:nvSpPr>
          <p:cNvPr id="2" name="Rectangle à coins arrondis 4">
            <a:extLst>
              <a:ext uri="{FF2B5EF4-FFF2-40B4-BE49-F238E27FC236}">
                <a16:creationId xmlns:a16="http://schemas.microsoft.com/office/drawing/2014/main" id="{17A92878-B7A6-F016-5540-61BF23A0C690}"/>
              </a:ext>
            </a:extLst>
          </p:cNvPr>
          <p:cNvSpPr/>
          <p:nvPr/>
        </p:nvSpPr>
        <p:spPr>
          <a:xfrm>
            <a:off x="236956" y="854137"/>
            <a:ext cx="8656320" cy="835507"/>
          </a:xfrm>
          <a:prstGeom prst="round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2400" b="1" dirty="0">
                <a:solidFill>
                  <a:schemeClr val="tx1"/>
                </a:solidFill>
                <a:latin typeface="Montserrat" panose="00000500000000000000" pitchFamily="2" charset="0"/>
              </a:rPr>
              <a:t>Pondération de l’enquête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6BFC5237-5813-CD66-3593-3FC8FC34C0C2}"/>
                  </a:ext>
                </a:extLst>
              </p:cNvPr>
              <p:cNvSpPr txBox="1"/>
              <p:nvPr/>
            </p:nvSpPr>
            <p:spPr>
              <a:xfrm>
                <a:off x="133350" y="1999360"/>
                <a:ext cx="11925299" cy="41852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fr-FR"/>
                        <m:t> </m:t>
                      </m:r>
                    </m:oMath>
                  </m:oMathPara>
                </a14:m>
                <a:endParaRPr lang="fr-FR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𝑚𝑒𝑛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r>
                        <a:rPr lang="fr-FR" i="1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{"/>
                          <m:endChr m:val=""/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𝑐𝑣𝑚</m:t>
                                  </m:r>
                                </m:sub>
                              </m:sSub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∗ </m:t>
                              </m:r>
                              <m:f>
                                <m:f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1 </m:t>
                                  </m:r>
                                </m:num>
                                <m:den>
                                  <m:nary>
                                    <m:naryPr>
                                      <m:chr m:val="∑"/>
                                      <m:limLoc m:val="undOvr"/>
                                      <m:subHide m:val="on"/>
                                      <m:supHide m:val="on"/>
                                      <m:ctrlP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/>
                                    <m:sup/>
                                    <m:e>
                                      <m:sSub>
                                        <m:sSubPr>
                                          <m:ctrlP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𝑒</m:t>
                                          </m:r>
                                          <m: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𝑐𝑣𝑚𝑟𝑒𝑝</m:t>
                                          </m:r>
                                        </m:sub>
                                      </m:sSub>
                                    </m:e>
                                  </m:nary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den>
                              </m:f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 ∗</m:t>
                              </m:r>
                              <m:f>
                                <m:f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d>
                                    <m:dPr>
                                      <m:ctrlP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sSub>
                                        <m:sSubPr>
                                          <m:ctrlP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𝑖𝑛𝑡𝑒𝑟𝑣𝑖𝑒𝑤</m:t>
                                          </m:r>
                                        </m:sub>
                                      </m:sSub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  <m:t>−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sSub>
                                        <m:sSubPr>
                                          <m:ctrlP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𝑠𝑜𝑟𝑡</m:t>
                                          </m:r>
                                          <m: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sub>
                                      </m:sSub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  <m:t>+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sSub>
                                        <m:sSubPr>
                                          <m:ctrlP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𝐸𝑛𝑡𝑟</m:t>
                                          </m:r>
                                          <m: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  <m: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∗(</m:t>
                                  </m:r>
                                  <m:sSub>
                                    <m:sSubPr>
                                      <m:ctrlP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𝑐𝑣𝑚</m:t>
                                      </m:r>
                                    </m:sub>
                                  </m:sSub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 − </m:t>
                                  </m:r>
                                  <m:sSub>
                                    <m:sSubPr>
                                      <m:ctrlP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𝑃𝑑𝑠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𝑠𝑜𝑟𝑡</m:t>
                                      </m:r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sub>
                                  </m:sSub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 + </m:t>
                                  </m:r>
                                  <m:sSub>
                                    <m:sSubPr>
                                      <m:ctrlP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𝑃𝑑𝑠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𝐸𝑛𝑡𝑟</m:t>
                                      </m:r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sub>
                                  </m:sSub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d>
                                    <m:dPr>
                                      <m:ctrlP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sSub>
                                        <m:sSubPr>
                                          <m:ctrlP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  <m:t>𝑖𝑛𝑡𝑒𝑟𝑣𝑖𝑒𝑤</m:t>
                                          </m:r>
                                        </m:sub>
                                      </m:sSub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  <m:t>− </m:t>
                                      </m:r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sSub>
                                        <m:sSubPr>
                                          <m:ctrlP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e>
                                        <m:sub>
                                          <m: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  <m:t>𝑠𝑜𝑟𝑡</m:t>
                                          </m:r>
                                          <m: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sub>
                                      </m:sSub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  <m:t>+ </m:t>
                                      </m:r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sSub>
                                        <m:sSubPr>
                                          <m:ctrlP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e>
                                        <m:sub>
                                          <m: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  <m:t>𝐸𝑛𝑡𝑟</m:t>
                                          </m:r>
                                          <m: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  <m: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  <m:d>
                                    <m:dPr>
                                      <m:ctrlP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sSub>
                                        <m:sSubPr>
                                          <m:ctrlP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e>
                                        <m:sub>
                                          <m: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  <m:t>𝑖𝑛𝑡𝑒𝑟𝑣𝑖𝑒𝑤𝑚</m:t>
                                          </m:r>
                                        </m:sub>
                                      </m:sSub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  <m:t>− </m:t>
                                      </m:r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sSub>
                                        <m:sSubPr>
                                          <m:ctrlP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e>
                                        <m:sub>
                                          <m: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  <m:t>𝑠𝑜𝑟𝑡</m:t>
                                          </m:r>
                                          <m:d>
                                            <m:dPr>
                                              <m:ctrlPr>
                                                <a:rPr lang="fr-FR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fr-FR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e>
                                          </m:d>
                                        </m:sub>
                                      </m:sSub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  <m:t>+ </m:t>
                                      </m:r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sSub>
                                        <m:sSubPr>
                                          <m:ctrlP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e>
                                        <m:sub>
                                          <m: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  <m:t>𝐸𝑛𝑡𝑟</m:t>
                                          </m:r>
                                          <m: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  <m: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sub>
                                      </m:sSub>
                                    </m:e>
                                  </m:d>
                                </m:den>
                              </m:f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/>
                          </m:eqArr>
                        </m:e>
                      </m:d>
                      <m:r>
                        <m:rPr>
                          <m:nor/>
                        </m:rPr>
                        <a:rPr lang="en-US" b="1"/>
                        <m:t> </m:t>
                      </m:r>
                    </m:oMath>
                  </m:oMathPara>
                </a14:m>
                <a:endParaRPr lang="fr-FR" dirty="0"/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  <a:buNone/>
                </a:pPr>
                <a:endParaRPr lang="fr-FR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  <a:buNone/>
                </a:pPr>
                <a:r>
                  <a:rPr lang="fr-FR" sz="1800" b="1" dirty="0">
                    <a:effectLst/>
                    <a:latin typeface="Montserrat" panose="00000500000000000000" pitchFamily="2" charset="0"/>
                    <a:ea typeface="DengXian Light" panose="02010600030101010101" pitchFamily="2" charset="-122"/>
                    <a:cs typeface="Times New Roman" panose="02020603050405020304" pitchFamily="18" charset="0"/>
                  </a:rPr>
                  <a:t>Avec :</a:t>
                </a:r>
                <a:endParaRPr lang="fr-FR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  <a:ea typeface="DengXian Light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panose="02040503050406030204" pitchFamily="18" charset="0"/>
                            <a:ea typeface="DengXian Light" panose="02010600030101010101" pitchFamily="2" charset="-122"/>
                            <a:cs typeface="Times New Roman" panose="02020603050405020304" pitchFamily="18" charset="0"/>
                          </a:rPr>
                          <m:t>𝑃𝑑𝑠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  <a:ea typeface="DengXian Light" panose="02010600030101010101" pitchFamily="2" charset="-122"/>
                            <a:cs typeface="Times New Roman" panose="02020603050405020304" pitchFamily="18" charset="0"/>
                          </a:rPr>
                          <m:t>𝑠𝑜𝑟𝑡</m:t>
                        </m:r>
                        <m:r>
                          <a:rPr lang="fr-FR">
                            <a:latin typeface="Cambria Math" panose="02040503050406030204" pitchFamily="18" charset="0"/>
                            <a:ea typeface="DengXian Light" panose="02010600030101010101" pitchFamily="2" charset="-122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>
                            <a:latin typeface="Cambria Math" panose="02040503050406030204" pitchFamily="18" charset="0"/>
                            <a:ea typeface="DengXian Light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fr-FR">
                            <a:latin typeface="Cambria Math" panose="02040503050406030204" pitchFamily="18" charset="0"/>
                            <a:ea typeface="DengXian Light" panose="02010600030101010101" pitchFamily="2" charset="-122"/>
                            <a:cs typeface="Times New Roman" panose="02020603050405020304" pitchFamily="18" charset="0"/>
                          </a:rPr>
                          <m:t>)</m:t>
                        </m:r>
                      </m:sub>
                    </m:sSub>
                  </m:oMath>
                </a14:m>
                <a:r>
                  <a:rPr lang="fr-FR" dirty="0">
                    <a:latin typeface="Montserrat" panose="00000500000000000000" pitchFamily="2" charset="0"/>
                    <a:ea typeface="DengXian Light" panose="02010600030101010101" pitchFamily="2" charset="-122"/>
                    <a:cs typeface="Times New Roman" panose="02020603050405020304" pitchFamily="18" charset="0"/>
                  </a:rPr>
                  <a:t>, le poids total pour les ménages ayant quitté la région i au cours du mois de collecte pour la région j ;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fr-FR" dirty="0">
                  <a:latin typeface="Montserrat" panose="00000500000000000000" pitchFamily="2" charset="0"/>
                  <a:ea typeface="DengXian Light" panose="02010600030101010101" pitchFamily="2" charset="-122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  <a:ea typeface="DengXian Light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panose="02040503050406030204" pitchFamily="18" charset="0"/>
                            <a:ea typeface="DengXian Light" panose="02010600030101010101" pitchFamily="2" charset="-122"/>
                            <a:cs typeface="Times New Roman" panose="02020603050405020304" pitchFamily="18" charset="0"/>
                          </a:rPr>
                          <m:t>𝑃𝑑𝑠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  <a:ea typeface="DengXian Light" panose="02010600030101010101" pitchFamily="2" charset="-122"/>
                            <a:cs typeface="Times New Roman" panose="02020603050405020304" pitchFamily="18" charset="0"/>
                          </a:rPr>
                          <m:t>𝐸𝑛𝑡𝑟</m:t>
                        </m:r>
                        <m:r>
                          <a:rPr lang="fr-FR">
                            <a:latin typeface="Cambria Math" panose="02040503050406030204" pitchFamily="18" charset="0"/>
                            <a:ea typeface="DengXian Light" panose="02010600030101010101" pitchFamily="2" charset="-122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>
                            <a:latin typeface="Cambria Math" panose="02040503050406030204" pitchFamily="18" charset="0"/>
                            <a:ea typeface="DengXian Light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fr-FR">
                            <a:latin typeface="Cambria Math" panose="02040503050406030204" pitchFamily="18" charset="0"/>
                            <a:ea typeface="DengXian Light" panose="02010600030101010101" pitchFamily="2" charset="-122"/>
                            <a:cs typeface="Times New Roman" panose="02020603050405020304" pitchFamily="18" charset="0"/>
                          </a:rPr>
                          <m:t>)</m:t>
                        </m:r>
                      </m:sub>
                    </m:sSub>
                  </m:oMath>
                </a14:m>
                <a:r>
                  <a:rPr lang="fr-FR" dirty="0">
                    <a:latin typeface="Montserrat" panose="00000500000000000000" pitchFamily="2" charset="0"/>
                    <a:ea typeface="DengXian Light" panose="02010600030101010101" pitchFamily="2" charset="-122"/>
                    <a:cs typeface="Times New Roman" panose="02020603050405020304" pitchFamily="18" charset="0"/>
                  </a:rPr>
                  <a:t>, le poids total des ménages ayant quitté la région j pour la région i durant le mois de collecte.</a:t>
                </a:r>
              </a:p>
              <a:p>
                <a:endParaRPr lang="fr-FR" dirty="0">
                  <a:latin typeface="Montserrat" panose="00000500000000000000" pitchFamily="2" charset="0"/>
                  <a:ea typeface="DengXian Light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/>
                <a:endParaRPr lang="fr-FR" sz="1800" b="0" i="0" u="none" strike="noStrike" baseline="0" dirty="0">
                  <a:solidFill>
                    <a:srgbClr val="000000"/>
                  </a:solidFill>
                  <a:latin typeface="Montserrat" panose="00000500000000000000" pitchFamily="2" charset="0"/>
                </a:endParaRPr>
              </a:p>
            </p:txBody>
          </p:sp>
        </mc:Choice>
        <mc:Fallback xmlns="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6BFC5237-5813-CD66-3593-3FC8FC34C0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350" y="1999360"/>
                <a:ext cx="11925299" cy="4185248"/>
              </a:xfrm>
              <a:prstGeom prst="rect">
                <a:avLst/>
              </a:prstGeom>
              <a:blipFill>
                <a:blip r:embed="rId3"/>
                <a:stretch>
                  <a:fillRect l="-460" r="-66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160454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2DC40-D097-F8D4-F35D-3D71A1501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9787D961-05FA-5482-0126-16A5479697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79" y="0"/>
            <a:ext cx="1895732" cy="582424"/>
          </a:xfrm>
          <a:prstGeom prst="rect">
            <a:avLst/>
          </a:prstGeom>
        </p:spPr>
      </p:pic>
      <p:sp>
        <p:nvSpPr>
          <p:cNvPr id="2" name="Rectangle à coins arrondis 4">
            <a:extLst>
              <a:ext uri="{FF2B5EF4-FFF2-40B4-BE49-F238E27FC236}">
                <a16:creationId xmlns:a16="http://schemas.microsoft.com/office/drawing/2014/main" id="{F87EAA85-5AFA-AF0B-7D76-BB9CA3FBE93A}"/>
              </a:ext>
            </a:extLst>
          </p:cNvPr>
          <p:cNvSpPr/>
          <p:nvPr/>
        </p:nvSpPr>
        <p:spPr>
          <a:xfrm>
            <a:off x="237295" y="1146274"/>
            <a:ext cx="8656320" cy="339680"/>
          </a:xfrm>
          <a:prstGeom prst="round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2400" b="1" dirty="0">
                <a:solidFill>
                  <a:schemeClr val="tx1"/>
                </a:solidFill>
                <a:latin typeface="Montserrat" panose="00000500000000000000" pitchFamily="2" charset="0"/>
              </a:rPr>
              <a:t>Calcul des soldes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70331172-A92E-A13E-FE33-393E682E629B}"/>
              </a:ext>
            </a:extLst>
          </p:cNvPr>
          <p:cNvSpPr txBox="1"/>
          <p:nvPr/>
        </p:nvSpPr>
        <p:spPr>
          <a:xfrm>
            <a:off x="237295" y="2590579"/>
            <a:ext cx="1171741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sz="1800" dirty="0">
                <a:effectLst/>
                <a:latin typeface="Montserrat" panose="00000500000000000000" pitchFamily="2" charset="0"/>
                <a:ea typeface="DengXian Light" panose="02010600030101010101" pitchFamily="2" charset="-122"/>
                <a:cs typeface="Times New Roman" panose="02020603050405020304" pitchFamily="18" charset="0"/>
              </a:rPr>
              <a:t>Les soldes d’opinion sont obtenus en calculant les différences entre les proportions de réponses positives (+) et les réponses négatives;</a:t>
            </a:r>
          </a:p>
          <a:p>
            <a:pPr algn="just"/>
            <a:endParaRPr lang="fr-FR" dirty="0">
              <a:latin typeface="Montserrat" panose="00000500000000000000" pitchFamily="2" charset="0"/>
              <a:ea typeface="DengXian Light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fr-FR" sz="1800" dirty="0">
                <a:effectLst/>
                <a:latin typeface="Montserrat" panose="00000500000000000000" pitchFamily="2" charset="0"/>
                <a:ea typeface="DengXian Light" panose="02010600030101010101" pitchFamily="2" charset="-122"/>
                <a:cs typeface="Times New Roman" panose="02020603050405020304" pitchFamily="18" charset="0"/>
              </a:rPr>
              <a:t>Pour ce faire, une variable multinomiale contenant des modalités positives (forte augmentation, légère augmentation), des modalités négatives (forte baisse, légère baisse) et une modalité nulle (ne sait pas) est créée.</a:t>
            </a:r>
            <a:endParaRPr lang="fr-F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endParaRPr lang="fr-FR" dirty="0">
              <a:solidFill>
                <a:srgbClr val="000000"/>
              </a:solidFill>
              <a:latin typeface="Montserrat" panose="00000500000000000000" pitchFamily="2" charset="0"/>
            </a:endParaRPr>
          </a:p>
          <a:p>
            <a:pPr algn="just"/>
            <a:endParaRPr lang="fr-FR" dirty="0">
              <a:solidFill>
                <a:srgbClr val="000000"/>
              </a:solidFill>
              <a:latin typeface="Montserrat" panose="00000500000000000000" pitchFamily="2" charset="0"/>
            </a:endParaRPr>
          </a:p>
          <a:p>
            <a:pPr algn="just"/>
            <a:endParaRPr lang="fr-FR" dirty="0">
              <a:solidFill>
                <a:srgbClr val="000000"/>
              </a:solidFill>
              <a:latin typeface="Montserrat" panose="00000500000000000000" pitchFamily="2" charset="0"/>
            </a:endParaRPr>
          </a:p>
          <a:p>
            <a:pPr algn="just"/>
            <a:endParaRPr lang="fr-FR" dirty="0">
              <a:solidFill>
                <a:srgbClr val="000000"/>
              </a:solidFill>
              <a:latin typeface="Montserrat" panose="00000500000000000000" pitchFamily="2" charset="0"/>
            </a:endParaRPr>
          </a:p>
          <a:p>
            <a:pPr algn="just"/>
            <a:endParaRPr lang="fr-FR" dirty="0">
              <a:solidFill>
                <a:srgbClr val="000000"/>
              </a:solidFill>
              <a:latin typeface="Montserrat" panose="00000500000000000000" pitchFamily="2" charset="0"/>
            </a:endParaRPr>
          </a:p>
          <a:p>
            <a:pPr algn="just"/>
            <a:endParaRPr lang="fr-FR" dirty="0">
              <a:solidFill>
                <a:srgbClr val="000000"/>
              </a:solidFill>
              <a:latin typeface="Montserrat" panose="00000500000000000000" pitchFamily="2" charset="0"/>
            </a:endParaRPr>
          </a:p>
          <a:p>
            <a:pPr algn="just"/>
            <a:endParaRPr lang="fr-FR" dirty="0">
              <a:solidFill>
                <a:srgbClr val="000000"/>
              </a:solidFill>
              <a:latin typeface="Montserrat" panose="00000500000000000000" pitchFamily="2" charset="0"/>
            </a:endParaRPr>
          </a:p>
          <a:p>
            <a:pPr algn="just"/>
            <a:endParaRPr lang="fr-FR" dirty="0">
              <a:solidFill>
                <a:srgbClr val="000000"/>
              </a:solidFill>
              <a:latin typeface="Montserrat" panose="00000500000000000000" pitchFamily="2" charset="0"/>
            </a:endParaRPr>
          </a:p>
          <a:p>
            <a:pPr algn="just"/>
            <a:endParaRPr lang="fr-FR" dirty="0">
              <a:solidFill>
                <a:srgbClr val="000000"/>
              </a:solidFill>
              <a:latin typeface="Montserrat" panose="00000500000000000000" pitchFamily="2" charset="0"/>
            </a:endParaRPr>
          </a:p>
          <a:p>
            <a:pPr algn="just"/>
            <a:endParaRPr lang="fr-FR" dirty="0">
              <a:solidFill>
                <a:srgbClr val="000000"/>
              </a:solidFill>
              <a:latin typeface="Montserrat" panose="00000500000000000000" pitchFamily="2" charset="0"/>
            </a:endParaRPr>
          </a:p>
          <a:p>
            <a:pPr algn="just"/>
            <a:endParaRPr lang="fr-FR" dirty="0">
              <a:solidFill>
                <a:srgbClr val="000000"/>
              </a:solidFill>
              <a:latin typeface="Montserrat" panose="00000500000000000000" pitchFamily="2" charset="0"/>
            </a:endParaRPr>
          </a:p>
          <a:p>
            <a:pPr algn="just"/>
            <a:endParaRPr lang="fr-FR" dirty="0">
              <a:solidFill>
                <a:srgbClr val="000000"/>
              </a:solidFill>
              <a:latin typeface="Montserrat" panose="00000500000000000000" pitchFamily="2" charset="0"/>
            </a:endParaRPr>
          </a:p>
          <a:p>
            <a:pPr algn="just"/>
            <a:endParaRPr lang="fr-FR" dirty="0">
              <a:solidFill>
                <a:srgbClr val="000000"/>
              </a:solidFill>
              <a:latin typeface="Montserrat" panose="00000500000000000000" pitchFamily="2" charset="0"/>
            </a:endParaRPr>
          </a:p>
          <a:p>
            <a:pPr algn="just"/>
            <a:endParaRPr lang="fr-FR" sz="1800" b="0" i="0" u="none" strike="noStrike" baseline="0" dirty="0">
              <a:solidFill>
                <a:srgbClr val="000000"/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41454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70BB76-43C4-72F3-06ED-E9BAFB5DB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E47B9F44-53D2-8F2D-0309-5567B5D45C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79" y="197971"/>
            <a:ext cx="1895732" cy="582424"/>
          </a:xfrm>
          <a:prstGeom prst="rect">
            <a:avLst/>
          </a:prstGeom>
        </p:spPr>
      </p:pic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3BBA9BCC-7C47-3B26-DBF9-F622A70942B2}"/>
              </a:ext>
            </a:extLst>
          </p:cNvPr>
          <p:cNvCxnSpPr>
            <a:cxnSpLocks/>
          </p:cNvCxnSpPr>
          <p:nvPr/>
        </p:nvCxnSpPr>
        <p:spPr>
          <a:xfrm>
            <a:off x="800210" y="3818338"/>
            <a:ext cx="4970670" cy="0"/>
          </a:xfrm>
          <a:prstGeom prst="line">
            <a:avLst/>
          </a:prstGeom>
          <a:ln>
            <a:solidFill>
              <a:srgbClr val="3E5D5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DB76E41E-22AE-BB60-534D-7FCD24659A32}"/>
              </a:ext>
            </a:extLst>
          </p:cNvPr>
          <p:cNvCxnSpPr/>
          <p:nvPr/>
        </p:nvCxnSpPr>
        <p:spPr>
          <a:xfrm>
            <a:off x="6469711" y="3818338"/>
            <a:ext cx="3091070" cy="0"/>
          </a:xfrm>
          <a:prstGeom prst="line">
            <a:avLst/>
          </a:prstGeom>
          <a:ln>
            <a:solidFill>
              <a:srgbClr val="F5862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5" name="Ellipse 34">
            <a:extLst>
              <a:ext uri="{FF2B5EF4-FFF2-40B4-BE49-F238E27FC236}">
                <a16:creationId xmlns:a16="http://schemas.microsoft.com/office/drawing/2014/main" id="{27B6FACC-23DD-D1AB-D582-BAB45489F4D1}"/>
              </a:ext>
            </a:extLst>
          </p:cNvPr>
          <p:cNvSpPr/>
          <p:nvPr/>
        </p:nvSpPr>
        <p:spPr>
          <a:xfrm>
            <a:off x="5843553" y="3596124"/>
            <a:ext cx="543326" cy="434144"/>
          </a:xfrm>
          <a:prstGeom prst="ellipse">
            <a:avLst/>
          </a:prstGeom>
          <a:solidFill>
            <a:schemeClr val="bg1"/>
          </a:solidFill>
          <a:ln>
            <a:solidFill>
              <a:srgbClr val="F586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2"/>
                </a:solidFill>
                <a:latin typeface="Candara" panose="020E0502030303020204" pitchFamily="34" charset="0"/>
              </a:rPr>
              <a:t>5</a:t>
            </a:r>
          </a:p>
        </p:txBody>
      </p:sp>
      <p:sp>
        <p:nvSpPr>
          <p:cNvPr id="36" name="Rectangle à coins arrondis 4">
            <a:extLst>
              <a:ext uri="{FF2B5EF4-FFF2-40B4-BE49-F238E27FC236}">
                <a16:creationId xmlns:a16="http://schemas.microsoft.com/office/drawing/2014/main" id="{2E9C90F1-A7AF-9F46-815C-F3B2E8DFB141}"/>
              </a:ext>
            </a:extLst>
          </p:cNvPr>
          <p:cNvSpPr/>
          <p:nvPr/>
        </p:nvSpPr>
        <p:spPr>
          <a:xfrm>
            <a:off x="640078" y="1898266"/>
            <a:ext cx="7678012" cy="1697858"/>
          </a:xfrm>
          <a:prstGeom prst="round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3600" dirty="0">
                <a:solidFill>
                  <a:schemeClr val="tx1"/>
                </a:solidFill>
                <a:latin typeface="Arial Black" panose="020B0A04020102020204" pitchFamily="34" charset="0"/>
              </a:rPr>
              <a:t>RESULTATS PROVISOIRES</a:t>
            </a:r>
          </a:p>
        </p:txBody>
      </p:sp>
    </p:spTree>
    <p:extLst>
      <p:ext uri="{BB962C8B-B14F-4D97-AF65-F5344CB8AC3E}">
        <p14:creationId xmlns:p14="http://schemas.microsoft.com/office/powerpoint/2010/main" val="12158841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B3E1E2-BAEC-1E99-7ABC-43E993B5E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550E8E57-5963-5811-E141-184004F4EE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79" y="0"/>
            <a:ext cx="1895732" cy="582424"/>
          </a:xfrm>
          <a:prstGeom prst="rect">
            <a:avLst/>
          </a:prstGeom>
        </p:spPr>
      </p:pic>
      <p:sp>
        <p:nvSpPr>
          <p:cNvPr id="2" name="Rectangle à coins arrondis 4">
            <a:extLst>
              <a:ext uri="{FF2B5EF4-FFF2-40B4-BE49-F238E27FC236}">
                <a16:creationId xmlns:a16="http://schemas.microsoft.com/office/drawing/2014/main" id="{D4E1FFF2-726A-6C5B-04ED-325DD3AFB312}"/>
              </a:ext>
            </a:extLst>
          </p:cNvPr>
          <p:cNvSpPr/>
          <p:nvPr/>
        </p:nvSpPr>
        <p:spPr>
          <a:xfrm>
            <a:off x="217630" y="917056"/>
            <a:ext cx="9929259" cy="339680"/>
          </a:xfrm>
          <a:prstGeom prst="round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2400" b="1" dirty="0">
                <a:solidFill>
                  <a:schemeClr val="tx1"/>
                </a:solidFill>
                <a:latin typeface="Montserrat" panose="00000500000000000000" pitchFamily="2" charset="0"/>
              </a:rPr>
              <a:t>Résultats provisoires: soldes des mois de février à juin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5FBABAC0-F8C5-5026-65D6-7C7C44D402D1}"/>
              </a:ext>
            </a:extLst>
          </p:cNvPr>
          <p:cNvSpPr txBox="1"/>
          <p:nvPr/>
        </p:nvSpPr>
        <p:spPr>
          <a:xfrm>
            <a:off x="217630" y="2187456"/>
            <a:ext cx="1171741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endParaRPr lang="fr-FR" dirty="0">
              <a:solidFill>
                <a:srgbClr val="000000"/>
              </a:solidFill>
              <a:latin typeface="Montserrat" panose="00000500000000000000" pitchFamily="2" charset="0"/>
            </a:endParaRPr>
          </a:p>
          <a:p>
            <a:pPr algn="just"/>
            <a:endParaRPr lang="fr-FR" dirty="0">
              <a:solidFill>
                <a:srgbClr val="000000"/>
              </a:solidFill>
              <a:latin typeface="Montserrat" panose="00000500000000000000" pitchFamily="2" charset="0"/>
            </a:endParaRPr>
          </a:p>
          <a:p>
            <a:pPr algn="just"/>
            <a:endParaRPr lang="fr-FR" dirty="0">
              <a:solidFill>
                <a:srgbClr val="000000"/>
              </a:solidFill>
              <a:latin typeface="Montserrat" panose="00000500000000000000" pitchFamily="2" charset="0"/>
            </a:endParaRPr>
          </a:p>
          <a:p>
            <a:pPr algn="just"/>
            <a:endParaRPr lang="fr-FR" dirty="0">
              <a:solidFill>
                <a:srgbClr val="000000"/>
              </a:solidFill>
              <a:latin typeface="Montserrat" panose="00000500000000000000" pitchFamily="2" charset="0"/>
            </a:endParaRPr>
          </a:p>
          <a:p>
            <a:pPr algn="just"/>
            <a:endParaRPr lang="fr-FR" dirty="0">
              <a:solidFill>
                <a:srgbClr val="000000"/>
              </a:solidFill>
              <a:latin typeface="Montserrat" panose="00000500000000000000" pitchFamily="2" charset="0"/>
            </a:endParaRPr>
          </a:p>
          <a:p>
            <a:pPr algn="just"/>
            <a:endParaRPr lang="fr-FR" dirty="0">
              <a:solidFill>
                <a:srgbClr val="000000"/>
              </a:solidFill>
              <a:latin typeface="Montserrat" panose="00000500000000000000" pitchFamily="2" charset="0"/>
            </a:endParaRPr>
          </a:p>
          <a:p>
            <a:pPr algn="just"/>
            <a:endParaRPr lang="fr-FR" dirty="0">
              <a:solidFill>
                <a:srgbClr val="000000"/>
              </a:solidFill>
              <a:latin typeface="Montserrat" panose="00000500000000000000" pitchFamily="2" charset="0"/>
            </a:endParaRPr>
          </a:p>
          <a:p>
            <a:pPr algn="just"/>
            <a:endParaRPr lang="fr-FR" dirty="0">
              <a:solidFill>
                <a:srgbClr val="000000"/>
              </a:solidFill>
              <a:latin typeface="Montserrat" panose="00000500000000000000" pitchFamily="2" charset="0"/>
            </a:endParaRPr>
          </a:p>
          <a:p>
            <a:pPr algn="just"/>
            <a:endParaRPr lang="fr-FR" dirty="0">
              <a:solidFill>
                <a:srgbClr val="000000"/>
              </a:solidFill>
              <a:latin typeface="Montserrat" panose="00000500000000000000" pitchFamily="2" charset="0"/>
            </a:endParaRPr>
          </a:p>
          <a:p>
            <a:pPr algn="just"/>
            <a:endParaRPr lang="fr-FR" dirty="0">
              <a:solidFill>
                <a:srgbClr val="000000"/>
              </a:solidFill>
              <a:latin typeface="Montserrat" panose="00000500000000000000" pitchFamily="2" charset="0"/>
            </a:endParaRPr>
          </a:p>
          <a:p>
            <a:pPr algn="just"/>
            <a:endParaRPr lang="fr-FR" dirty="0">
              <a:solidFill>
                <a:srgbClr val="000000"/>
              </a:solidFill>
              <a:latin typeface="Montserrat" panose="00000500000000000000" pitchFamily="2" charset="0"/>
            </a:endParaRPr>
          </a:p>
          <a:p>
            <a:pPr algn="just"/>
            <a:endParaRPr lang="fr-FR" dirty="0">
              <a:solidFill>
                <a:srgbClr val="000000"/>
              </a:solidFill>
              <a:latin typeface="Montserrat" panose="00000500000000000000" pitchFamily="2" charset="0"/>
            </a:endParaRPr>
          </a:p>
          <a:p>
            <a:pPr algn="just"/>
            <a:endParaRPr lang="fr-FR" dirty="0">
              <a:solidFill>
                <a:srgbClr val="000000"/>
              </a:solidFill>
              <a:latin typeface="Montserrat" panose="00000500000000000000" pitchFamily="2" charset="0"/>
            </a:endParaRPr>
          </a:p>
          <a:p>
            <a:pPr algn="just"/>
            <a:endParaRPr lang="fr-FR" sz="1800" b="0" i="0" u="none" strike="noStrike" baseline="0" dirty="0">
              <a:solidFill>
                <a:srgbClr val="000000"/>
              </a:solidFill>
              <a:latin typeface="Montserrat" panose="00000500000000000000" pitchFamily="2" charset="0"/>
            </a:endParaRPr>
          </a:p>
        </p:txBody>
      </p:sp>
      <p:graphicFrame>
        <p:nvGraphicFramePr>
          <p:cNvPr id="3" name="Tableau 2">
            <a:extLst>
              <a:ext uri="{FF2B5EF4-FFF2-40B4-BE49-F238E27FC236}">
                <a16:creationId xmlns:a16="http://schemas.microsoft.com/office/drawing/2014/main" id="{F1791582-74C5-A0FF-DE2B-2B5DF7D70D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9144145"/>
              </p:ext>
            </p:extLst>
          </p:nvPr>
        </p:nvGraphicFramePr>
        <p:xfrm>
          <a:off x="640079" y="1591368"/>
          <a:ext cx="10460201" cy="474509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61543">
                  <a:extLst>
                    <a:ext uri="{9D8B030D-6E8A-4147-A177-3AD203B41FA5}">
                      <a16:colId xmlns:a16="http://schemas.microsoft.com/office/drawing/2014/main" val="3113693794"/>
                    </a:ext>
                  </a:extLst>
                </a:gridCol>
                <a:gridCol w="1671484">
                  <a:extLst>
                    <a:ext uri="{9D8B030D-6E8A-4147-A177-3AD203B41FA5}">
                      <a16:colId xmlns:a16="http://schemas.microsoft.com/office/drawing/2014/main" val="3884263157"/>
                    </a:ext>
                  </a:extLst>
                </a:gridCol>
                <a:gridCol w="1582994">
                  <a:extLst>
                    <a:ext uri="{9D8B030D-6E8A-4147-A177-3AD203B41FA5}">
                      <a16:colId xmlns:a16="http://schemas.microsoft.com/office/drawing/2014/main" val="576925998"/>
                    </a:ext>
                  </a:extLst>
                </a:gridCol>
                <a:gridCol w="1455174">
                  <a:extLst>
                    <a:ext uri="{9D8B030D-6E8A-4147-A177-3AD203B41FA5}">
                      <a16:colId xmlns:a16="http://schemas.microsoft.com/office/drawing/2014/main" val="987226676"/>
                    </a:ext>
                  </a:extLst>
                </a:gridCol>
                <a:gridCol w="1484671">
                  <a:extLst>
                    <a:ext uri="{9D8B030D-6E8A-4147-A177-3AD203B41FA5}">
                      <a16:colId xmlns:a16="http://schemas.microsoft.com/office/drawing/2014/main" val="1359035807"/>
                    </a:ext>
                  </a:extLst>
                </a:gridCol>
                <a:gridCol w="1504335">
                  <a:extLst>
                    <a:ext uri="{9D8B030D-6E8A-4147-A177-3AD203B41FA5}">
                      <a16:colId xmlns:a16="http://schemas.microsoft.com/office/drawing/2014/main" val="762065681"/>
                    </a:ext>
                  </a:extLst>
                </a:gridCol>
              </a:tblGrid>
              <a:tr h="79896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dirty="0" err="1">
                          <a:effectLst/>
                        </a:rPr>
                        <a:t>Soldes</a:t>
                      </a:r>
                      <a:endParaRPr lang="fr-F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221" marR="6222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Février</a:t>
                      </a:r>
                      <a:endParaRPr lang="fr-F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221" marR="6222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Mars</a:t>
                      </a:r>
                      <a:endParaRPr lang="fr-F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221" marR="6222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Avril</a:t>
                      </a:r>
                      <a:endParaRPr lang="fr-F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221" marR="6222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Mai</a:t>
                      </a:r>
                    </a:p>
                  </a:txBody>
                  <a:tcPr marL="62221" marR="6222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Juin</a:t>
                      </a:r>
                    </a:p>
                  </a:txBody>
                  <a:tcPr marL="62221" marR="62221" marT="0" marB="0" anchor="ctr"/>
                </a:tc>
                <a:extLst>
                  <a:ext uri="{0D108BD9-81ED-4DB2-BD59-A6C34878D82A}">
                    <a16:rowId xmlns:a16="http://schemas.microsoft.com/office/drawing/2014/main" val="3123097638"/>
                  </a:ext>
                </a:extLst>
              </a:tr>
              <a:tr h="40877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dirty="0" err="1">
                          <a:effectLst/>
                        </a:rPr>
                        <a:t>Solde</a:t>
                      </a:r>
                      <a:r>
                        <a:rPr lang="en-US" sz="1800" dirty="0">
                          <a:effectLst/>
                        </a:rPr>
                        <a:t> situation financière</a:t>
                      </a:r>
                      <a:endParaRPr lang="fr-F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221" marR="6222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fr-F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221" marR="6222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221" marR="6222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221" marR="6222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221" marR="6222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221" marR="62221" marT="0" marB="0" anchor="ctr"/>
                </a:tc>
                <a:extLst>
                  <a:ext uri="{0D108BD9-81ED-4DB2-BD59-A6C34878D82A}">
                    <a16:rowId xmlns:a16="http://schemas.microsoft.com/office/drawing/2014/main" val="2170998886"/>
                  </a:ext>
                </a:extLst>
              </a:tr>
              <a:tr h="40877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Situation </a:t>
                      </a:r>
                      <a:r>
                        <a:rPr lang="en-US" sz="1800" dirty="0" err="1">
                          <a:effectLst/>
                        </a:rPr>
                        <a:t>économique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en-US" sz="1800" dirty="0" err="1">
                          <a:effectLst/>
                        </a:rPr>
                        <a:t>globale</a:t>
                      </a:r>
                      <a:endParaRPr lang="fr-F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221" marR="6222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fr-F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221" marR="6222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fr-F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221" marR="6222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fr-F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221" marR="6222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fr-F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221" marR="6222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fr-F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221" marR="62221" marT="0" marB="0" anchor="ctr"/>
                </a:tc>
                <a:extLst>
                  <a:ext uri="{0D108BD9-81ED-4DB2-BD59-A6C34878D82A}">
                    <a16:rowId xmlns:a16="http://schemas.microsoft.com/office/drawing/2014/main" val="748433768"/>
                  </a:ext>
                </a:extLst>
              </a:tr>
              <a:tr h="40877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800" dirty="0">
                          <a:effectLst/>
                        </a:rPr>
                        <a:t>Solde d'évolution de la dette</a:t>
                      </a:r>
                      <a:endParaRPr lang="fr-F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221" marR="6222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221" marR="6222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fr-F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221" marR="6222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fr-F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221" marR="6222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fr-F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221" marR="6222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fr-F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221" marR="62221" marT="0" marB="0" anchor="ctr"/>
                </a:tc>
                <a:extLst>
                  <a:ext uri="{0D108BD9-81ED-4DB2-BD59-A6C34878D82A}">
                    <a16:rowId xmlns:a16="http://schemas.microsoft.com/office/drawing/2014/main" val="3422628433"/>
                  </a:ext>
                </a:extLst>
              </a:tr>
              <a:tr h="40877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Solde revenu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221" marR="6222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221" marR="6222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221" marR="6222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fr-F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221" marR="6222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fr-F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221" marR="6222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fr-F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221" marR="62221" marT="0" marB="0" anchor="ctr"/>
                </a:tc>
                <a:extLst>
                  <a:ext uri="{0D108BD9-81ED-4DB2-BD59-A6C34878D82A}">
                    <a16:rowId xmlns:a16="http://schemas.microsoft.com/office/drawing/2014/main" val="3618835646"/>
                  </a:ext>
                </a:extLst>
              </a:tr>
              <a:tr h="40877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800">
                          <a:effectLst/>
                        </a:rPr>
                        <a:t>Solde de cherte de la vie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221" marR="6222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221" marR="6222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221" marR="6222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fr-F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221" marR="6222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fr-F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221" marR="6222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fr-F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221" marR="62221" marT="0" marB="0" anchor="ctr"/>
                </a:tc>
                <a:extLst>
                  <a:ext uri="{0D108BD9-81ED-4DB2-BD59-A6C34878D82A}">
                    <a16:rowId xmlns:a16="http://schemas.microsoft.com/office/drawing/2014/main" val="833432041"/>
                  </a:ext>
                </a:extLst>
              </a:tr>
              <a:tr h="40877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Solde des dépenses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221" marR="6222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221" marR="6222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221" marR="6222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221" marR="6222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fr-F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221" marR="6222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fr-F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221" marR="62221" marT="0" marB="0" anchor="ctr"/>
                </a:tc>
                <a:extLst>
                  <a:ext uri="{0D108BD9-81ED-4DB2-BD59-A6C34878D82A}">
                    <a16:rowId xmlns:a16="http://schemas.microsoft.com/office/drawing/2014/main" val="3783356281"/>
                  </a:ext>
                </a:extLst>
              </a:tr>
              <a:tr h="40877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Solde évolution des prix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221" marR="6222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221" marR="6222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221" marR="6222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221" marR="6222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fr-F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221" marR="6222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fr-F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221" marR="62221" marT="0" marB="0" anchor="ctr"/>
                </a:tc>
                <a:extLst>
                  <a:ext uri="{0D108BD9-81ED-4DB2-BD59-A6C34878D82A}">
                    <a16:rowId xmlns:a16="http://schemas.microsoft.com/office/drawing/2014/main" val="3312248758"/>
                  </a:ext>
                </a:extLst>
              </a:tr>
              <a:tr h="75432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800">
                          <a:effectLst/>
                        </a:rPr>
                        <a:t>Solde de la dynamique des prix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221" marR="6222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221" marR="6222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221" marR="6222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221" marR="6222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fr-F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221" marR="6222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fr-F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221" marR="62221" marT="0" marB="0" anchor="ctr"/>
                </a:tc>
                <a:extLst>
                  <a:ext uri="{0D108BD9-81ED-4DB2-BD59-A6C34878D82A}">
                    <a16:rowId xmlns:a16="http://schemas.microsoft.com/office/drawing/2014/main" val="22844365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39472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E21191-4D00-B4CA-D4AB-B96BDF736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3E35A79A-AE28-8760-1FE9-CFA71DDB9B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79" y="197971"/>
            <a:ext cx="1895732" cy="582424"/>
          </a:xfrm>
          <a:prstGeom prst="rect">
            <a:avLst/>
          </a:prstGeom>
        </p:spPr>
      </p:pic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98A7C9D8-92AC-C6AF-46E8-1D1104410C27}"/>
              </a:ext>
            </a:extLst>
          </p:cNvPr>
          <p:cNvCxnSpPr>
            <a:cxnSpLocks/>
          </p:cNvCxnSpPr>
          <p:nvPr/>
        </p:nvCxnSpPr>
        <p:spPr>
          <a:xfrm>
            <a:off x="800210" y="3818338"/>
            <a:ext cx="4970670" cy="0"/>
          </a:xfrm>
          <a:prstGeom prst="line">
            <a:avLst/>
          </a:prstGeom>
          <a:ln>
            <a:solidFill>
              <a:srgbClr val="3E5D5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9C5F9633-E769-ADE3-CB66-879D956AC9B4}"/>
              </a:ext>
            </a:extLst>
          </p:cNvPr>
          <p:cNvCxnSpPr/>
          <p:nvPr/>
        </p:nvCxnSpPr>
        <p:spPr>
          <a:xfrm>
            <a:off x="6469711" y="3818338"/>
            <a:ext cx="3091070" cy="0"/>
          </a:xfrm>
          <a:prstGeom prst="line">
            <a:avLst/>
          </a:prstGeom>
          <a:ln>
            <a:solidFill>
              <a:srgbClr val="F5862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5" name="Ellipse 34">
            <a:extLst>
              <a:ext uri="{FF2B5EF4-FFF2-40B4-BE49-F238E27FC236}">
                <a16:creationId xmlns:a16="http://schemas.microsoft.com/office/drawing/2014/main" id="{BFFBC768-5AC8-44FB-C8DA-9D648FCB8E33}"/>
              </a:ext>
            </a:extLst>
          </p:cNvPr>
          <p:cNvSpPr/>
          <p:nvPr/>
        </p:nvSpPr>
        <p:spPr>
          <a:xfrm>
            <a:off x="5843553" y="3596124"/>
            <a:ext cx="543326" cy="434144"/>
          </a:xfrm>
          <a:prstGeom prst="ellipse">
            <a:avLst/>
          </a:prstGeom>
          <a:solidFill>
            <a:schemeClr val="bg1"/>
          </a:solidFill>
          <a:ln>
            <a:solidFill>
              <a:srgbClr val="F586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2"/>
                </a:solidFill>
                <a:latin typeface="Candara" panose="020E0502030303020204" pitchFamily="34" charset="0"/>
              </a:rPr>
              <a:t>6</a:t>
            </a:r>
          </a:p>
        </p:txBody>
      </p:sp>
      <p:sp>
        <p:nvSpPr>
          <p:cNvPr id="36" name="Rectangle à coins arrondis 4">
            <a:extLst>
              <a:ext uri="{FF2B5EF4-FFF2-40B4-BE49-F238E27FC236}">
                <a16:creationId xmlns:a16="http://schemas.microsoft.com/office/drawing/2014/main" id="{1D0667D9-F2F8-5329-75CA-1EBAE09AFDAB}"/>
              </a:ext>
            </a:extLst>
          </p:cNvPr>
          <p:cNvSpPr/>
          <p:nvPr/>
        </p:nvSpPr>
        <p:spPr>
          <a:xfrm>
            <a:off x="640078" y="1898266"/>
            <a:ext cx="5829633" cy="1697858"/>
          </a:xfrm>
          <a:prstGeom prst="round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3600" dirty="0">
                <a:solidFill>
                  <a:schemeClr val="tx1"/>
                </a:solidFill>
                <a:latin typeface="Arial Black" panose="020B0A04020102020204" pitchFamily="34" charset="0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3717684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B58F1D-6F1E-2920-7143-CDC60E8AE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BDA590A4-B5B1-E2C1-B903-ED2D0A0C3B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79" y="197971"/>
            <a:ext cx="1895732" cy="582424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3290C24D-B84D-5D90-FEF2-C814D8CC34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7" y="3429000"/>
            <a:ext cx="7880557" cy="1790667"/>
          </a:xfrm>
        </p:spPr>
        <p:txBody>
          <a:bodyPr>
            <a:noAutofit/>
          </a:bodyPr>
          <a:lstStyle/>
          <a:p>
            <a:pPr algn="l"/>
            <a:r>
              <a:rPr lang="fr-FR" sz="4000" b="1" dirty="0">
                <a:latin typeface="Montserrat" panose="00000500000000000000" pitchFamily="2" charset="0"/>
              </a:rPr>
              <a:t>Enquête Nationale sur la Cherté de la vie : Construction de l’Indice de Perception de Cherté de la Vie (IPCV)</a:t>
            </a:r>
          </a:p>
        </p:txBody>
      </p:sp>
      <p:sp>
        <p:nvSpPr>
          <p:cNvPr id="12" name="Rectangle à coins arrondis 4">
            <a:extLst>
              <a:ext uri="{FF2B5EF4-FFF2-40B4-BE49-F238E27FC236}">
                <a16:creationId xmlns:a16="http://schemas.microsoft.com/office/drawing/2014/main" id="{2240823C-CF24-42D1-528F-B1F12215C5A8}"/>
              </a:ext>
            </a:extLst>
          </p:cNvPr>
          <p:cNvSpPr/>
          <p:nvPr/>
        </p:nvSpPr>
        <p:spPr>
          <a:xfrm>
            <a:off x="302566" y="5453892"/>
            <a:ext cx="5817437" cy="1790667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b="1" dirty="0">
                <a:solidFill>
                  <a:schemeClr val="tx1"/>
                </a:solidFill>
                <a:latin typeface="Montserrat" panose="00000500000000000000" pitchFamily="2" charset="0"/>
              </a:rPr>
              <a:t>Cellule d’Analyses Economiques</a:t>
            </a:r>
          </a:p>
          <a:p>
            <a:endParaRPr lang="fr-FR" b="1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r>
              <a:rPr lang="fr-FR" dirty="0">
                <a:solidFill>
                  <a:schemeClr val="tx1"/>
                </a:solidFill>
                <a:latin typeface="Montserrat" panose="00000500000000000000" pitchFamily="2" charset="0"/>
              </a:rPr>
              <a:t>Aout 2025</a:t>
            </a:r>
          </a:p>
        </p:txBody>
      </p:sp>
      <p:pic>
        <p:nvPicPr>
          <p:cNvPr id="6" name="Image 5" descr="Une image contenant Graphique, cercle, art&#10;&#10;Description générée automatiquement">
            <a:extLst>
              <a:ext uri="{FF2B5EF4-FFF2-40B4-BE49-F238E27FC236}">
                <a16:creationId xmlns:a16="http://schemas.microsoft.com/office/drawing/2014/main" id="{C767EF96-A1D3-9CFF-77A3-760AF377D9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3511" y="58446"/>
            <a:ext cx="1031158" cy="861474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03606F1D-DDDD-262F-5EF4-ED117270CBA5}"/>
              </a:ext>
            </a:extLst>
          </p:cNvPr>
          <p:cNvSpPr txBox="1"/>
          <p:nvPr/>
        </p:nvSpPr>
        <p:spPr>
          <a:xfrm>
            <a:off x="10003970" y="928357"/>
            <a:ext cx="22642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200" b="1" dirty="0">
                <a:latin typeface="Montserrat" panose="00000500000000000000" pitchFamily="2" charset="0"/>
              </a:rPr>
              <a:t>Organisation Internationale</a:t>
            </a:r>
          </a:p>
          <a:p>
            <a:pPr algn="ctr"/>
            <a:r>
              <a:rPr lang="fr-FR" sz="1200" b="1" dirty="0">
                <a:latin typeface="Montserrat" panose="00000500000000000000" pitchFamily="2" charset="0"/>
              </a:rPr>
              <a:t> du Travail</a:t>
            </a:r>
            <a:endParaRPr lang="fr-FR" sz="1200" b="1" dirty="0"/>
          </a:p>
        </p:txBody>
      </p:sp>
      <p:pic>
        <p:nvPicPr>
          <p:cNvPr id="3" name="Image 2" descr="Une image contenant texte, dessin humoristique, habits, Visage humain&#10;&#10;Le contenu généré par l’IA peut être incorrect.">
            <a:extLst>
              <a:ext uri="{FF2B5EF4-FFF2-40B4-BE49-F238E27FC236}">
                <a16:creationId xmlns:a16="http://schemas.microsoft.com/office/drawing/2014/main" id="{AB1E4F96-94DA-3E49-7D79-351C1F7D1C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7419" y="1785908"/>
            <a:ext cx="3714227" cy="4284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122776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13302</TotalTime>
  <Words>951</Words>
  <Application>Microsoft Office PowerPoint</Application>
  <PresentationFormat>Grand écran</PresentationFormat>
  <Paragraphs>176</Paragraphs>
  <Slides>21</Slides>
  <Notes>6</Notes>
  <HiddenSlides>0</HiddenSlides>
  <MMClips>0</MMClips>
  <ScaleCrop>false</ScaleCrop>
  <HeadingPairs>
    <vt:vector size="6" baseType="variant">
      <vt:variant>
        <vt:lpstr>Polices utilisées</vt:lpstr>
      </vt:variant>
      <vt:variant>
        <vt:i4>9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21</vt:i4>
      </vt:variant>
    </vt:vector>
  </HeadingPairs>
  <TitlesOfParts>
    <vt:vector size="31" baseType="lpstr">
      <vt:lpstr>Arial</vt:lpstr>
      <vt:lpstr>Arial Black</vt:lpstr>
      <vt:lpstr>Calibri</vt:lpstr>
      <vt:lpstr>Calibri Light</vt:lpstr>
      <vt:lpstr>Cambria Math</vt:lpstr>
      <vt:lpstr>Candara</vt:lpstr>
      <vt:lpstr>Corbel</vt:lpstr>
      <vt:lpstr>Montserrat</vt:lpstr>
      <vt:lpstr>Symbol</vt:lpstr>
      <vt:lpstr>Thème Office</vt:lpstr>
      <vt:lpstr>Enquête Nationale sur la Cherté de la vie : Construction de l’Indice de Perception de Cherté de la Vie (IPCV)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Enquête Nationale sur la Cherté de la vie : Construction de l’Indice de Perception de Cherté de la Vie (IPCV)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ENQUÊTE NATIONALE SUR L’EMPLOI:COMPOSANTES MENAGES</dc:title>
  <dc:creator>Anderson KOUASSI</dc:creator>
  <cp:lastModifiedBy>Zalo Agoua Liliane Elodie</cp:lastModifiedBy>
  <cp:revision>40</cp:revision>
  <dcterms:created xsi:type="dcterms:W3CDTF">2024-11-19T13:34:09Z</dcterms:created>
  <dcterms:modified xsi:type="dcterms:W3CDTF">2025-08-26T19:22:37Z</dcterms:modified>
</cp:coreProperties>
</file>